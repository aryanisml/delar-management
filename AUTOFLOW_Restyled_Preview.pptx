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alibri (MS) Bold" charset="1" panose="020F0702030404030204"/>
      <p:regular r:id="rId20"/>
    </p:embeddedFont>
    <p:embeddedFont>
      <p:font typeface="Calibri (MS)" charset="1" panose="020F050202020403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59303" y="78743"/>
            <a:ext cx="9169403" cy="7340603"/>
            <a:chOff x="0" y="0"/>
            <a:chExt cx="12225871" cy="9787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25909" cy="9787509"/>
            </a:xfrm>
            <a:custGeom>
              <a:avLst/>
              <a:gdLst/>
              <a:ahLst/>
              <a:cxnLst/>
              <a:rect r="r" b="b" t="t" l="l"/>
              <a:pathLst>
                <a:path h="9787509" w="12225909">
                  <a:moveTo>
                    <a:pt x="0" y="4893691"/>
                  </a:moveTo>
                  <a:cubicBezTo>
                    <a:pt x="0" y="2191004"/>
                    <a:pt x="2736850" y="0"/>
                    <a:pt x="6112891" y="0"/>
                  </a:cubicBezTo>
                  <a:cubicBezTo>
                    <a:pt x="9488932" y="0"/>
                    <a:pt x="12225909" y="2191004"/>
                    <a:pt x="12225909" y="4893691"/>
                  </a:cubicBezTo>
                  <a:cubicBezTo>
                    <a:pt x="12225909" y="7596377"/>
                    <a:pt x="9489059" y="9787509"/>
                    <a:pt x="6112891" y="9787509"/>
                  </a:cubicBezTo>
                  <a:cubicBezTo>
                    <a:pt x="2736723" y="9787509"/>
                    <a:pt x="0" y="7596505"/>
                    <a:pt x="0" y="4893691"/>
                  </a:cubicBezTo>
                  <a:close/>
                </a:path>
              </a:pathLst>
            </a:custGeom>
            <a:solidFill>
              <a:srgbClr val="7C3AED">
                <a:alpha val="1176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936743" y="993143"/>
            <a:ext cx="4414523" cy="665483"/>
            <a:chOff x="0" y="0"/>
            <a:chExt cx="5886031" cy="8873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85942" cy="887222"/>
            </a:xfrm>
            <a:custGeom>
              <a:avLst/>
              <a:gdLst/>
              <a:ahLst/>
              <a:cxnLst/>
              <a:rect r="r" b="b" t="t" l="l"/>
              <a:pathLst>
                <a:path h="887222" w="5885942">
                  <a:moveTo>
                    <a:pt x="0" y="380238"/>
                  </a:moveTo>
                  <a:cubicBezTo>
                    <a:pt x="0" y="170307"/>
                    <a:pt x="170307" y="0"/>
                    <a:pt x="380238" y="0"/>
                  </a:cubicBezTo>
                  <a:lnTo>
                    <a:pt x="5505704" y="0"/>
                  </a:lnTo>
                  <a:cubicBezTo>
                    <a:pt x="5715762" y="0"/>
                    <a:pt x="5885942" y="170307"/>
                    <a:pt x="5885942" y="380238"/>
                  </a:cubicBezTo>
                  <a:lnTo>
                    <a:pt x="5885942" y="506984"/>
                  </a:lnTo>
                  <a:cubicBezTo>
                    <a:pt x="5885942" y="717042"/>
                    <a:pt x="5715635" y="887222"/>
                    <a:pt x="5505704" y="887222"/>
                  </a:cubicBezTo>
                  <a:lnTo>
                    <a:pt x="380238" y="887222"/>
                  </a:lnTo>
                  <a:cubicBezTo>
                    <a:pt x="170307" y="887349"/>
                    <a:pt x="0" y="717042"/>
                    <a:pt x="0" y="506984"/>
                  </a:cubicBezTo>
                  <a:close/>
                </a:path>
              </a:pathLst>
            </a:custGeom>
            <a:solidFill>
              <a:srgbClr val="7C3AED">
                <a:alpha val="1961"/>
              </a:srgbClr>
            </a:solidFill>
            <a:ln w="254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949440" y="1005840"/>
            <a:ext cx="4389120" cy="640080"/>
            <a:chOff x="0" y="0"/>
            <a:chExt cx="5852160" cy="8534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52160" cy="853440"/>
            </a:xfrm>
            <a:custGeom>
              <a:avLst/>
              <a:gdLst/>
              <a:ahLst/>
              <a:cxnLst/>
              <a:rect r="r" b="b" t="t" l="l"/>
              <a:pathLst>
                <a:path h="8534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611" r="0" b="-836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852160" cy="891540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 spc="800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AUTOFLOW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1920240"/>
            <a:ext cx="16459200" cy="2011680"/>
            <a:chOff x="0" y="0"/>
            <a:chExt cx="21945600" cy="26822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423" r="0" b="-10942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47650"/>
              <a:ext cx="21945600" cy="2929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00"/>
                </a:lnSpc>
              </a:pPr>
              <a:r>
                <a:rPr lang="en-US" sz="12000" b="true">
                  <a:solidFill>
                    <a:srgbClr val="17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AUTOFLOW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3749040"/>
            <a:ext cx="16459200" cy="914400"/>
            <a:chOff x="0" y="0"/>
            <a:chExt cx="21945600" cy="1219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2194560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Dealer Management System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76023" y="4961639"/>
            <a:ext cx="2402843" cy="537467"/>
            <a:chOff x="0" y="0"/>
            <a:chExt cx="3203791" cy="71662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203702" cy="716534"/>
            </a:xfrm>
            <a:custGeom>
              <a:avLst/>
              <a:gdLst/>
              <a:ahLst/>
              <a:cxnLst/>
              <a:rect r="r" b="b" t="t" l="l"/>
              <a:pathLst>
                <a:path h="716534" w="3203702">
                  <a:moveTo>
                    <a:pt x="0" y="255905"/>
                  </a:moveTo>
                  <a:cubicBezTo>
                    <a:pt x="0" y="114554"/>
                    <a:pt x="114554" y="0"/>
                    <a:pt x="255905" y="0"/>
                  </a:cubicBezTo>
                  <a:lnTo>
                    <a:pt x="2947797" y="0"/>
                  </a:lnTo>
                  <a:cubicBezTo>
                    <a:pt x="3089148" y="0"/>
                    <a:pt x="3203702" y="114554"/>
                    <a:pt x="3203702" y="255905"/>
                  </a:cubicBezTo>
                  <a:lnTo>
                    <a:pt x="3203702" y="460629"/>
                  </a:lnTo>
                  <a:cubicBezTo>
                    <a:pt x="3203702" y="601980"/>
                    <a:pt x="3089148" y="716534"/>
                    <a:pt x="2947797" y="716534"/>
                  </a:cubicBezTo>
                  <a:lnTo>
                    <a:pt x="255905" y="716534"/>
                  </a:lnTo>
                  <a:cubicBezTo>
                    <a:pt x="114554" y="716661"/>
                    <a:pt x="0" y="601980"/>
                    <a:pt x="0" y="460629"/>
                  </a:cubicBezTo>
                  <a:close/>
                </a:path>
              </a:pathLst>
            </a:custGeom>
            <a:solidFill>
              <a:srgbClr val="7C3AED">
                <a:alpha val="1961"/>
              </a:srgbClr>
            </a:solidFill>
            <a:ln w="254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88720" y="4974336"/>
            <a:ext cx="2377440" cy="512064"/>
            <a:chOff x="0" y="0"/>
            <a:chExt cx="316992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169920" cy="682752"/>
            </a:xfrm>
            <a:custGeom>
              <a:avLst/>
              <a:gdLst/>
              <a:ahLst/>
              <a:cxnLst/>
              <a:rect r="r" b="b" t="t" l="l"/>
              <a:pathLst>
                <a:path h="682752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169920" cy="720852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Angular 17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827783" y="4961639"/>
            <a:ext cx="2402843" cy="537467"/>
            <a:chOff x="0" y="0"/>
            <a:chExt cx="3203791" cy="7166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03702" cy="716534"/>
            </a:xfrm>
            <a:custGeom>
              <a:avLst/>
              <a:gdLst/>
              <a:ahLst/>
              <a:cxnLst/>
              <a:rect r="r" b="b" t="t" l="l"/>
              <a:pathLst>
                <a:path h="716534" w="3203702">
                  <a:moveTo>
                    <a:pt x="0" y="255905"/>
                  </a:moveTo>
                  <a:cubicBezTo>
                    <a:pt x="0" y="114554"/>
                    <a:pt x="114554" y="0"/>
                    <a:pt x="255905" y="0"/>
                  </a:cubicBezTo>
                  <a:lnTo>
                    <a:pt x="2947797" y="0"/>
                  </a:lnTo>
                  <a:cubicBezTo>
                    <a:pt x="3089148" y="0"/>
                    <a:pt x="3203702" y="114554"/>
                    <a:pt x="3203702" y="255905"/>
                  </a:cubicBezTo>
                  <a:lnTo>
                    <a:pt x="3203702" y="460629"/>
                  </a:lnTo>
                  <a:cubicBezTo>
                    <a:pt x="3203702" y="601980"/>
                    <a:pt x="3089148" y="716534"/>
                    <a:pt x="2947797" y="716534"/>
                  </a:cubicBezTo>
                  <a:lnTo>
                    <a:pt x="255905" y="716534"/>
                  </a:lnTo>
                  <a:cubicBezTo>
                    <a:pt x="114554" y="716661"/>
                    <a:pt x="0" y="601980"/>
                    <a:pt x="0" y="460629"/>
                  </a:cubicBezTo>
                  <a:close/>
                </a:path>
              </a:pathLst>
            </a:custGeom>
            <a:solidFill>
              <a:srgbClr val="0D9488">
                <a:alpha val="1961"/>
              </a:srgbClr>
            </a:solidFill>
            <a:ln w="2540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3840480" y="4974336"/>
            <a:ext cx="2377440" cy="512064"/>
            <a:chOff x="0" y="0"/>
            <a:chExt cx="3169920" cy="6827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69920" cy="682752"/>
            </a:xfrm>
            <a:custGeom>
              <a:avLst/>
              <a:gdLst/>
              <a:ahLst/>
              <a:cxnLst/>
              <a:rect r="r" b="b" t="t" l="l"/>
              <a:pathLst>
                <a:path h="682752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169920" cy="720852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Supabase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479543" y="4961639"/>
            <a:ext cx="2402843" cy="537467"/>
            <a:chOff x="0" y="0"/>
            <a:chExt cx="3203791" cy="71662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203702" cy="716534"/>
            </a:xfrm>
            <a:custGeom>
              <a:avLst/>
              <a:gdLst/>
              <a:ahLst/>
              <a:cxnLst/>
              <a:rect r="r" b="b" t="t" l="l"/>
              <a:pathLst>
                <a:path h="716534" w="3203702">
                  <a:moveTo>
                    <a:pt x="0" y="255905"/>
                  </a:moveTo>
                  <a:cubicBezTo>
                    <a:pt x="0" y="114554"/>
                    <a:pt x="114554" y="0"/>
                    <a:pt x="255905" y="0"/>
                  </a:cubicBezTo>
                  <a:lnTo>
                    <a:pt x="2947797" y="0"/>
                  </a:lnTo>
                  <a:cubicBezTo>
                    <a:pt x="3089148" y="0"/>
                    <a:pt x="3203702" y="114554"/>
                    <a:pt x="3203702" y="255905"/>
                  </a:cubicBezTo>
                  <a:lnTo>
                    <a:pt x="3203702" y="460629"/>
                  </a:lnTo>
                  <a:cubicBezTo>
                    <a:pt x="3203702" y="601980"/>
                    <a:pt x="3089148" y="716534"/>
                    <a:pt x="2947797" y="716534"/>
                  </a:cubicBezTo>
                  <a:lnTo>
                    <a:pt x="255905" y="716534"/>
                  </a:lnTo>
                  <a:cubicBezTo>
                    <a:pt x="114554" y="716661"/>
                    <a:pt x="0" y="601980"/>
                    <a:pt x="0" y="460629"/>
                  </a:cubicBezTo>
                  <a:close/>
                </a:path>
              </a:pathLst>
            </a:custGeom>
            <a:solidFill>
              <a:srgbClr val="EA580C">
                <a:alpha val="1961"/>
              </a:srgbClr>
            </a:solidFill>
            <a:ln w="25400" cap="sq">
              <a:solidFill>
                <a:srgbClr val="EA580C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492240" y="4974336"/>
            <a:ext cx="2377440" cy="512064"/>
            <a:chOff x="0" y="0"/>
            <a:chExt cx="3169920" cy="6827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169920" cy="682752"/>
            </a:xfrm>
            <a:custGeom>
              <a:avLst/>
              <a:gdLst/>
              <a:ahLst/>
              <a:cxnLst/>
              <a:rect r="r" b="b" t="t" l="l"/>
              <a:pathLst>
                <a:path h="682752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169920" cy="720852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EA58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Vercel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131303" y="4961639"/>
            <a:ext cx="2402843" cy="537467"/>
            <a:chOff x="0" y="0"/>
            <a:chExt cx="3203791" cy="71662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203702" cy="716534"/>
            </a:xfrm>
            <a:custGeom>
              <a:avLst/>
              <a:gdLst/>
              <a:ahLst/>
              <a:cxnLst/>
              <a:rect r="r" b="b" t="t" l="l"/>
              <a:pathLst>
                <a:path h="716534" w="3203702">
                  <a:moveTo>
                    <a:pt x="0" y="255905"/>
                  </a:moveTo>
                  <a:cubicBezTo>
                    <a:pt x="0" y="114554"/>
                    <a:pt x="114554" y="0"/>
                    <a:pt x="255905" y="0"/>
                  </a:cubicBezTo>
                  <a:lnTo>
                    <a:pt x="2947797" y="0"/>
                  </a:lnTo>
                  <a:cubicBezTo>
                    <a:pt x="3089148" y="0"/>
                    <a:pt x="3203702" y="114554"/>
                    <a:pt x="3203702" y="255905"/>
                  </a:cubicBezTo>
                  <a:lnTo>
                    <a:pt x="3203702" y="460629"/>
                  </a:lnTo>
                  <a:cubicBezTo>
                    <a:pt x="3203702" y="601980"/>
                    <a:pt x="3089148" y="716534"/>
                    <a:pt x="2947797" y="716534"/>
                  </a:cubicBezTo>
                  <a:lnTo>
                    <a:pt x="255905" y="716534"/>
                  </a:lnTo>
                  <a:cubicBezTo>
                    <a:pt x="114554" y="716661"/>
                    <a:pt x="0" y="601980"/>
                    <a:pt x="0" y="460629"/>
                  </a:cubicBezTo>
                  <a:close/>
                </a:path>
              </a:pathLst>
            </a:custGeom>
            <a:solidFill>
              <a:srgbClr val="DB2777">
                <a:alpha val="1961"/>
              </a:srgbClr>
            </a:solidFill>
            <a:ln w="25400" cap="sq">
              <a:solidFill>
                <a:srgbClr val="DB2777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144000" y="4974336"/>
            <a:ext cx="2377440" cy="512064"/>
            <a:chOff x="0" y="0"/>
            <a:chExt cx="3169920" cy="6827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169920" cy="682752"/>
            </a:xfrm>
            <a:custGeom>
              <a:avLst/>
              <a:gdLst/>
              <a:ahLst/>
              <a:cxnLst/>
              <a:rect r="r" b="b" t="t" l="l"/>
              <a:pathLst>
                <a:path h="682752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169920" cy="720852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DB277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Cashfree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783063" y="4961639"/>
            <a:ext cx="2402843" cy="537467"/>
            <a:chOff x="0" y="0"/>
            <a:chExt cx="3203791" cy="71662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203702" cy="716534"/>
            </a:xfrm>
            <a:custGeom>
              <a:avLst/>
              <a:gdLst/>
              <a:ahLst/>
              <a:cxnLst/>
              <a:rect r="r" b="b" t="t" l="l"/>
              <a:pathLst>
                <a:path h="716534" w="3203702">
                  <a:moveTo>
                    <a:pt x="0" y="255905"/>
                  </a:moveTo>
                  <a:cubicBezTo>
                    <a:pt x="0" y="114554"/>
                    <a:pt x="114554" y="0"/>
                    <a:pt x="255905" y="0"/>
                  </a:cubicBezTo>
                  <a:lnTo>
                    <a:pt x="2947797" y="0"/>
                  </a:lnTo>
                  <a:cubicBezTo>
                    <a:pt x="3089148" y="0"/>
                    <a:pt x="3203702" y="114554"/>
                    <a:pt x="3203702" y="255905"/>
                  </a:cubicBezTo>
                  <a:lnTo>
                    <a:pt x="3203702" y="460629"/>
                  </a:lnTo>
                  <a:cubicBezTo>
                    <a:pt x="3203702" y="601980"/>
                    <a:pt x="3089148" y="716534"/>
                    <a:pt x="2947797" y="716534"/>
                  </a:cubicBezTo>
                  <a:lnTo>
                    <a:pt x="255905" y="716534"/>
                  </a:lnTo>
                  <a:cubicBezTo>
                    <a:pt x="114554" y="716661"/>
                    <a:pt x="0" y="601980"/>
                    <a:pt x="0" y="460629"/>
                  </a:cubicBezTo>
                  <a:close/>
                </a:path>
              </a:pathLst>
            </a:custGeom>
            <a:solidFill>
              <a:srgbClr val="2563EB">
                <a:alpha val="1961"/>
              </a:srgbClr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1795760" y="4974336"/>
            <a:ext cx="2377440" cy="512064"/>
            <a:chOff x="0" y="0"/>
            <a:chExt cx="3169920" cy="6827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169920" cy="682752"/>
            </a:xfrm>
            <a:custGeom>
              <a:avLst/>
              <a:gdLst/>
              <a:ahLst/>
              <a:cxnLst/>
              <a:rect r="r" b="b" t="t" l="l"/>
              <a:pathLst>
                <a:path h="682752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3169920" cy="720852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TypeScript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4434823" y="4961639"/>
            <a:ext cx="2402843" cy="537467"/>
            <a:chOff x="0" y="0"/>
            <a:chExt cx="3203791" cy="71662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203702" cy="716534"/>
            </a:xfrm>
            <a:custGeom>
              <a:avLst/>
              <a:gdLst/>
              <a:ahLst/>
              <a:cxnLst/>
              <a:rect r="r" b="b" t="t" l="l"/>
              <a:pathLst>
                <a:path h="716534" w="3203702">
                  <a:moveTo>
                    <a:pt x="0" y="255905"/>
                  </a:moveTo>
                  <a:cubicBezTo>
                    <a:pt x="0" y="114554"/>
                    <a:pt x="114554" y="0"/>
                    <a:pt x="255905" y="0"/>
                  </a:cubicBezTo>
                  <a:lnTo>
                    <a:pt x="2947797" y="0"/>
                  </a:lnTo>
                  <a:cubicBezTo>
                    <a:pt x="3089148" y="0"/>
                    <a:pt x="3203702" y="114554"/>
                    <a:pt x="3203702" y="255905"/>
                  </a:cubicBezTo>
                  <a:lnTo>
                    <a:pt x="3203702" y="460629"/>
                  </a:lnTo>
                  <a:cubicBezTo>
                    <a:pt x="3203702" y="601980"/>
                    <a:pt x="3089148" y="716534"/>
                    <a:pt x="2947797" y="716534"/>
                  </a:cubicBezTo>
                  <a:lnTo>
                    <a:pt x="255905" y="716534"/>
                  </a:lnTo>
                  <a:cubicBezTo>
                    <a:pt x="114554" y="716661"/>
                    <a:pt x="0" y="601980"/>
                    <a:pt x="0" y="460629"/>
                  </a:cubicBezTo>
                  <a:close/>
                </a:path>
              </a:pathLst>
            </a:custGeom>
            <a:solidFill>
              <a:srgbClr val="16A34A">
                <a:alpha val="1961"/>
              </a:srgbClr>
            </a:solidFill>
            <a:ln w="2540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4447520" y="4974336"/>
            <a:ext cx="2377440" cy="512064"/>
            <a:chOff x="0" y="0"/>
            <a:chExt cx="3169920" cy="68275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169920" cy="682752"/>
            </a:xfrm>
            <a:custGeom>
              <a:avLst/>
              <a:gdLst/>
              <a:ahLst/>
              <a:cxnLst/>
              <a:rect r="r" b="b" t="t" l="l"/>
              <a:pathLst>
                <a:path h="682752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3169920" cy="720852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Realtime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463040" y="5888736"/>
            <a:ext cx="3657600" cy="1005840"/>
            <a:chOff x="0" y="0"/>
            <a:chExt cx="4876800" cy="13411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876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33350"/>
              <a:ext cx="4876800" cy="1474470"/>
            </a:xfrm>
            <a:prstGeom prst="roundRect">
              <a:avLst>
                <a:gd name="adj" fmla="val 10173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159"/>
                </a:lnSpc>
              </a:pPr>
              <a:r>
                <a:rPr lang="en-US" sz="68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463040" y="6803136"/>
            <a:ext cx="3657600" cy="457200"/>
            <a:chOff x="0" y="0"/>
            <a:chExt cx="4876800" cy="609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876800" cy="609600"/>
            </a:xfrm>
            <a:custGeom>
              <a:avLst/>
              <a:gdLst/>
              <a:ahLst/>
              <a:cxnLst/>
              <a:rect r="r" b="b" t="t" l="l"/>
              <a:pathLst>
                <a:path h="6096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4876800" cy="638175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spc="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BOOKING STEPS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5181095" y="6022343"/>
            <a:ext cx="43691" cy="1031243"/>
            <a:chOff x="0" y="0"/>
            <a:chExt cx="58255" cy="137499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8293" cy="1375029"/>
            </a:xfrm>
            <a:custGeom>
              <a:avLst/>
              <a:gdLst/>
              <a:ahLst/>
              <a:cxnLst/>
              <a:rect r="r" b="b" t="t" l="l"/>
              <a:pathLst>
                <a:path h="1375029" w="58293">
                  <a:moveTo>
                    <a:pt x="0" y="0"/>
                  </a:moveTo>
                  <a:lnTo>
                    <a:pt x="58293" y="0"/>
                  </a:lnTo>
                  <a:lnTo>
                    <a:pt x="58293" y="1375029"/>
                  </a:lnTo>
                  <a:lnTo>
                    <a:pt x="0" y="1375029"/>
                  </a:lnTo>
                  <a:close/>
                </a:path>
              </a:pathLst>
            </a:custGeom>
            <a:solidFill>
              <a:srgbClr val="DCE4F0"/>
            </a:solidFill>
            <a:ln w="254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5303520" y="5888736"/>
            <a:ext cx="3657600" cy="1005840"/>
            <a:chOff x="0" y="0"/>
            <a:chExt cx="4876800" cy="13411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876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33350"/>
              <a:ext cx="4876800" cy="1474470"/>
            </a:xfrm>
            <a:prstGeom prst="roundRect">
              <a:avLst>
                <a:gd name="adj" fmla="val 10173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159"/>
                </a:lnSpc>
              </a:pPr>
              <a:r>
                <a:rPr lang="en-US" sz="68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303520" y="6803136"/>
            <a:ext cx="3657600" cy="457200"/>
            <a:chOff x="0" y="0"/>
            <a:chExt cx="4876800" cy="6096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876800" cy="609600"/>
            </a:xfrm>
            <a:custGeom>
              <a:avLst/>
              <a:gdLst/>
              <a:ahLst/>
              <a:cxnLst/>
              <a:rect r="r" b="b" t="t" l="l"/>
              <a:pathLst>
                <a:path h="6096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4876800" cy="638175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spc="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DB TABLES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021575" y="6022343"/>
            <a:ext cx="43691" cy="1031243"/>
            <a:chOff x="0" y="0"/>
            <a:chExt cx="58255" cy="137499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8293" cy="1375029"/>
            </a:xfrm>
            <a:custGeom>
              <a:avLst/>
              <a:gdLst/>
              <a:ahLst/>
              <a:cxnLst/>
              <a:rect r="r" b="b" t="t" l="l"/>
              <a:pathLst>
                <a:path h="1375029" w="58293">
                  <a:moveTo>
                    <a:pt x="0" y="0"/>
                  </a:moveTo>
                  <a:lnTo>
                    <a:pt x="58293" y="0"/>
                  </a:lnTo>
                  <a:lnTo>
                    <a:pt x="58293" y="1375029"/>
                  </a:lnTo>
                  <a:lnTo>
                    <a:pt x="0" y="1375029"/>
                  </a:lnTo>
                  <a:close/>
                </a:path>
              </a:pathLst>
            </a:custGeom>
            <a:solidFill>
              <a:srgbClr val="DCE4F0"/>
            </a:solidFill>
            <a:ln w="254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9144000" y="5888736"/>
            <a:ext cx="3657600" cy="1005840"/>
            <a:chOff x="0" y="0"/>
            <a:chExt cx="4876800" cy="13411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876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33350"/>
              <a:ext cx="4876800" cy="1474470"/>
            </a:xfrm>
            <a:prstGeom prst="roundRect">
              <a:avLst>
                <a:gd name="adj" fmla="val 10173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159"/>
                </a:lnSpc>
              </a:pPr>
              <a:r>
                <a:rPr lang="en-US" sz="6800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144000" y="6803136"/>
            <a:ext cx="3657600" cy="457200"/>
            <a:chOff x="0" y="0"/>
            <a:chExt cx="4876800" cy="6096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876800" cy="609600"/>
            </a:xfrm>
            <a:custGeom>
              <a:avLst/>
              <a:gdLst/>
              <a:ahLst/>
              <a:cxnLst/>
              <a:rect r="r" b="b" t="t" l="l"/>
              <a:pathLst>
                <a:path h="6096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4876800" cy="638175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spc="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PORTALS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862055" y="6022343"/>
            <a:ext cx="43691" cy="1031243"/>
            <a:chOff x="0" y="0"/>
            <a:chExt cx="58255" cy="137499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8293" cy="1375029"/>
            </a:xfrm>
            <a:custGeom>
              <a:avLst/>
              <a:gdLst/>
              <a:ahLst/>
              <a:cxnLst/>
              <a:rect r="r" b="b" t="t" l="l"/>
              <a:pathLst>
                <a:path h="1375029" w="58293">
                  <a:moveTo>
                    <a:pt x="0" y="0"/>
                  </a:moveTo>
                  <a:lnTo>
                    <a:pt x="58293" y="0"/>
                  </a:lnTo>
                  <a:lnTo>
                    <a:pt x="58293" y="1375029"/>
                  </a:lnTo>
                  <a:lnTo>
                    <a:pt x="0" y="1375029"/>
                  </a:lnTo>
                  <a:close/>
                </a:path>
              </a:pathLst>
            </a:custGeom>
            <a:solidFill>
              <a:srgbClr val="DCE4F0"/>
            </a:solidFill>
            <a:ln w="254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2984480" y="5888736"/>
            <a:ext cx="3657600" cy="1005840"/>
            <a:chOff x="0" y="0"/>
            <a:chExt cx="4876800" cy="13411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876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33350"/>
              <a:ext cx="4876800" cy="1474470"/>
            </a:xfrm>
            <a:prstGeom prst="roundRect">
              <a:avLst>
                <a:gd name="adj" fmla="val 10173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159"/>
                </a:lnSpc>
              </a:pPr>
              <a:r>
                <a:rPr lang="en-US" sz="6800" b="true">
                  <a:solidFill>
                    <a:srgbClr val="EA58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984480" y="6803136"/>
            <a:ext cx="3657600" cy="457200"/>
            <a:chOff x="0" y="0"/>
            <a:chExt cx="4876800" cy="6096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876800" cy="609600"/>
            </a:xfrm>
            <a:custGeom>
              <a:avLst/>
              <a:gdLst/>
              <a:ahLst/>
              <a:cxnLst/>
              <a:rect r="r" b="b" t="t" l="l"/>
              <a:pathLst>
                <a:path h="6096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4876800" cy="638175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spc="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SERVICES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14400" y="7955280"/>
            <a:ext cx="16459200" cy="548640"/>
            <a:chOff x="0" y="0"/>
            <a:chExt cx="21945600" cy="7315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21945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7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Presented by  Tej Prakash  &amp;  Harsimran Kaur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8300697" cy="1018537"/>
            <a:chOff x="0" y="0"/>
            <a:chExt cx="24400929" cy="13580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0890" cy="1358011"/>
            </a:xfrm>
            <a:custGeom>
              <a:avLst/>
              <a:gdLst/>
              <a:ahLst/>
              <a:cxnLst/>
              <a:rect r="r" b="b" t="t" l="l"/>
              <a:pathLst>
                <a:path h="1358011" w="24400890">
                  <a:moveTo>
                    <a:pt x="0" y="0"/>
                  </a:moveTo>
                  <a:lnTo>
                    <a:pt x="24400890" y="0"/>
                  </a:lnTo>
                  <a:lnTo>
                    <a:pt x="24400890" y="1358011"/>
                  </a:lnTo>
                  <a:lnTo>
                    <a:pt x="0" y="1358011"/>
                  </a:lnTo>
                  <a:close/>
                </a:path>
              </a:pathLst>
            </a:custGeom>
            <a:solidFill>
              <a:srgbClr val="EEF2F9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146304"/>
            <a:ext cx="1645920" cy="694944"/>
            <a:chOff x="0" y="0"/>
            <a:chExt cx="2194560" cy="9265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72" t="0" r="-4172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" cy="964692"/>
            </a:xfrm>
            <a:prstGeom prst="roundRect">
              <a:avLst>
                <a:gd name="adj" fmla="val 15549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/ 13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377440" y="146304"/>
            <a:ext cx="12801600" cy="694944"/>
            <a:chOff x="0" y="0"/>
            <a:chExt cx="17068800" cy="9265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934" r="0" b="-30893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7068800" cy="983742"/>
            </a:xfrm>
            <a:prstGeom prst="roundRect">
              <a:avLst>
                <a:gd name="adj" fmla="val 15247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31520" y="1188720"/>
            <a:ext cx="16824960" cy="822960"/>
            <a:chOff x="0" y="0"/>
            <a:chExt cx="2243328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433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8360" r="0" b="-34836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2433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 rental dealerships managing operations through paper ledgers, spreadsheets, and WhatsApp face a cascade of inefficiencies every day.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25167" y="2188207"/>
            <a:ext cx="8242297" cy="3395977"/>
            <a:chOff x="0" y="0"/>
            <a:chExt cx="10989729" cy="452796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89691" cy="4527931"/>
            </a:xfrm>
            <a:custGeom>
              <a:avLst/>
              <a:gdLst/>
              <a:ahLst/>
              <a:cxnLst/>
              <a:rect r="r" b="b" t="t" l="l"/>
              <a:pathLst>
                <a:path h="4527931" w="10989691">
                  <a:moveTo>
                    <a:pt x="0" y="0"/>
                  </a:moveTo>
                  <a:lnTo>
                    <a:pt x="10989691" y="0"/>
                  </a:lnTo>
                  <a:lnTo>
                    <a:pt x="10989691" y="4527931"/>
                  </a:lnTo>
                  <a:lnTo>
                    <a:pt x="0" y="452793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60704" y="2468880"/>
            <a:ext cx="7571232" cy="640080"/>
            <a:chOff x="0" y="0"/>
            <a:chExt cx="10094976" cy="853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94976" cy="853440"/>
            </a:xfrm>
            <a:custGeom>
              <a:avLst/>
              <a:gdLst/>
              <a:ahLst/>
              <a:cxnLst/>
              <a:rect r="r" b="b" t="t" l="l"/>
              <a:pathLst>
                <a:path h="853440" w="10094976">
                  <a:moveTo>
                    <a:pt x="0" y="0"/>
                  </a:moveTo>
                  <a:lnTo>
                    <a:pt x="10094976" y="0"/>
                  </a:lnTo>
                  <a:lnTo>
                    <a:pt x="10094976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0480" r="0" b="-18048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094976" cy="891540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🗂️  No Centralised Booking Record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60704" y="3200400"/>
            <a:ext cx="7571232" cy="2103120"/>
            <a:chOff x="0" y="0"/>
            <a:chExt cx="10094976" cy="2804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94976" cy="2804160"/>
            </a:xfrm>
            <a:custGeom>
              <a:avLst/>
              <a:gdLst/>
              <a:ahLst/>
              <a:cxnLst/>
              <a:rect r="r" b="b" t="t" l="l"/>
              <a:pathLst>
                <a:path h="2804160" w="10094976">
                  <a:moveTo>
                    <a:pt x="0" y="0"/>
                  </a:moveTo>
                  <a:lnTo>
                    <a:pt x="10094976" y="0"/>
                  </a:lnTo>
                  <a:lnTo>
                    <a:pt x="10094976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0094976" cy="2851785"/>
            </a:xfrm>
            <a:prstGeom prst="roundRect">
              <a:avLst>
                <a:gd name="adj" fmla="val 5259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Advisors take walk-in bookings verbally. Conflicts happen. Double-booked vehicles sit in the parking lot arguing about who called first.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20527" y="2188207"/>
            <a:ext cx="8242297" cy="3395977"/>
            <a:chOff x="0" y="0"/>
            <a:chExt cx="10989729" cy="452796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89691" cy="4527931"/>
            </a:xfrm>
            <a:custGeom>
              <a:avLst/>
              <a:gdLst/>
              <a:ahLst/>
              <a:cxnLst/>
              <a:rect r="r" b="b" t="t" l="l"/>
              <a:pathLst>
                <a:path h="4527931" w="10989691">
                  <a:moveTo>
                    <a:pt x="0" y="0"/>
                  </a:moveTo>
                  <a:lnTo>
                    <a:pt x="10989691" y="0"/>
                  </a:lnTo>
                  <a:lnTo>
                    <a:pt x="10989691" y="4527931"/>
                  </a:lnTo>
                  <a:lnTo>
                    <a:pt x="0" y="452793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656064" y="2468880"/>
            <a:ext cx="7571232" cy="640080"/>
            <a:chOff x="0" y="0"/>
            <a:chExt cx="10094976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94976" cy="853440"/>
            </a:xfrm>
            <a:custGeom>
              <a:avLst/>
              <a:gdLst/>
              <a:ahLst/>
              <a:cxnLst/>
              <a:rect r="r" b="b" t="t" l="l"/>
              <a:pathLst>
                <a:path h="853440" w="10094976">
                  <a:moveTo>
                    <a:pt x="0" y="0"/>
                  </a:moveTo>
                  <a:lnTo>
                    <a:pt x="10094976" y="0"/>
                  </a:lnTo>
                  <a:lnTo>
                    <a:pt x="10094976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0480" r="0" b="-18048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094976" cy="891540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 Opaque Revenue Tracking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656064" y="3200400"/>
            <a:ext cx="7571232" cy="2103120"/>
            <a:chOff x="0" y="0"/>
            <a:chExt cx="10094976" cy="2804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94976" cy="2804160"/>
            </a:xfrm>
            <a:custGeom>
              <a:avLst/>
              <a:gdLst/>
              <a:ahLst/>
              <a:cxnLst/>
              <a:rect r="r" b="b" t="t" l="l"/>
              <a:pathLst>
                <a:path h="2804160" w="10094976">
                  <a:moveTo>
                    <a:pt x="0" y="0"/>
                  </a:moveTo>
                  <a:lnTo>
                    <a:pt x="10094976" y="0"/>
                  </a:lnTo>
                  <a:lnTo>
                    <a:pt x="10094976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0094976" cy="2851785"/>
            </a:xfrm>
            <a:prstGeom prst="roundRect">
              <a:avLst>
                <a:gd name="adj" fmla="val 5259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Advances collected in cash disappear into pockets. No consolidated view of deposits, overdue returns, or extra mileage charges.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25167" y="5754367"/>
            <a:ext cx="8242297" cy="3395977"/>
            <a:chOff x="0" y="0"/>
            <a:chExt cx="10989729" cy="452796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89691" cy="4527931"/>
            </a:xfrm>
            <a:custGeom>
              <a:avLst/>
              <a:gdLst/>
              <a:ahLst/>
              <a:cxnLst/>
              <a:rect r="r" b="b" t="t" l="l"/>
              <a:pathLst>
                <a:path h="4527931" w="10989691">
                  <a:moveTo>
                    <a:pt x="0" y="0"/>
                  </a:moveTo>
                  <a:lnTo>
                    <a:pt x="10989691" y="0"/>
                  </a:lnTo>
                  <a:lnTo>
                    <a:pt x="10989691" y="4527931"/>
                  </a:lnTo>
                  <a:lnTo>
                    <a:pt x="0" y="452793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060704" y="6035040"/>
            <a:ext cx="7571232" cy="640080"/>
            <a:chOff x="0" y="0"/>
            <a:chExt cx="10094976" cy="8534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94976" cy="853440"/>
            </a:xfrm>
            <a:custGeom>
              <a:avLst/>
              <a:gdLst/>
              <a:ahLst/>
              <a:cxnLst/>
              <a:rect r="r" b="b" t="t" l="l"/>
              <a:pathLst>
                <a:path h="853440" w="10094976">
                  <a:moveTo>
                    <a:pt x="0" y="0"/>
                  </a:moveTo>
                  <a:lnTo>
                    <a:pt x="10094976" y="0"/>
                  </a:lnTo>
                  <a:lnTo>
                    <a:pt x="10094976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0480" r="0" b="-18048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0094976" cy="891540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🔎  Zero Vehicle Visibility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60704" y="6766560"/>
            <a:ext cx="7571232" cy="2103120"/>
            <a:chOff x="0" y="0"/>
            <a:chExt cx="10094976" cy="28041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094976" cy="2804160"/>
            </a:xfrm>
            <a:custGeom>
              <a:avLst/>
              <a:gdLst/>
              <a:ahLst/>
              <a:cxnLst/>
              <a:rect r="r" b="b" t="t" l="l"/>
              <a:pathLst>
                <a:path h="2804160" w="10094976">
                  <a:moveTo>
                    <a:pt x="0" y="0"/>
                  </a:moveTo>
                  <a:lnTo>
                    <a:pt x="10094976" y="0"/>
                  </a:lnTo>
                  <a:lnTo>
                    <a:pt x="10094976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0094976" cy="2851785"/>
            </a:xfrm>
            <a:prstGeom prst="roundRect">
              <a:avLst>
                <a:gd name="adj" fmla="val 5259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Which car is available right now? Which one is past service threshold? Nobody knows without calling the driver. Fleet management is guesswork.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20527" y="5754367"/>
            <a:ext cx="8242297" cy="3395977"/>
            <a:chOff x="0" y="0"/>
            <a:chExt cx="10989729" cy="452796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89691" cy="4527931"/>
            </a:xfrm>
            <a:custGeom>
              <a:avLst/>
              <a:gdLst/>
              <a:ahLst/>
              <a:cxnLst/>
              <a:rect r="r" b="b" t="t" l="l"/>
              <a:pathLst>
                <a:path h="4527931" w="10989691">
                  <a:moveTo>
                    <a:pt x="0" y="0"/>
                  </a:moveTo>
                  <a:lnTo>
                    <a:pt x="10989691" y="0"/>
                  </a:lnTo>
                  <a:lnTo>
                    <a:pt x="10989691" y="4527931"/>
                  </a:lnTo>
                  <a:lnTo>
                    <a:pt x="0" y="452793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656064" y="6035040"/>
            <a:ext cx="7571232" cy="640080"/>
            <a:chOff x="0" y="0"/>
            <a:chExt cx="10094976" cy="853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094976" cy="853440"/>
            </a:xfrm>
            <a:custGeom>
              <a:avLst/>
              <a:gdLst/>
              <a:ahLst/>
              <a:cxnLst/>
              <a:rect r="r" b="b" t="t" l="l"/>
              <a:pathLst>
                <a:path h="853440" w="10094976">
                  <a:moveTo>
                    <a:pt x="0" y="0"/>
                  </a:moveTo>
                  <a:lnTo>
                    <a:pt x="10094976" y="0"/>
                  </a:lnTo>
                  <a:lnTo>
                    <a:pt x="10094976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0480" r="0" b="-18048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0094976" cy="891540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✍️  Manual Quotation Process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656064" y="6766560"/>
            <a:ext cx="7571232" cy="2103120"/>
            <a:chOff x="0" y="0"/>
            <a:chExt cx="10094976" cy="28041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094976" cy="2804160"/>
            </a:xfrm>
            <a:custGeom>
              <a:avLst/>
              <a:gdLst/>
              <a:ahLst/>
              <a:cxnLst/>
              <a:rect r="r" b="b" t="t" l="l"/>
              <a:pathLst>
                <a:path h="2804160" w="10094976">
                  <a:moveTo>
                    <a:pt x="0" y="0"/>
                  </a:moveTo>
                  <a:lnTo>
                    <a:pt x="10094976" y="0"/>
                  </a:lnTo>
                  <a:lnTo>
                    <a:pt x="10094976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0094976" cy="2851785"/>
            </a:xfrm>
            <a:prstGeom prst="roundRect">
              <a:avLst>
                <a:gd name="adj" fmla="val 5259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quote is hand-calculated, typed on a Word doc, printed, and handed over. Errors are common. Leads are lost.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0" y="9784080"/>
            <a:ext cx="18288000" cy="512064"/>
            <a:chOff x="0" y="0"/>
            <a:chExt cx="24384000" cy="68275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438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5894" r="0" b="-64589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2438400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9AA6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Tej Prakash  ·  Harsimran Kaur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8300697" cy="1018537"/>
            <a:chOff x="0" y="0"/>
            <a:chExt cx="24400929" cy="13580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0890" cy="1358011"/>
            </a:xfrm>
            <a:custGeom>
              <a:avLst/>
              <a:gdLst/>
              <a:ahLst/>
              <a:cxnLst/>
              <a:rect r="r" b="b" t="t" l="l"/>
              <a:pathLst>
                <a:path h="1358011" w="24400890">
                  <a:moveTo>
                    <a:pt x="0" y="0"/>
                  </a:moveTo>
                  <a:lnTo>
                    <a:pt x="24400890" y="0"/>
                  </a:lnTo>
                  <a:lnTo>
                    <a:pt x="24400890" y="1358011"/>
                  </a:lnTo>
                  <a:lnTo>
                    <a:pt x="0" y="1358011"/>
                  </a:lnTo>
                  <a:close/>
                </a:path>
              </a:pathLst>
            </a:custGeom>
            <a:solidFill>
              <a:srgbClr val="EEF2F9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146304"/>
            <a:ext cx="1645920" cy="694944"/>
            <a:chOff x="0" y="0"/>
            <a:chExt cx="2194560" cy="9265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72" t="0" r="-4172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" cy="964692"/>
            </a:xfrm>
            <a:prstGeom prst="roundRect">
              <a:avLst>
                <a:gd name="adj" fmla="val 15549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/ 13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377440" y="146304"/>
            <a:ext cx="12801600" cy="694944"/>
            <a:chOff x="0" y="0"/>
            <a:chExt cx="17068800" cy="9265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934" r="0" b="-30893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7068800" cy="983742"/>
            </a:xfrm>
            <a:prstGeom prst="roundRect">
              <a:avLst>
                <a:gd name="adj" fmla="val 15247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Technology Stack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3727" y="1237231"/>
            <a:ext cx="8242297" cy="1841497"/>
            <a:chOff x="0" y="0"/>
            <a:chExt cx="10989729" cy="24553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89691" cy="2455291"/>
            </a:xfrm>
            <a:custGeom>
              <a:avLst/>
              <a:gdLst/>
              <a:ahLst/>
              <a:cxnLst/>
              <a:rect r="r" b="b" t="t" l="l"/>
              <a:pathLst>
                <a:path h="2455291" w="10989691">
                  <a:moveTo>
                    <a:pt x="0" y="0"/>
                  </a:moveTo>
                  <a:lnTo>
                    <a:pt x="10989691" y="0"/>
                  </a:lnTo>
                  <a:lnTo>
                    <a:pt x="10989691" y="2455291"/>
                  </a:lnTo>
                  <a:lnTo>
                    <a:pt x="0" y="245529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1426464"/>
            <a:ext cx="6217920" cy="548640"/>
            <a:chOff x="0" y="0"/>
            <a:chExt cx="829056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90560" cy="731520"/>
            </a:xfrm>
            <a:custGeom>
              <a:avLst/>
              <a:gdLst/>
              <a:ahLst/>
              <a:cxnLst/>
              <a:rect r="r" b="b" t="t" l="l"/>
              <a:pathLst>
                <a:path h="73152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290560" cy="779145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🅰️  Angular 17 + TypeScript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2011680"/>
            <a:ext cx="6217920" cy="950976"/>
            <a:chOff x="0" y="0"/>
            <a:chExt cx="8290560" cy="12679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2905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402" r="0" b="-7740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290560" cy="1306068"/>
            </a:xfrm>
            <a:prstGeom prst="roundRect">
              <a:avLst>
                <a:gd name="adj" fmla="val 11484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Frontend framework with Signals for reactive state, standalone components, and lazy-loaded routes.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213597" y="1416301"/>
            <a:ext cx="1391917" cy="477517"/>
            <a:chOff x="0" y="0"/>
            <a:chExt cx="1855889" cy="63668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55851" cy="636651"/>
            </a:xfrm>
            <a:custGeom>
              <a:avLst/>
              <a:gdLst/>
              <a:ahLst/>
              <a:cxnLst/>
              <a:rect r="r" b="b" t="t" l="l"/>
              <a:pathLst>
                <a:path h="636651" w="1855851">
                  <a:moveTo>
                    <a:pt x="0" y="254635"/>
                  </a:moveTo>
                  <a:cubicBezTo>
                    <a:pt x="0" y="114046"/>
                    <a:pt x="114046" y="0"/>
                    <a:pt x="254635" y="0"/>
                  </a:cubicBezTo>
                  <a:lnTo>
                    <a:pt x="1601216" y="0"/>
                  </a:lnTo>
                  <a:cubicBezTo>
                    <a:pt x="1741932" y="0"/>
                    <a:pt x="1855851" y="114046"/>
                    <a:pt x="1855851" y="254635"/>
                  </a:cubicBezTo>
                  <a:lnTo>
                    <a:pt x="1855851" y="382016"/>
                  </a:lnTo>
                  <a:cubicBezTo>
                    <a:pt x="1855851" y="522732"/>
                    <a:pt x="1741805" y="636651"/>
                    <a:pt x="1601216" y="636651"/>
                  </a:cubicBezTo>
                  <a:lnTo>
                    <a:pt x="254635" y="636651"/>
                  </a:lnTo>
                  <a:cubicBezTo>
                    <a:pt x="114046" y="636651"/>
                    <a:pt x="0" y="522732"/>
                    <a:pt x="0" y="382016"/>
                  </a:cubicBezTo>
                  <a:close/>
                </a:path>
              </a:pathLst>
            </a:custGeom>
            <a:solidFill>
              <a:srgbClr val="7C3AED">
                <a:alpha val="3137"/>
              </a:srgbClr>
            </a:solidFill>
            <a:ln w="2032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7223760" y="1426464"/>
            <a:ext cx="1371600" cy="457200"/>
            <a:chOff x="0" y="0"/>
            <a:chExt cx="1828800" cy="609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288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828800" cy="64770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229087" y="1237231"/>
            <a:ext cx="8242297" cy="1841497"/>
            <a:chOff x="0" y="0"/>
            <a:chExt cx="10989729" cy="245532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89691" cy="2455291"/>
            </a:xfrm>
            <a:custGeom>
              <a:avLst/>
              <a:gdLst/>
              <a:ahLst/>
              <a:cxnLst/>
              <a:rect r="r" b="b" t="t" l="l"/>
              <a:pathLst>
                <a:path h="2455291" w="10989691">
                  <a:moveTo>
                    <a:pt x="0" y="0"/>
                  </a:moveTo>
                  <a:lnTo>
                    <a:pt x="10989691" y="0"/>
                  </a:lnTo>
                  <a:lnTo>
                    <a:pt x="10989691" y="2455291"/>
                  </a:lnTo>
                  <a:lnTo>
                    <a:pt x="0" y="245529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509760" y="1426464"/>
            <a:ext cx="6217920" cy="548640"/>
            <a:chOff x="0" y="0"/>
            <a:chExt cx="829056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290560" cy="731520"/>
            </a:xfrm>
            <a:custGeom>
              <a:avLst/>
              <a:gdLst/>
              <a:ahLst/>
              <a:cxnLst/>
              <a:rect r="r" b="b" t="t" l="l"/>
              <a:pathLst>
                <a:path h="73152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8290560" cy="779145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🎨  PrimeNG + Aura Theme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509760" y="2011680"/>
            <a:ext cx="6217920" cy="950976"/>
            <a:chOff x="0" y="0"/>
            <a:chExt cx="8290560" cy="126796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2905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402" r="0" b="-7740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290560" cy="1306068"/>
            </a:xfrm>
            <a:prstGeom prst="roundRect">
              <a:avLst>
                <a:gd name="adj" fmla="val 11484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Enterprise UI component library — tables, dialogs, charts, toast, dropdowns. Zero custom CSS.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808957" y="1416301"/>
            <a:ext cx="1391917" cy="477517"/>
            <a:chOff x="0" y="0"/>
            <a:chExt cx="1855889" cy="63668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55851" cy="636651"/>
            </a:xfrm>
            <a:custGeom>
              <a:avLst/>
              <a:gdLst/>
              <a:ahLst/>
              <a:cxnLst/>
              <a:rect r="r" b="b" t="t" l="l"/>
              <a:pathLst>
                <a:path h="636651" w="1855851">
                  <a:moveTo>
                    <a:pt x="0" y="254635"/>
                  </a:moveTo>
                  <a:cubicBezTo>
                    <a:pt x="0" y="114046"/>
                    <a:pt x="114046" y="0"/>
                    <a:pt x="254635" y="0"/>
                  </a:cubicBezTo>
                  <a:lnTo>
                    <a:pt x="1601216" y="0"/>
                  </a:lnTo>
                  <a:cubicBezTo>
                    <a:pt x="1741932" y="0"/>
                    <a:pt x="1855851" y="114046"/>
                    <a:pt x="1855851" y="254635"/>
                  </a:cubicBezTo>
                  <a:lnTo>
                    <a:pt x="1855851" y="382016"/>
                  </a:lnTo>
                  <a:cubicBezTo>
                    <a:pt x="1855851" y="522732"/>
                    <a:pt x="1741805" y="636651"/>
                    <a:pt x="1601216" y="636651"/>
                  </a:cubicBezTo>
                  <a:lnTo>
                    <a:pt x="254635" y="636651"/>
                  </a:lnTo>
                  <a:cubicBezTo>
                    <a:pt x="114046" y="636651"/>
                    <a:pt x="0" y="522732"/>
                    <a:pt x="0" y="382016"/>
                  </a:cubicBezTo>
                  <a:close/>
                </a:path>
              </a:pathLst>
            </a:custGeom>
            <a:solidFill>
              <a:srgbClr val="D97706">
                <a:alpha val="3137"/>
              </a:srgbClr>
            </a:solidFill>
            <a:ln w="2032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5819120" y="1426464"/>
            <a:ext cx="1371600" cy="457200"/>
            <a:chOff x="0" y="0"/>
            <a:chExt cx="1828800" cy="609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288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828800" cy="64770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UI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33727" y="3285487"/>
            <a:ext cx="8242297" cy="1841497"/>
            <a:chOff x="0" y="0"/>
            <a:chExt cx="10989729" cy="245532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89691" cy="2455291"/>
            </a:xfrm>
            <a:custGeom>
              <a:avLst/>
              <a:gdLst/>
              <a:ahLst/>
              <a:cxnLst/>
              <a:rect r="r" b="b" t="t" l="l"/>
              <a:pathLst>
                <a:path h="2455291" w="10989691">
                  <a:moveTo>
                    <a:pt x="0" y="0"/>
                  </a:moveTo>
                  <a:lnTo>
                    <a:pt x="10989691" y="0"/>
                  </a:lnTo>
                  <a:lnTo>
                    <a:pt x="10989691" y="2455291"/>
                  </a:lnTo>
                  <a:lnTo>
                    <a:pt x="0" y="245529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14400" y="3474720"/>
            <a:ext cx="6217920" cy="548640"/>
            <a:chOff x="0" y="0"/>
            <a:chExt cx="829056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90560" cy="731520"/>
            </a:xfrm>
            <a:custGeom>
              <a:avLst/>
              <a:gdLst/>
              <a:ahLst/>
              <a:cxnLst/>
              <a:rect r="r" b="b" t="t" l="l"/>
              <a:pathLst>
                <a:path h="73152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8290560" cy="779145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🗄️  Supabase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14400" y="4059936"/>
            <a:ext cx="6217920" cy="950976"/>
            <a:chOff x="0" y="0"/>
            <a:chExt cx="8290560" cy="126796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2905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402" r="0" b="-7740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8290560" cy="1306068"/>
            </a:xfrm>
            <a:prstGeom prst="roundRect">
              <a:avLst>
                <a:gd name="adj" fmla="val 11484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PostgreSQL database, Auth (Google OAuth), Realtime subscriptions, Storage, and Edge Functions.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213597" y="3464557"/>
            <a:ext cx="1391917" cy="477517"/>
            <a:chOff x="0" y="0"/>
            <a:chExt cx="1855889" cy="63668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855851" cy="636651"/>
            </a:xfrm>
            <a:custGeom>
              <a:avLst/>
              <a:gdLst/>
              <a:ahLst/>
              <a:cxnLst/>
              <a:rect r="r" b="b" t="t" l="l"/>
              <a:pathLst>
                <a:path h="636651" w="1855851">
                  <a:moveTo>
                    <a:pt x="0" y="254635"/>
                  </a:moveTo>
                  <a:cubicBezTo>
                    <a:pt x="0" y="114046"/>
                    <a:pt x="114046" y="0"/>
                    <a:pt x="254635" y="0"/>
                  </a:cubicBezTo>
                  <a:lnTo>
                    <a:pt x="1601216" y="0"/>
                  </a:lnTo>
                  <a:cubicBezTo>
                    <a:pt x="1741932" y="0"/>
                    <a:pt x="1855851" y="114046"/>
                    <a:pt x="1855851" y="254635"/>
                  </a:cubicBezTo>
                  <a:lnTo>
                    <a:pt x="1855851" y="382016"/>
                  </a:lnTo>
                  <a:cubicBezTo>
                    <a:pt x="1855851" y="522732"/>
                    <a:pt x="1741805" y="636651"/>
                    <a:pt x="1601216" y="636651"/>
                  </a:cubicBezTo>
                  <a:lnTo>
                    <a:pt x="254635" y="636651"/>
                  </a:lnTo>
                  <a:cubicBezTo>
                    <a:pt x="114046" y="636651"/>
                    <a:pt x="0" y="522732"/>
                    <a:pt x="0" y="382016"/>
                  </a:cubicBezTo>
                  <a:close/>
                </a:path>
              </a:pathLst>
            </a:custGeom>
            <a:solidFill>
              <a:srgbClr val="0D9488">
                <a:alpha val="3137"/>
              </a:srgbClr>
            </a:solidFill>
            <a:ln w="2032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7223760" y="3474720"/>
            <a:ext cx="1371600" cy="457200"/>
            <a:chOff x="0" y="0"/>
            <a:chExt cx="1828800" cy="6096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8288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828800" cy="64770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229087" y="3285487"/>
            <a:ext cx="8242297" cy="1841497"/>
            <a:chOff x="0" y="0"/>
            <a:chExt cx="10989729" cy="245532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989691" cy="2455291"/>
            </a:xfrm>
            <a:custGeom>
              <a:avLst/>
              <a:gdLst/>
              <a:ahLst/>
              <a:cxnLst/>
              <a:rect r="r" b="b" t="t" l="l"/>
              <a:pathLst>
                <a:path h="2455291" w="10989691">
                  <a:moveTo>
                    <a:pt x="0" y="0"/>
                  </a:moveTo>
                  <a:lnTo>
                    <a:pt x="10989691" y="0"/>
                  </a:lnTo>
                  <a:lnTo>
                    <a:pt x="10989691" y="2455291"/>
                  </a:lnTo>
                  <a:lnTo>
                    <a:pt x="0" y="245529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9509760" y="3474720"/>
            <a:ext cx="6217920" cy="548640"/>
            <a:chOff x="0" y="0"/>
            <a:chExt cx="829056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290560" cy="731520"/>
            </a:xfrm>
            <a:custGeom>
              <a:avLst/>
              <a:gdLst/>
              <a:ahLst/>
              <a:cxnLst/>
              <a:rect r="r" b="b" t="t" l="l"/>
              <a:pathLst>
                <a:path h="73152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8290560" cy="779145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▲  Vercel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509760" y="4059936"/>
            <a:ext cx="6217920" cy="950976"/>
            <a:chOff x="0" y="0"/>
            <a:chExt cx="8290560" cy="126796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2905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402" r="0" b="-7740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8290560" cy="1306068"/>
            </a:xfrm>
            <a:prstGeom prst="roundRect">
              <a:avLst>
                <a:gd name="adj" fmla="val 11484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Hosts the Angular SPA and runs serverless API functions for payment order creation.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5808957" y="3464557"/>
            <a:ext cx="1391917" cy="477517"/>
            <a:chOff x="0" y="0"/>
            <a:chExt cx="1855889" cy="63668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855851" cy="636651"/>
            </a:xfrm>
            <a:custGeom>
              <a:avLst/>
              <a:gdLst/>
              <a:ahLst/>
              <a:cxnLst/>
              <a:rect r="r" b="b" t="t" l="l"/>
              <a:pathLst>
                <a:path h="636651" w="1855851">
                  <a:moveTo>
                    <a:pt x="0" y="254635"/>
                  </a:moveTo>
                  <a:cubicBezTo>
                    <a:pt x="0" y="114046"/>
                    <a:pt x="114046" y="0"/>
                    <a:pt x="254635" y="0"/>
                  </a:cubicBezTo>
                  <a:lnTo>
                    <a:pt x="1601216" y="0"/>
                  </a:lnTo>
                  <a:cubicBezTo>
                    <a:pt x="1741932" y="0"/>
                    <a:pt x="1855851" y="114046"/>
                    <a:pt x="1855851" y="254635"/>
                  </a:cubicBezTo>
                  <a:lnTo>
                    <a:pt x="1855851" y="382016"/>
                  </a:lnTo>
                  <a:cubicBezTo>
                    <a:pt x="1855851" y="522732"/>
                    <a:pt x="1741805" y="636651"/>
                    <a:pt x="1601216" y="636651"/>
                  </a:cubicBezTo>
                  <a:lnTo>
                    <a:pt x="254635" y="636651"/>
                  </a:lnTo>
                  <a:cubicBezTo>
                    <a:pt x="114046" y="636651"/>
                    <a:pt x="0" y="522732"/>
                    <a:pt x="0" y="382016"/>
                  </a:cubicBezTo>
                  <a:close/>
                </a:path>
              </a:pathLst>
            </a:custGeom>
            <a:solidFill>
              <a:srgbClr val="EA580C">
                <a:alpha val="3137"/>
              </a:srgbClr>
            </a:solidFill>
            <a:ln w="20320" cap="sq">
              <a:solidFill>
                <a:srgbClr val="EA580C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5819120" y="3474720"/>
            <a:ext cx="1371600" cy="457200"/>
            <a:chOff x="0" y="0"/>
            <a:chExt cx="1828800" cy="6096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8288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828800" cy="64770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EA58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Hosting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33727" y="5333743"/>
            <a:ext cx="8242297" cy="1841497"/>
            <a:chOff x="0" y="0"/>
            <a:chExt cx="10989729" cy="245532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89691" cy="2455291"/>
            </a:xfrm>
            <a:custGeom>
              <a:avLst/>
              <a:gdLst/>
              <a:ahLst/>
              <a:cxnLst/>
              <a:rect r="r" b="b" t="t" l="l"/>
              <a:pathLst>
                <a:path h="2455291" w="10989691">
                  <a:moveTo>
                    <a:pt x="0" y="0"/>
                  </a:moveTo>
                  <a:lnTo>
                    <a:pt x="10989691" y="0"/>
                  </a:lnTo>
                  <a:lnTo>
                    <a:pt x="10989691" y="2455291"/>
                  </a:lnTo>
                  <a:lnTo>
                    <a:pt x="0" y="245529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914400" y="5522976"/>
            <a:ext cx="6217920" cy="548640"/>
            <a:chOff x="0" y="0"/>
            <a:chExt cx="8290560" cy="7315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290560" cy="731520"/>
            </a:xfrm>
            <a:custGeom>
              <a:avLst/>
              <a:gdLst/>
              <a:ahLst/>
              <a:cxnLst/>
              <a:rect r="r" b="b" t="t" l="l"/>
              <a:pathLst>
                <a:path h="73152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8290560" cy="779145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💳  Cashfree Payments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14400" y="6108192"/>
            <a:ext cx="6217920" cy="950976"/>
            <a:chOff x="0" y="0"/>
            <a:chExt cx="8290560" cy="126796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2905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402" r="0" b="-77402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8290560" cy="1306068"/>
            </a:xfrm>
            <a:prstGeom prst="roundRect">
              <a:avLst>
                <a:gd name="adj" fmla="val 11484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Online payment gateway for UPI, card, and net banking. Integrated via Vercel serverless function.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7213597" y="5512813"/>
            <a:ext cx="1391917" cy="477517"/>
            <a:chOff x="0" y="0"/>
            <a:chExt cx="1855889" cy="63668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855851" cy="636651"/>
            </a:xfrm>
            <a:custGeom>
              <a:avLst/>
              <a:gdLst/>
              <a:ahLst/>
              <a:cxnLst/>
              <a:rect r="r" b="b" t="t" l="l"/>
              <a:pathLst>
                <a:path h="636651" w="1855851">
                  <a:moveTo>
                    <a:pt x="0" y="254635"/>
                  </a:moveTo>
                  <a:cubicBezTo>
                    <a:pt x="0" y="114046"/>
                    <a:pt x="114046" y="0"/>
                    <a:pt x="254635" y="0"/>
                  </a:cubicBezTo>
                  <a:lnTo>
                    <a:pt x="1601216" y="0"/>
                  </a:lnTo>
                  <a:cubicBezTo>
                    <a:pt x="1741932" y="0"/>
                    <a:pt x="1855851" y="114046"/>
                    <a:pt x="1855851" y="254635"/>
                  </a:cubicBezTo>
                  <a:lnTo>
                    <a:pt x="1855851" y="382016"/>
                  </a:lnTo>
                  <a:cubicBezTo>
                    <a:pt x="1855851" y="522732"/>
                    <a:pt x="1741805" y="636651"/>
                    <a:pt x="1601216" y="636651"/>
                  </a:cubicBezTo>
                  <a:lnTo>
                    <a:pt x="254635" y="636651"/>
                  </a:lnTo>
                  <a:cubicBezTo>
                    <a:pt x="114046" y="636651"/>
                    <a:pt x="0" y="522732"/>
                    <a:pt x="0" y="382016"/>
                  </a:cubicBezTo>
                  <a:close/>
                </a:path>
              </a:pathLst>
            </a:custGeom>
            <a:solidFill>
              <a:srgbClr val="DB2777">
                <a:alpha val="3137"/>
              </a:srgbClr>
            </a:solidFill>
            <a:ln w="20320" cap="sq">
              <a:solidFill>
                <a:srgbClr val="DB2777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7223760" y="5522976"/>
            <a:ext cx="1371600" cy="457200"/>
            <a:chOff x="0" y="0"/>
            <a:chExt cx="1828800" cy="6096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8288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1828800" cy="64770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DB277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Payments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229087" y="5333743"/>
            <a:ext cx="8242297" cy="1841497"/>
            <a:chOff x="0" y="0"/>
            <a:chExt cx="10989729" cy="2455329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989691" cy="2455291"/>
            </a:xfrm>
            <a:custGeom>
              <a:avLst/>
              <a:gdLst/>
              <a:ahLst/>
              <a:cxnLst/>
              <a:rect r="r" b="b" t="t" l="l"/>
              <a:pathLst>
                <a:path h="2455291" w="10989691">
                  <a:moveTo>
                    <a:pt x="0" y="0"/>
                  </a:moveTo>
                  <a:lnTo>
                    <a:pt x="10989691" y="0"/>
                  </a:lnTo>
                  <a:lnTo>
                    <a:pt x="10989691" y="2455291"/>
                  </a:lnTo>
                  <a:lnTo>
                    <a:pt x="0" y="245529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9509760" y="5522976"/>
            <a:ext cx="6217920" cy="548640"/>
            <a:chOff x="0" y="0"/>
            <a:chExt cx="8290560" cy="731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290560" cy="731520"/>
            </a:xfrm>
            <a:custGeom>
              <a:avLst/>
              <a:gdLst/>
              <a:ahLst/>
              <a:cxnLst/>
              <a:rect r="r" b="b" t="t" l="l"/>
              <a:pathLst>
                <a:path h="73152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8290560" cy="779145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📧  EmailJS + jsPDF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509760" y="6108192"/>
            <a:ext cx="6217920" cy="950976"/>
            <a:chOff x="0" y="0"/>
            <a:chExt cx="8290560" cy="126796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2905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402" r="0" b="-77402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8290560" cy="1306068"/>
            </a:xfrm>
            <a:prstGeom prst="roundRect">
              <a:avLst>
                <a:gd name="adj" fmla="val 11484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Client-side PDF generation for quotations. EmailJS delivers them to customers — no server needed.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5808957" y="5512813"/>
            <a:ext cx="1391917" cy="477517"/>
            <a:chOff x="0" y="0"/>
            <a:chExt cx="1855889" cy="63668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855851" cy="636651"/>
            </a:xfrm>
            <a:custGeom>
              <a:avLst/>
              <a:gdLst/>
              <a:ahLst/>
              <a:cxnLst/>
              <a:rect r="r" b="b" t="t" l="l"/>
              <a:pathLst>
                <a:path h="636651" w="1855851">
                  <a:moveTo>
                    <a:pt x="0" y="254635"/>
                  </a:moveTo>
                  <a:cubicBezTo>
                    <a:pt x="0" y="114046"/>
                    <a:pt x="114046" y="0"/>
                    <a:pt x="254635" y="0"/>
                  </a:cubicBezTo>
                  <a:lnTo>
                    <a:pt x="1601216" y="0"/>
                  </a:lnTo>
                  <a:cubicBezTo>
                    <a:pt x="1741932" y="0"/>
                    <a:pt x="1855851" y="114046"/>
                    <a:pt x="1855851" y="254635"/>
                  </a:cubicBezTo>
                  <a:lnTo>
                    <a:pt x="1855851" y="382016"/>
                  </a:lnTo>
                  <a:cubicBezTo>
                    <a:pt x="1855851" y="522732"/>
                    <a:pt x="1741805" y="636651"/>
                    <a:pt x="1601216" y="636651"/>
                  </a:cubicBezTo>
                  <a:lnTo>
                    <a:pt x="254635" y="636651"/>
                  </a:lnTo>
                  <a:cubicBezTo>
                    <a:pt x="114046" y="636651"/>
                    <a:pt x="0" y="522732"/>
                    <a:pt x="0" y="382016"/>
                  </a:cubicBezTo>
                  <a:close/>
                </a:path>
              </a:pathLst>
            </a:custGeom>
            <a:solidFill>
              <a:srgbClr val="2563EB">
                <a:alpha val="3137"/>
              </a:srgbClr>
            </a:solidFill>
            <a:ln w="2032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5819120" y="5522976"/>
            <a:ext cx="1371600" cy="457200"/>
            <a:chOff x="0" y="0"/>
            <a:chExt cx="1828800" cy="6096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8288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1828800" cy="64770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0" y="9784080"/>
            <a:ext cx="18288000" cy="512064"/>
            <a:chOff x="0" y="0"/>
            <a:chExt cx="24384000" cy="68275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438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5894" r="0" b="-645894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28575"/>
              <a:ext cx="2438400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9AA6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Tej Prakash  ·  Harsimran Kaur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8300697" cy="1018537"/>
            <a:chOff x="0" y="0"/>
            <a:chExt cx="24400929" cy="13580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0890" cy="1358011"/>
            </a:xfrm>
            <a:custGeom>
              <a:avLst/>
              <a:gdLst/>
              <a:ahLst/>
              <a:cxnLst/>
              <a:rect r="r" b="b" t="t" l="l"/>
              <a:pathLst>
                <a:path h="1358011" w="24400890">
                  <a:moveTo>
                    <a:pt x="0" y="0"/>
                  </a:moveTo>
                  <a:lnTo>
                    <a:pt x="24400890" y="0"/>
                  </a:lnTo>
                  <a:lnTo>
                    <a:pt x="24400890" y="1358011"/>
                  </a:lnTo>
                  <a:lnTo>
                    <a:pt x="0" y="1358011"/>
                  </a:lnTo>
                  <a:close/>
                </a:path>
              </a:pathLst>
            </a:custGeom>
            <a:solidFill>
              <a:srgbClr val="EEF2F9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146304"/>
            <a:ext cx="1645920" cy="694944"/>
            <a:chOff x="0" y="0"/>
            <a:chExt cx="2194560" cy="9265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72" t="0" r="-4172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" cy="964692"/>
            </a:xfrm>
            <a:prstGeom prst="roundRect">
              <a:avLst>
                <a:gd name="adj" fmla="val 15549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/ 13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377440" y="146304"/>
            <a:ext cx="12801600" cy="694944"/>
            <a:chOff x="0" y="0"/>
            <a:chExt cx="17068800" cy="9265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934" r="0" b="-30893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7068800" cy="983742"/>
            </a:xfrm>
            <a:prstGeom prst="roundRect">
              <a:avLst>
                <a:gd name="adj" fmla="val 15247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7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Architecture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99160" y="1356360"/>
            <a:ext cx="4602480" cy="1584960"/>
            <a:chOff x="0" y="0"/>
            <a:chExt cx="6136640" cy="2113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36640" cy="2113280"/>
            </a:xfrm>
            <a:custGeom>
              <a:avLst/>
              <a:gdLst/>
              <a:ahLst/>
              <a:cxnLst/>
              <a:rect r="r" b="b" t="t" l="l"/>
              <a:pathLst>
                <a:path h="2113280" w="6136640">
                  <a:moveTo>
                    <a:pt x="0" y="0"/>
                  </a:moveTo>
                  <a:lnTo>
                    <a:pt x="6136640" y="0"/>
                  </a:lnTo>
                  <a:lnTo>
                    <a:pt x="6136640" y="2113280"/>
                  </a:lnTo>
                  <a:lnTo>
                    <a:pt x="0" y="2113280"/>
                  </a:lnTo>
                  <a:close/>
                </a:path>
              </a:pathLst>
            </a:custGeom>
            <a:solidFill>
              <a:srgbClr val="FFFFFF"/>
            </a:solidFill>
            <a:ln w="3048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97280" y="1517904"/>
            <a:ext cx="4206240" cy="548640"/>
            <a:chOff x="0" y="0"/>
            <a:chExt cx="560832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08320" cy="731520"/>
            </a:xfrm>
            <a:custGeom>
              <a:avLst/>
              <a:gdLst/>
              <a:ahLst/>
              <a:cxnLst/>
              <a:rect r="r" b="b" t="t" l="l"/>
              <a:pathLst>
                <a:path h="73152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5608320" cy="779145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🅰️ Angular SPA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7280" y="2139696"/>
            <a:ext cx="4206240" cy="548640"/>
            <a:chOff x="0" y="0"/>
            <a:chExt cx="560832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608320" cy="731520"/>
            </a:xfrm>
            <a:custGeom>
              <a:avLst/>
              <a:gdLst/>
              <a:ahLst/>
              <a:cxnLst/>
              <a:rect r="r" b="b" t="t" l="l"/>
              <a:pathLst>
                <a:path h="73152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608320" cy="769620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Dealer Portal · Admin Portal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934200" y="1356360"/>
            <a:ext cx="4602480" cy="1584960"/>
            <a:chOff x="0" y="0"/>
            <a:chExt cx="6136640" cy="2113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136640" cy="2113280"/>
            </a:xfrm>
            <a:custGeom>
              <a:avLst/>
              <a:gdLst/>
              <a:ahLst/>
              <a:cxnLst/>
              <a:rect r="r" b="b" t="t" l="l"/>
              <a:pathLst>
                <a:path h="2113280" w="6136640">
                  <a:moveTo>
                    <a:pt x="0" y="0"/>
                  </a:moveTo>
                  <a:lnTo>
                    <a:pt x="6136640" y="0"/>
                  </a:lnTo>
                  <a:lnTo>
                    <a:pt x="6136640" y="2113280"/>
                  </a:lnTo>
                  <a:lnTo>
                    <a:pt x="0" y="2113280"/>
                  </a:lnTo>
                  <a:close/>
                </a:path>
              </a:pathLst>
            </a:custGeom>
            <a:solidFill>
              <a:srgbClr val="FFFFFF"/>
            </a:solidFill>
            <a:ln w="30480" cap="sq">
              <a:solidFill>
                <a:srgbClr val="EA580C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7132320" y="1517904"/>
            <a:ext cx="4206240" cy="548640"/>
            <a:chOff x="0" y="0"/>
            <a:chExt cx="560832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608320" cy="731520"/>
            </a:xfrm>
            <a:custGeom>
              <a:avLst/>
              <a:gdLst/>
              <a:ahLst/>
              <a:cxnLst/>
              <a:rect r="r" b="b" t="t" l="l"/>
              <a:pathLst>
                <a:path h="73152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5608320" cy="779145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A58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▲ Vercel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132320" y="2139696"/>
            <a:ext cx="4206240" cy="548640"/>
            <a:chOff x="0" y="0"/>
            <a:chExt cx="560832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608320" cy="731520"/>
            </a:xfrm>
            <a:custGeom>
              <a:avLst/>
              <a:gdLst/>
              <a:ahLst/>
              <a:cxnLst/>
              <a:rect r="r" b="b" t="t" l="l"/>
              <a:pathLst>
                <a:path h="73152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608320" cy="769620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SPA Host · Serverless API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969240" y="1356360"/>
            <a:ext cx="4602480" cy="1584960"/>
            <a:chOff x="0" y="0"/>
            <a:chExt cx="6136640" cy="2113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136640" cy="2113280"/>
            </a:xfrm>
            <a:custGeom>
              <a:avLst/>
              <a:gdLst/>
              <a:ahLst/>
              <a:cxnLst/>
              <a:rect r="r" b="b" t="t" l="l"/>
              <a:pathLst>
                <a:path h="2113280" w="6136640">
                  <a:moveTo>
                    <a:pt x="0" y="0"/>
                  </a:moveTo>
                  <a:lnTo>
                    <a:pt x="6136640" y="0"/>
                  </a:lnTo>
                  <a:lnTo>
                    <a:pt x="6136640" y="2113280"/>
                  </a:lnTo>
                  <a:lnTo>
                    <a:pt x="0" y="2113280"/>
                  </a:lnTo>
                  <a:close/>
                </a:path>
              </a:pathLst>
            </a:custGeom>
            <a:solidFill>
              <a:srgbClr val="FFFFFF"/>
            </a:solidFill>
            <a:ln w="30480" cap="sq">
              <a:solidFill>
                <a:srgbClr val="DB2777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3167360" y="1517904"/>
            <a:ext cx="4206240" cy="548640"/>
            <a:chOff x="0" y="0"/>
            <a:chExt cx="5608320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608320" cy="731520"/>
            </a:xfrm>
            <a:custGeom>
              <a:avLst/>
              <a:gdLst/>
              <a:ahLst/>
              <a:cxnLst/>
              <a:rect r="r" b="b" t="t" l="l"/>
              <a:pathLst>
                <a:path h="73152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5608320" cy="779145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DB277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💳 Cashfree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167360" y="2139696"/>
            <a:ext cx="4206240" cy="548640"/>
            <a:chOff x="0" y="0"/>
            <a:chExt cx="560832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608320" cy="731520"/>
            </a:xfrm>
            <a:custGeom>
              <a:avLst/>
              <a:gdLst/>
              <a:ahLst/>
              <a:cxnLst/>
              <a:rect r="r" b="b" t="t" l="l"/>
              <a:pathLst>
                <a:path h="73152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5608320" cy="769620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Payment Gateway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577840" y="1792224"/>
            <a:ext cx="1097280" cy="548640"/>
            <a:chOff x="0" y="0"/>
            <a:chExt cx="146304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63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1463040" cy="798195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9AA6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612880" y="1792224"/>
            <a:ext cx="1097280" cy="548640"/>
            <a:chOff x="0" y="0"/>
            <a:chExt cx="146304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63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1463040" cy="798195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9AA6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743200" y="3072384"/>
            <a:ext cx="914400" cy="640080"/>
            <a:chOff x="0" y="0"/>
            <a:chExt cx="1219200" cy="8534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19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1219200" cy="910590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9AA6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↕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99160" y="3733800"/>
            <a:ext cx="11003280" cy="2773680"/>
            <a:chOff x="0" y="0"/>
            <a:chExt cx="14671040" cy="36982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4671039" cy="3698240"/>
            </a:xfrm>
            <a:custGeom>
              <a:avLst/>
              <a:gdLst/>
              <a:ahLst/>
              <a:cxnLst/>
              <a:rect r="r" b="b" t="t" l="l"/>
              <a:pathLst>
                <a:path h="3698240" w="14671039">
                  <a:moveTo>
                    <a:pt x="0" y="0"/>
                  </a:moveTo>
                  <a:lnTo>
                    <a:pt x="14671039" y="0"/>
                  </a:lnTo>
                  <a:lnTo>
                    <a:pt x="14671039" y="3698240"/>
                  </a:lnTo>
                  <a:lnTo>
                    <a:pt x="0" y="3698240"/>
                  </a:lnTo>
                  <a:close/>
                </a:path>
              </a:pathLst>
            </a:custGeom>
            <a:solidFill>
              <a:srgbClr val="FFFFFF"/>
            </a:solidFill>
            <a:ln w="3048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188720" y="3840480"/>
            <a:ext cx="10058400" cy="585216"/>
            <a:chOff x="0" y="0"/>
            <a:chExt cx="13411200" cy="78028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411200" cy="780288"/>
            </a:xfrm>
            <a:custGeom>
              <a:avLst/>
              <a:gdLst/>
              <a:ahLst/>
              <a:cxnLst/>
              <a:rect r="r" b="b" t="t" l="l"/>
              <a:pathLst>
                <a:path h="780288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899" r="0" b="-284899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3411200" cy="818388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🗄️  Supabase Platform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82367" y="4565647"/>
            <a:ext cx="2298697" cy="1567177"/>
            <a:chOff x="0" y="0"/>
            <a:chExt cx="3064929" cy="208956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064891" cy="2089531"/>
            </a:xfrm>
            <a:custGeom>
              <a:avLst/>
              <a:gdLst/>
              <a:ahLst/>
              <a:cxnLst/>
              <a:rect r="r" b="b" t="t" l="l"/>
              <a:pathLst>
                <a:path h="2089531" w="3064891">
                  <a:moveTo>
                    <a:pt x="0" y="0"/>
                  </a:moveTo>
                  <a:lnTo>
                    <a:pt x="3064891" y="0"/>
                  </a:lnTo>
                  <a:lnTo>
                    <a:pt x="3064891" y="2089531"/>
                  </a:lnTo>
                  <a:lnTo>
                    <a:pt x="0" y="2089531"/>
                  </a:lnTo>
                  <a:close/>
                </a:path>
              </a:pathLst>
            </a:custGeom>
            <a:solidFill>
              <a:srgbClr val="0D9488">
                <a:alpha val="784"/>
              </a:srgbClr>
            </a:solidFill>
            <a:ln w="1270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188720" y="4645152"/>
            <a:ext cx="2286000" cy="457200"/>
            <a:chOff x="0" y="0"/>
            <a:chExt cx="3048000" cy="609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04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3048000" cy="657225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🐘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88720" y="5084064"/>
            <a:ext cx="2286000" cy="365760"/>
            <a:chOff x="0" y="0"/>
            <a:chExt cx="3048000" cy="4876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048000" cy="487680"/>
            </a:xfrm>
            <a:custGeom>
              <a:avLst/>
              <a:gdLst/>
              <a:ahLst/>
              <a:cxnLst/>
              <a:rect r="r" b="b" t="t" l="l"/>
              <a:pathLst>
                <a:path h="48768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3048000" cy="52578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PostgreSQL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88720" y="5431536"/>
            <a:ext cx="2286000" cy="365760"/>
            <a:chOff x="0" y="0"/>
            <a:chExt cx="3048000" cy="4876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048000" cy="487680"/>
            </a:xfrm>
            <a:custGeom>
              <a:avLst/>
              <a:gdLst/>
              <a:ahLst/>
              <a:cxnLst/>
              <a:rect r="r" b="b" t="t" l="l"/>
              <a:pathLst>
                <a:path h="48768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3048000" cy="516255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 tables · RLS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3742687" y="4565647"/>
            <a:ext cx="2298697" cy="1567177"/>
            <a:chOff x="0" y="0"/>
            <a:chExt cx="3064929" cy="208956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064891" cy="2089531"/>
            </a:xfrm>
            <a:custGeom>
              <a:avLst/>
              <a:gdLst/>
              <a:ahLst/>
              <a:cxnLst/>
              <a:rect r="r" b="b" t="t" l="l"/>
              <a:pathLst>
                <a:path h="2089531" w="3064891">
                  <a:moveTo>
                    <a:pt x="0" y="0"/>
                  </a:moveTo>
                  <a:lnTo>
                    <a:pt x="3064891" y="0"/>
                  </a:lnTo>
                  <a:lnTo>
                    <a:pt x="3064891" y="2089531"/>
                  </a:lnTo>
                  <a:lnTo>
                    <a:pt x="0" y="2089531"/>
                  </a:lnTo>
                  <a:close/>
                </a:path>
              </a:pathLst>
            </a:custGeom>
            <a:solidFill>
              <a:srgbClr val="0D9488">
                <a:alpha val="784"/>
              </a:srgbClr>
            </a:solidFill>
            <a:ln w="1270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3749040" y="4645152"/>
            <a:ext cx="2286000" cy="457200"/>
            <a:chOff x="0" y="0"/>
            <a:chExt cx="3048000" cy="6096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04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3048000" cy="657225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🔐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3749040" y="5084064"/>
            <a:ext cx="2286000" cy="365760"/>
            <a:chOff x="0" y="0"/>
            <a:chExt cx="3048000" cy="4876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048000" cy="487680"/>
            </a:xfrm>
            <a:custGeom>
              <a:avLst/>
              <a:gdLst/>
              <a:ahLst/>
              <a:cxnLst/>
              <a:rect r="r" b="b" t="t" l="l"/>
              <a:pathLst>
                <a:path h="48768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3048000" cy="52578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3749040" y="5431536"/>
            <a:ext cx="2286000" cy="365760"/>
            <a:chOff x="0" y="0"/>
            <a:chExt cx="3048000" cy="4876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048000" cy="487680"/>
            </a:xfrm>
            <a:custGeom>
              <a:avLst/>
              <a:gdLst/>
              <a:ahLst/>
              <a:cxnLst/>
              <a:rect r="r" b="b" t="t" l="l"/>
              <a:pathLst>
                <a:path h="48768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3048000" cy="516255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Google OAuth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6303007" y="4565647"/>
            <a:ext cx="2298697" cy="1567177"/>
            <a:chOff x="0" y="0"/>
            <a:chExt cx="3064929" cy="208956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064891" cy="2089531"/>
            </a:xfrm>
            <a:custGeom>
              <a:avLst/>
              <a:gdLst/>
              <a:ahLst/>
              <a:cxnLst/>
              <a:rect r="r" b="b" t="t" l="l"/>
              <a:pathLst>
                <a:path h="2089531" w="3064891">
                  <a:moveTo>
                    <a:pt x="0" y="0"/>
                  </a:moveTo>
                  <a:lnTo>
                    <a:pt x="3064891" y="0"/>
                  </a:lnTo>
                  <a:lnTo>
                    <a:pt x="3064891" y="2089531"/>
                  </a:lnTo>
                  <a:lnTo>
                    <a:pt x="0" y="2089531"/>
                  </a:lnTo>
                  <a:close/>
                </a:path>
              </a:pathLst>
            </a:custGeom>
            <a:solidFill>
              <a:srgbClr val="0D9488">
                <a:alpha val="784"/>
              </a:srgbClr>
            </a:solidFill>
            <a:ln w="1270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6309360" y="4645152"/>
            <a:ext cx="2286000" cy="457200"/>
            <a:chOff x="0" y="0"/>
            <a:chExt cx="3048000" cy="6096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04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3048000" cy="657225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⚡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6309360" y="5084064"/>
            <a:ext cx="2286000" cy="365760"/>
            <a:chOff x="0" y="0"/>
            <a:chExt cx="3048000" cy="4876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048000" cy="487680"/>
            </a:xfrm>
            <a:custGeom>
              <a:avLst/>
              <a:gdLst/>
              <a:ahLst/>
              <a:cxnLst/>
              <a:rect r="r" b="b" t="t" l="l"/>
              <a:pathLst>
                <a:path h="48768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3048000" cy="52578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Realtime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6309360" y="5431536"/>
            <a:ext cx="2286000" cy="365760"/>
            <a:chOff x="0" y="0"/>
            <a:chExt cx="3048000" cy="4876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048000" cy="487680"/>
            </a:xfrm>
            <a:custGeom>
              <a:avLst/>
              <a:gdLst/>
              <a:ahLst/>
              <a:cxnLst/>
              <a:rect r="r" b="b" t="t" l="l"/>
              <a:pathLst>
                <a:path h="48768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28575"/>
              <a:ext cx="3048000" cy="516255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WebSocket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8863327" y="4565647"/>
            <a:ext cx="2298697" cy="1567177"/>
            <a:chOff x="0" y="0"/>
            <a:chExt cx="3064929" cy="2089569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064891" cy="2089531"/>
            </a:xfrm>
            <a:custGeom>
              <a:avLst/>
              <a:gdLst/>
              <a:ahLst/>
              <a:cxnLst/>
              <a:rect r="r" b="b" t="t" l="l"/>
              <a:pathLst>
                <a:path h="2089531" w="3064891">
                  <a:moveTo>
                    <a:pt x="0" y="0"/>
                  </a:moveTo>
                  <a:lnTo>
                    <a:pt x="3064891" y="0"/>
                  </a:lnTo>
                  <a:lnTo>
                    <a:pt x="3064891" y="2089531"/>
                  </a:lnTo>
                  <a:lnTo>
                    <a:pt x="0" y="2089531"/>
                  </a:lnTo>
                  <a:close/>
                </a:path>
              </a:pathLst>
            </a:custGeom>
            <a:solidFill>
              <a:srgbClr val="0D9488">
                <a:alpha val="784"/>
              </a:srgbClr>
            </a:solidFill>
            <a:ln w="1270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8869680" y="4645152"/>
            <a:ext cx="2286000" cy="457200"/>
            <a:chOff x="0" y="0"/>
            <a:chExt cx="3048000" cy="6096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04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3048000" cy="657225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📂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8869680" y="5084064"/>
            <a:ext cx="2286000" cy="365760"/>
            <a:chOff x="0" y="0"/>
            <a:chExt cx="3048000" cy="4876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048000" cy="487680"/>
            </a:xfrm>
            <a:custGeom>
              <a:avLst/>
              <a:gdLst/>
              <a:ahLst/>
              <a:cxnLst/>
              <a:rect r="r" b="b" t="t" l="l"/>
              <a:pathLst>
                <a:path h="48768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3048000" cy="52578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Storage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8869680" y="5431536"/>
            <a:ext cx="2286000" cy="365760"/>
            <a:chOff x="0" y="0"/>
            <a:chExt cx="3048000" cy="4876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048000" cy="487680"/>
            </a:xfrm>
            <a:custGeom>
              <a:avLst/>
              <a:gdLst/>
              <a:ahLst/>
              <a:cxnLst/>
              <a:rect r="r" b="b" t="t" l="l"/>
              <a:pathLst>
                <a:path h="48768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3048000" cy="516255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 docs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2969240" y="3733800"/>
            <a:ext cx="4419600" cy="1859280"/>
            <a:chOff x="0" y="0"/>
            <a:chExt cx="5892800" cy="24790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892800" cy="2479040"/>
            </a:xfrm>
            <a:custGeom>
              <a:avLst/>
              <a:gdLst/>
              <a:ahLst/>
              <a:cxnLst/>
              <a:rect r="r" b="b" t="t" l="l"/>
              <a:pathLst>
                <a:path h="2479040" w="5892800">
                  <a:moveTo>
                    <a:pt x="0" y="0"/>
                  </a:moveTo>
                  <a:lnTo>
                    <a:pt x="5892800" y="0"/>
                  </a:lnTo>
                  <a:lnTo>
                    <a:pt x="5892800" y="2479040"/>
                  </a:lnTo>
                  <a:lnTo>
                    <a:pt x="0" y="2479040"/>
                  </a:lnTo>
                  <a:close/>
                </a:path>
              </a:pathLst>
            </a:custGeom>
            <a:solidFill>
              <a:srgbClr val="FFFFFF"/>
            </a:solidFill>
            <a:ln w="3048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13167360" y="3840480"/>
            <a:ext cx="4023360" cy="585216"/>
            <a:chOff x="0" y="0"/>
            <a:chExt cx="5364480" cy="78028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364480" cy="780288"/>
            </a:xfrm>
            <a:custGeom>
              <a:avLst/>
              <a:gdLst/>
              <a:ahLst/>
              <a:cxnLst/>
              <a:rect r="r" b="b" t="t" l="l"/>
              <a:pathLst>
                <a:path h="78028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5364480" cy="818388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📧  EmailJS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3167360" y="4535424"/>
            <a:ext cx="4023360" cy="548640"/>
            <a:chOff x="0" y="0"/>
            <a:chExt cx="5364480" cy="73152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364480" cy="731520"/>
            </a:xfrm>
            <a:custGeom>
              <a:avLst/>
              <a:gdLst/>
              <a:ahLst/>
              <a:cxnLst/>
              <a:rect r="r" b="b" t="t" l="l"/>
              <a:pathLst>
                <a:path h="7315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5364480" cy="769620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PDF Quotations via email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1978640" y="4389120"/>
            <a:ext cx="914400" cy="548640"/>
            <a:chOff x="0" y="0"/>
            <a:chExt cx="1219200" cy="73152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47625"/>
              <a:ext cx="1219200" cy="779145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9AA6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←→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731520" y="6821424"/>
            <a:ext cx="2011680" cy="512064"/>
            <a:chOff x="0" y="0"/>
            <a:chExt cx="2682240" cy="68275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682240" cy="682752"/>
            </a:xfrm>
            <a:custGeom>
              <a:avLst/>
              <a:gdLst/>
              <a:ahLst/>
              <a:cxnLst/>
              <a:rect r="r" b="b" t="t" l="l"/>
              <a:pathLst>
                <a:path h="68275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548" r="0" b="-26548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2682240" cy="720852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Key patterns: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2917193" y="6812537"/>
            <a:ext cx="3492503" cy="511559"/>
            <a:chOff x="0" y="0"/>
            <a:chExt cx="4656671" cy="682079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656709" cy="682117"/>
            </a:xfrm>
            <a:custGeom>
              <a:avLst/>
              <a:gdLst/>
              <a:ahLst/>
              <a:cxnLst/>
              <a:rect r="r" b="b" t="t" l="l"/>
              <a:pathLst>
                <a:path h="682117" w="4656709">
                  <a:moveTo>
                    <a:pt x="0" y="252603"/>
                  </a:moveTo>
                  <a:cubicBezTo>
                    <a:pt x="0" y="113157"/>
                    <a:pt x="113157" y="0"/>
                    <a:pt x="252603" y="0"/>
                  </a:cubicBezTo>
                  <a:lnTo>
                    <a:pt x="4404106" y="0"/>
                  </a:lnTo>
                  <a:cubicBezTo>
                    <a:pt x="4543679" y="0"/>
                    <a:pt x="4656709" y="113157"/>
                    <a:pt x="4656709" y="252603"/>
                  </a:cubicBezTo>
                  <a:lnTo>
                    <a:pt x="4656709" y="429514"/>
                  </a:lnTo>
                  <a:cubicBezTo>
                    <a:pt x="4656709" y="569087"/>
                    <a:pt x="4543552" y="682117"/>
                    <a:pt x="4404106" y="682117"/>
                  </a:cubicBezTo>
                  <a:lnTo>
                    <a:pt x="252603" y="682117"/>
                  </a:lnTo>
                  <a:cubicBezTo>
                    <a:pt x="113157" y="682117"/>
                    <a:pt x="0" y="568960"/>
                    <a:pt x="0" y="429514"/>
                  </a:cubicBezTo>
                  <a:close/>
                </a:path>
              </a:pathLst>
            </a:custGeom>
            <a:solidFill>
              <a:srgbClr val="0D9488">
                <a:alpha val="1961"/>
              </a:srgbClr>
            </a:solidFill>
            <a:ln w="1778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108" id="108"/>
          <p:cNvGrpSpPr/>
          <p:nvPr/>
        </p:nvGrpSpPr>
        <p:grpSpPr>
          <a:xfrm rot="0">
            <a:off x="2926080" y="6821424"/>
            <a:ext cx="3474720" cy="493776"/>
            <a:chOff x="0" y="0"/>
            <a:chExt cx="4632960" cy="65836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632960" cy="658368"/>
            </a:xfrm>
            <a:custGeom>
              <a:avLst/>
              <a:gdLst/>
              <a:ahLst/>
              <a:cxnLst/>
              <a:rect r="r" b="b" t="t" l="l"/>
              <a:pathLst>
                <a:path h="65836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116" r="0" b="-87116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4632960" cy="696468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RLS Row-Level Security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6666233" y="6812537"/>
            <a:ext cx="3492503" cy="511559"/>
            <a:chOff x="0" y="0"/>
            <a:chExt cx="4656671" cy="682079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4656709" cy="682117"/>
            </a:xfrm>
            <a:custGeom>
              <a:avLst/>
              <a:gdLst/>
              <a:ahLst/>
              <a:cxnLst/>
              <a:rect r="r" b="b" t="t" l="l"/>
              <a:pathLst>
                <a:path h="682117" w="4656709">
                  <a:moveTo>
                    <a:pt x="0" y="252603"/>
                  </a:moveTo>
                  <a:cubicBezTo>
                    <a:pt x="0" y="113157"/>
                    <a:pt x="113157" y="0"/>
                    <a:pt x="252603" y="0"/>
                  </a:cubicBezTo>
                  <a:lnTo>
                    <a:pt x="4404106" y="0"/>
                  </a:lnTo>
                  <a:cubicBezTo>
                    <a:pt x="4543679" y="0"/>
                    <a:pt x="4656709" y="113157"/>
                    <a:pt x="4656709" y="252603"/>
                  </a:cubicBezTo>
                  <a:lnTo>
                    <a:pt x="4656709" y="429514"/>
                  </a:lnTo>
                  <a:cubicBezTo>
                    <a:pt x="4656709" y="569087"/>
                    <a:pt x="4543552" y="682117"/>
                    <a:pt x="4404106" y="682117"/>
                  </a:cubicBezTo>
                  <a:lnTo>
                    <a:pt x="252603" y="682117"/>
                  </a:lnTo>
                  <a:cubicBezTo>
                    <a:pt x="113157" y="682117"/>
                    <a:pt x="0" y="568960"/>
                    <a:pt x="0" y="429514"/>
                  </a:cubicBezTo>
                  <a:close/>
                </a:path>
              </a:pathLst>
            </a:custGeom>
            <a:solidFill>
              <a:srgbClr val="7C3AED">
                <a:alpha val="1961"/>
              </a:srgbClr>
            </a:solidFill>
            <a:ln w="1778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13" id="113"/>
          <p:cNvGrpSpPr/>
          <p:nvPr/>
        </p:nvGrpSpPr>
        <p:grpSpPr>
          <a:xfrm rot="0">
            <a:off x="6675120" y="6821424"/>
            <a:ext cx="3474720" cy="493776"/>
            <a:chOff x="0" y="0"/>
            <a:chExt cx="4632960" cy="65836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632960" cy="658368"/>
            </a:xfrm>
            <a:custGeom>
              <a:avLst/>
              <a:gdLst/>
              <a:ahLst/>
              <a:cxnLst/>
              <a:rect r="r" b="b" t="t" l="l"/>
              <a:pathLst>
                <a:path h="65836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116" r="0" b="-87116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4632960" cy="696468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Signals-based state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0415273" y="6812537"/>
            <a:ext cx="3492503" cy="511559"/>
            <a:chOff x="0" y="0"/>
            <a:chExt cx="4656671" cy="682079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656709" cy="682117"/>
            </a:xfrm>
            <a:custGeom>
              <a:avLst/>
              <a:gdLst/>
              <a:ahLst/>
              <a:cxnLst/>
              <a:rect r="r" b="b" t="t" l="l"/>
              <a:pathLst>
                <a:path h="682117" w="4656709">
                  <a:moveTo>
                    <a:pt x="0" y="252603"/>
                  </a:moveTo>
                  <a:cubicBezTo>
                    <a:pt x="0" y="113157"/>
                    <a:pt x="113157" y="0"/>
                    <a:pt x="252603" y="0"/>
                  </a:cubicBezTo>
                  <a:lnTo>
                    <a:pt x="4404106" y="0"/>
                  </a:lnTo>
                  <a:cubicBezTo>
                    <a:pt x="4543679" y="0"/>
                    <a:pt x="4656709" y="113157"/>
                    <a:pt x="4656709" y="252603"/>
                  </a:cubicBezTo>
                  <a:lnTo>
                    <a:pt x="4656709" y="429514"/>
                  </a:lnTo>
                  <a:cubicBezTo>
                    <a:pt x="4656709" y="569087"/>
                    <a:pt x="4543552" y="682117"/>
                    <a:pt x="4404106" y="682117"/>
                  </a:cubicBezTo>
                  <a:lnTo>
                    <a:pt x="252603" y="682117"/>
                  </a:lnTo>
                  <a:cubicBezTo>
                    <a:pt x="113157" y="682117"/>
                    <a:pt x="0" y="568960"/>
                    <a:pt x="0" y="429514"/>
                  </a:cubicBezTo>
                  <a:close/>
                </a:path>
              </a:pathLst>
            </a:custGeom>
            <a:solidFill>
              <a:srgbClr val="D97706">
                <a:alpha val="1961"/>
              </a:srgbClr>
            </a:solidFill>
            <a:ln w="1778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118" id="118"/>
          <p:cNvGrpSpPr/>
          <p:nvPr/>
        </p:nvGrpSpPr>
        <p:grpSpPr>
          <a:xfrm rot="0">
            <a:off x="10424160" y="6821424"/>
            <a:ext cx="3474720" cy="493776"/>
            <a:chOff x="0" y="0"/>
            <a:chExt cx="4632960" cy="65836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632960" cy="658368"/>
            </a:xfrm>
            <a:custGeom>
              <a:avLst/>
              <a:gdLst/>
              <a:ahLst/>
              <a:cxnLst/>
              <a:rect r="r" b="b" t="t" l="l"/>
              <a:pathLst>
                <a:path h="65836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116" r="0" b="-87116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4632960" cy="696468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SECURITY DEFINER RPCs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4164313" y="6812537"/>
            <a:ext cx="3492503" cy="511559"/>
            <a:chOff x="0" y="0"/>
            <a:chExt cx="4656671" cy="682079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4656709" cy="682117"/>
            </a:xfrm>
            <a:custGeom>
              <a:avLst/>
              <a:gdLst/>
              <a:ahLst/>
              <a:cxnLst/>
              <a:rect r="r" b="b" t="t" l="l"/>
              <a:pathLst>
                <a:path h="682117" w="4656709">
                  <a:moveTo>
                    <a:pt x="0" y="252603"/>
                  </a:moveTo>
                  <a:cubicBezTo>
                    <a:pt x="0" y="113157"/>
                    <a:pt x="113157" y="0"/>
                    <a:pt x="252603" y="0"/>
                  </a:cubicBezTo>
                  <a:lnTo>
                    <a:pt x="4404106" y="0"/>
                  </a:lnTo>
                  <a:cubicBezTo>
                    <a:pt x="4543679" y="0"/>
                    <a:pt x="4656709" y="113157"/>
                    <a:pt x="4656709" y="252603"/>
                  </a:cubicBezTo>
                  <a:lnTo>
                    <a:pt x="4656709" y="429514"/>
                  </a:lnTo>
                  <a:cubicBezTo>
                    <a:pt x="4656709" y="569087"/>
                    <a:pt x="4543552" y="682117"/>
                    <a:pt x="4404106" y="682117"/>
                  </a:cubicBezTo>
                  <a:lnTo>
                    <a:pt x="252603" y="682117"/>
                  </a:lnTo>
                  <a:cubicBezTo>
                    <a:pt x="113157" y="682117"/>
                    <a:pt x="0" y="568960"/>
                    <a:pt x="0" y="429514"/>
                  </a:cubicBezTo>
                  <a:close/>
                </a:path>
              </a:pathLst>
            </a:custGeom>
            <a:solidFill>
              <a:srgbClr val="EA580C">
                <a:alpha val="1961"/>
              </a:srgbClr>
            </a:solidFill>
            <a:ln w="17780" cap="sq">
              <a:solidFill>
                <a:srgbClr val="EA580C"/>
              </a:solidFill>
              <a:prstDash val="solid"/>
              <a:miter/>
            </a:ln>
          </p:spPr>
        </p:sp>
      </p:grpSp>
      <p:grpSp>
        <p:nvGrpSpPr>
          <p:cNvPr name="Group 123" id="123"/>
          <p:cNvGrpSpPr/>
          <p:nvPr/>
        </p:nvGrpSpPr>
        <p:grpSpPr>
          <a:xfrm rot="0">
            <a:off x="14173200" y="6821424"/>
            <a:ext cx="3474720" cy="493776"/>
            <a:chOff x="0" y="0"/>
            <a:chExt cx="4632960" cy="658368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4632960" cy="658368"/>
            </a:xfrm>
            <a:custGeom>
              <a:avLst/>
              <a:gdLst/>
              <a:ahLst/>
              <a:cxnLst/>
              <a:rect r="r" b="b" t="t" l="l"/>
              <a:pathLst>
                <a:path h="65836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116" r="0" b="-87116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4632960" cy="696468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EA58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Serverless payments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0" y="9784080"/>
            <a:ext cx="18288000" cy="512064"/>
            <a:chOff x="0" y="0"/>
            <a:chExt cx="24384000" cy="682752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438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5894" r="0" b="-645894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28575"/>
              <a:ext cx="2438400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9AA6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Tej Prakash  ·  Harsimran Kaur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8300697" cy="1018537"/>
            <a:chOff x="0" y="0"/>
            <a:chExt cx="24400929" cy="13580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0890" cy="1358011"/>
            </a:xfrm>
            <a:custGeom>
              <a:avLst/>
              <a:gdLst/>
              <a:ahLst/>
              <a:cxnLst/>
              <a:rect r="r" b="b" t="t" l="l"/>
              <a:pathLst>
                <a:path h="1358011" w="24400890">
                  <a:moveTo>
                    <a:pt x="0" y="0"/>
                  </a:moveTo>
                  <a:lnTo>
                    <a:pt x="24400890" y="0"/>
                  </a:lnTo>
                  <a:lnTo>
                    <a:pt x="24400890" y="1358011"/>
                  </a:lnTo>
                  <a:lnTo>
                    <a:pt x="0" y="1358011"/>
                  </a:lnTo>
                  <a:close/>
                </a:path>
              </a:pathLst>
            </a:custGeom>
            <a:solidFill>
              <a:srgbClr val="EEF2F9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146304"/>
            <a:ext cx="1645920" cy="694944"/>
            <a:chOff x="0" y="0"/>
            <a:chExt cx="2194560" cy="9265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72" t="0" r="-4172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" cy="964692"/>
            </a:xfrm>
            <a:prstGeom prst="roundRect">
              <a:avLst>
                <a:gd name="adj" fmla="val 15549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/ 13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377440" y="146304"/>
            <a:ext cx="12801600" cy="694944"/>
            <a:chOff x="0" y="0"/>
            <a:chExt cx="17068800" cy="9265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934" r="0" b="-30893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7068800" cy="983742"/>
            </a:xfrm>
            <a:prstGeom prst="roundRect">
              <a:avLst>
                <a:gd name="adj" fmla="val 15247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Two Portals, Two Roles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31520" y="1133361"/>
            <a:ext cx="16824960" cy="548640"/>
            <a:chOff x="0" y="0"/>
            <a:chExt cx="2243328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433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Role is determined at login from the user_roles table — new Google sign-ins default to Rental Advisor automatically.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27383" y="1852679"/>
            <a:ext cx="8346443" cy="7980683"/>
            <a:chOff x="0" y="0"/>
            <a:chExt cx="11128591" cy="1064091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128629" cy="10640949"/>
            </a:xfrm>
            <a:custGeom>
              <a:avLst/>
              <a:gdLst/>
              <a:ahLst/>
              <a:cxnLst/>
              <a:rect r="r" b="b" t="t" l="l"/>
              <a:pathLst>
                <a:path h="10640949" w="11128629">
                  <a:moveTo>
                    <a:pt x="0" y="0"/>
                  </a:moveTo>
                  <a:lnTo>
                    <a:pt x="11128629" y="0"/>
                  </a:lnTo>
                  <a:lnTo>
                    <a:pt x="11128629" y="10640949"/>
                  </a:lnTo>
                  <a:lnTo>
                    <a:pt x="0" y="10640949"/>
                  </a:lnTo>
                  <a:close/>
                </a:path>
              </a:pathLst>
            </a:custGeom>
            <a:solidFill>
              <a:srgbClr val="2563EB">
                <a:alpha val="0"/>
              </a:srgbClr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97280" y="2372439"/>
            <a:ext cx="1005840" cy="1005840"/>
            <a:chOff x="0" y="0"/>
            <a:chExt cx="1341120" cy="13411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14300"/>
              <a:ext cx="1341120" cy="1455420"/>
            </a:xfrm>
            <a:prstGeom prst="roundRect">
              <a:avLst>
                <a:gd name="adj" fmla="val 11184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👔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194560" y="2372439"/>
            <a:ext cx="6309360" cy="694944"/>
            <a:chOff x="0" y="0"/>
            <a:chExt cx="8412480" cy="9265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412480" cy="926592"/>
            </a:xfrm>
            <a:custGeom>
              <a:avLst/>
              <a:gdLst/>
              <a:ahLst/>
              <a:cxnLst/>
              <a:rect r="r" b="b" t="t" l="l"/>
              <a:pathLst>
                <a:path h="92659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903" r="0" b="-12690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8412480" cy="1002792"/>
            </a:xfrm>
            <a:prstGeom prst="roundRect">
              <a:avLst>
                <a:gd name="adj" fmla="val 14958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Admin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194560" y="3103959"/>
            <a:ext cx="6309360" cy="402336"/>
            <a:chOff x="0" y="0"/>
            <a:chExt cx="8412480" cy="53644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412480" cy="536448"/>
            </a:xfrm>
            <a:custGeom>
              <a:avLst/>
              <a:gdLst/>
              <a:ahLst/>
              <a:cxnLst/>
              <a:rect r="r" b="b" t="t" l="l"/>
              <a:pathLst>
                <a:path h="536448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5560" r="0" b="-25556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412480" cy="574548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400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FLEET HEADQUARTERS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42416" y="4303843"/>
            <a:ext cx="7516368" cy="694944"/>
            <a:chOff x="0" y="0"/>
            <a:chExt cx="10021824" cy="9265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021824" cy="926592"/>
            </a:xfrm>
            <a:custGeom>
              <a:avLst/>
              <a:gdLst/>
              <a:ahLst/>
              <a:cxnLst/>
              <a:rect r="r" b="b" t="t" l="l"/>
              <a:pathLst>
                <a:path h="926592" w="10021824">
                  <a:moveTo>
                    <a:pt x="0" y="0"/>
                  </a:moveTo>
                  <a:lnTo>
                    <a:pt x="10021824" y="0"/>
                  </a:lnTo>
                  <a:lnTo>
                    <a:pt x="100218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746" r="0" b="-16074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0021824" cy="964692"/>
            </a:xfrm>
            <a:prstGeom prst="roundRect">
              <a:avLst>
                <a:gd name="adj" fmla="val 15549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 </a:t>
              </a:r>
              <a:r>
                <a:rPr lang="en-US" sz="2000">
                  <a:solidFill>
                    <a:srgbClr val="3A425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Review and approve / reject booking requests from dealers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42416" y="5035363"/>
            <a:ext cx="7516368" cy="694944"/>
            <a:chOff x="0" y="0"/>
            <a:chExt cx="10021824" cy="9265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021824" cy="926592"/>
            </a:xfrm>
            <a:custGeom>
              <a:avLst/>
              <a:gdLst/>
              <a:ahLst/>
              <a:cxnLst/>
              <a:rect r="r" b="b" t="t" l="l"/>
              <a:pathLst>
                <a:path h="926592" w="10021824">
                  <a:moveTo>
                    <a:pt x="0" y="0"/>
                  </a:moveTo>
                  <a:lnTo>
                    <a:pt x="10021824" y="0"/>
                  </a:lnTo>
                  <a:lnTo>
                    <a:pt x="100218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746" r="0" b="-16074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021824" cy="964692"/>
            </a:xfrm>
            <a:prstGeom prst="roundRect">
              <a:avLst>
                <a:gd name="adj" fmla="val 15549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 </a:t>
              </a:r>
              <a:r>
                <a:rPr lang="en-US" sz="2000">
                  <a:solidFill>
                    <a:srgbClr val="3A425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Manage the entire vehicle fleet — add, edit, archive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42416" y="5766883"/>
            <a:ext cx="7516368" cy="694944"/>
            <a:chOff x="0" y="0"/>
            <a:chExt cx="10021824" cy="9265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21824" cy="926592"/>
            </a:xfrm>
            <a:custGeom>
              <a:avLst/>
              <a:gdLst/>
              <a:ahLst/>
              <a:cxnLst/>
              <a:rect r="r" b="b" t="t" l="l"/>
              <a:pathLst>
                <a:path h="926592" w="10021824">
                  <a:moveTo>
                    <a:pt x="0" y="0"/>
                  </a:moveTo>
                  <a:lnTo>
                    <a:pt x="10021824" y="0"/>
                  </a:lnTo>
                  <a:lnTo>
                    <a:pt x="100218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746" r="0" b="-16074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0021824" cy="964692"/>
            </a:xfrm>
            <a:prstGeom prst="roundRect">
              <a:avLst>
                <a:gd name="adj" fmla="val 15549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 </a:t>
              </a:r>
              <a:r>
                <a:rPr lang="en-US" sz="2000">
                  <a:solidFill>
                    <a:srgbClr val="3A425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View consolidated revenue, analytics, and utilisation charts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42416" y="6498403"/>
            <a:ext cx="7516368" cy="694944"/>
            <a:chOff x="0" y="0"/>
            <a:chExt cx="10021824" cy="92659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21824" cy="926592"/>
            </a:xfrm>
            <a:custGeom>
              <a:avLst/>
              <a:gdLst/>
              <a:ahLst/>
              <a:cxnLst/>
              <a:rect r="r" b="b" t="t" l="l"/>
              <a:pathLst>
                <a:path h="926592" w="10021824">
                  <a:moveTo>
                    <a:pt x="0" y="0"/>
                  </a:moveTo>
                  <a:lnTo>
                    <a:pt x="10021824" y="0"/>
                  </a:lnTo>
                  <a:lnTo>
                    <a:pt x="100218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746" r="0" b="-16074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021824" cy="964692"/>
            </a:xfrm>
            <a:prstGeom prst="roundRect">
              <a:avLst>
                <a:gd name="adj" fmla="val 15549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 </a:t>
              </a:r>
              <a:r>
                <a:rPr lang="en-US" sz="2000">
                  <a:solidFill>
                    <a:srgbClr val="3A425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Manage user roles — promote dealers to admin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42416" y="7229923"/>
            <a:ext cx="7516368" cy="694944"/>
            <a:chOff x="0" y="0"/>
            <a:chExt cx="10021824" cy="92659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021824" cy="926592"/>
            </a:xfrm>
            <a:custGeom>
              <a:avLst/>
              <a:gdLst/>
              <a:ahLst/>
              <a:cxnLst/>
              <a:rect r="r" b="b" t="t" l="l"/>
              <a:pathLst>
                <a:path h="926592" w="10021824">
                  <a:moveTo>
                    <a:pt x="0" y="0"/>
                  </a:moveTo>
                  <a:lnTo>
                    <a:pt x="10021824" y="0"/>
                  </a:lnTo>
                  <a:lnTo>
                    <a:pt x="100218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746" r="0" b="-16074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0021824" cy="964692"/>
            </a:xfrm>
            <a:prstGeom prst="roundRect">
              <a:avLst>
                <a:gd name="adj" fmla="val 15549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 </a:t>
              </a:r>
              <a:r>
                <a:rPr lang="en-US" sz="2000">
                  <a:solidFill>
                    <a:srgbClr val="3A425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audit log of every action in the system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42416" y="7961443"/>
            <a:ext cx="7516368" cy="694944"/>
            <a:chOff x="0" y="0"/>
            <a:chExt cx="10021824" cy="9265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021824" cy="926592"/>
            </a:xfrm>
            <a:custGeom>
              <a:avLst/>
              <a:gdLst/>
              <a:ahLst/>
              <a:cxnLst/>
              <a:rect r="r" b="b" t="t" l="l"/>
              <a:pathLst>
                <a:path h="926592" w="10021824">
                  <a:moveTo>
                    <a:pt x="0" y="0"/>
                  </a:moveTo>
                  <a:lnTo>
                    <a:pt x="10021824" y="0"/>
                  </a:lnTo>
                  <a:lnTo>
                    <a:pt x="100218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746" r="0" b="-16074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0021824" cy="964692"/>
            </a:xfrm>
            <a:prstGeom prst="roundRect">
              <a:avLst>
                <a:gd name="adj" fmla="val 15549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 </a:t>
              </a:r>
              <a:r>
                <a:rPr lang="en-US" sz="2000">
                  <a:solidFill>
                    <a:srgbClr val="3A425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 booking ledger with Realtime updates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497063" y="1852679"/>
            <a:ext cx="8346443" cy="7980683"/>
            <a:chOff x="0" y="0"/>
            <a:chExt cx="11128591" cy="1064091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128629" cy="10640949"/>
            </a:xfrm>
            <a:custGeom>
              <a:avLst/>
              <a:gdLst/>
              <a:ahLst/>
              <a:cxnLst/>
              <a:rect r="r" b="b" t="t" l="l"/>
              <a:pathLst>
                <a:path h="10640949" w="11128629">
                  <a:moveTo>
                    <a:pt x="0" y="0"/>
                  </a:moveTo>
                  <a:lnTo>
                    <a:pt x="11128629" y="0"/>
                  </a:lnTo>
                  <a:lnTo>
                    <a:pt x="11128629" y="10640949"/>
                  </a:lnTo>
                  <a:lnTo>
                    <a:pt x="0" y="10640949"/>
                  </a:lnTo>
                  <a:close/>
                </a:path>
              </a:pathLst>
            </a:custGeom>
            <a:solidFill>
              <a:srgbClr val="7C3AED">
                <a:alpha val="0"/>
              </a:srgbClr>
            </a:solidFill>
            <a:ln w="254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966960" y="2534164"/>
            <a:ext cx="856555" cy="972141"/>
            <a:chOff x="0" y="0"/>
            <a:chExt cx="1142073" cy="129618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42067" cy="1296181"/>
            </a:xfrm>
            <a:custGeom>
              <a:avLst/>
              <a:gdLst/>
              <a:ahLst/>
              <a:cxnLst/>
              <a:rect r="r" b="b" t="t" l="l"/>
              <a:pathLst>
                <a:path h="1296181" w="1142067">
                  <a:moveTo>
                    <a:pt x="0" y="0"/>
                  </a:moveTo>
                  <a:lnTo>
                    <a:pt x="1142067" y="0"/>
                  </a:lnTo>
                  <a:lnTo>
                    <a:pt x="1142067" y="1296181"/>
                  </a:lnTo>
                  <a:lnTo>
                    <a:pt x="0" y="12961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5617" t="0" r="-95618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14300"/>
              <a:ext cx="1142073" cy="1410487"/>
            </a:xfrm>
            <a:prstGeom prst="roundRect">
              <a:avLst>
                <a:gd name="adj" fmla="val 13134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🧑‍💼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064240" y="2372439"/>
            <a:ext cx="6309360" cy="694944"/>
            <a:chOff x="0" y="0"/>
            <a:chExt cx="8412480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412480" cy="926592"/>
            </a:xfrm>
            <a:custGeom>
              <a:avLst/>
              <a:gdLst/>
              <a:ahLst/>
              <a:cxnLst/>
              <a:rect r="r" b="b" t="t" l="l"/>
              <a:pathLst>
                <a:path h="92659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903" r="0" b="-12690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76200"/>
              <a:ext cx="8412480" cy="1002792"/>
            </a:xfrm>
            <a:prstGeom prst="roundRect">
              <a:avLst>
                <a:gd name="adj" fmla="val 14958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Rental Advisor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064240" y="3103959"/>
            <a:ext cx="6309360" cy="402336"/>
            <a:chOff x="0" y="0"/>
            <a:chExt cx="8412480" cy="53644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412480" cy="536448"/>
            </a:xfrm>
            <a:custGeom>
              <a:avLst/>
              <a:gdLst/>
              <a:ahLst/>
              <a:cxnLst/>
              <a:rect r="r" b="b" t="t" l="l"/>
              <a:pathLst>
                <a:path h="536448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5560" r="0" b="-25556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8412480" cy="574548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400">
                  <a:solidFill>
                    <a:srgbClr val="7C3AE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WALK-IN BOOKING WIZARD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912096" y="4303843"/>
            <a:ext cx="7516368" cy="694944"/>
            <a:chOff x="0" y="0"/>
            <a:chExt cx="10021824" cy="9265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021824" cy="926592"/>
            </a:xfrm>
            <a:custGeom>
              <a:avLst/>
              <a:gdLst/>
              <a:ahLst/>
              <a:cxnLst/>
              <a:rect r="r" b="b" t="t" l="l"/>
              <a:pathLst>
                <a:path h="926592" w="10021824">
                  <a:moveTo>
                    <a:pt x="0" y="0"/>
                  </a:moveTo>
                  <a:lnTo>
                    <a:pt x="10021824" y="0"/>
                  </a:lnTo>
                  <a:lnTo>
                    <a:pt x="100218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746" r="0" b="-16074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0021824" cy="964692"/>
            </a:xfrm>
            <a:prstGeom prst="roundRect">
              <a:avLst>
                <a:gd name="adj" fmla="val 15549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 </a:t>
              </a:r>
              <a:r>
                <a:rPr lang="en-US" sz="2000">
                  <a:solidFill>
                    <a:srgbClr val="3A425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9-step walk-in booking wizard for walk-in customers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912096" y="5035363"/>
            <a:ext cx="7516368" cy="694944"/>
            <a:chOff x="0" y="0"/>
            <a:chExt cx="10021824" cy="9265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021824" cy="926592"/>
            </a:xfrm>
            <a:custGeom>
              <a:avLst/>
              <a:gdLst/>
              <a:ahLst/>
              <a:cxnLst/>
              <a:rect r="r" b="b" t="t" l="l"/>
              <a:pathLst>
                <a:path h="926592" w="10021824">
                  <a:moveTo>
                    <a:pt x="0" y="0"/>
                  </a:moveTo>
                  <a:lnTo>
                    <a:pt x="10021824" y="0"/>
                  </a:lnTo>
                  <a:lnTo>
                    <a:pt x="100218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746" r="0" b="-16074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0021824" cy="964692"/>
            </a:xfrm>
            <a:prstGeom prst="roundRect">
              <a:avLst>
                <a:gd name="adj" fmla="val 15549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 </a:t>
              </a:r>
              <a:r>
                <a:rPr lang="en-US" sz="2000">
                  <a:solidFill>
                    <a:srgbClr val="3A425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Search returning customers by mobile — auto-fill form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912096" y="5766883"/>
            <a:ext cx="7516368" cy="694944"/>
            <a:chOff x="0" y="0"/>
            <a:chExt cx="10021824" cy="9265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021824" cy="926592"/>
            </a:xfrm>
            <a:custGeom>
              <a:avLst/>
              <a:gdLst/>
              <a:ahLst/>
              <a:cxnLst/>
              <a:rect r="r" b="b" t="t" l="l"/>
              <a:pathLst>
                <a:path h="926592" w="10021824">
                  <a:moveTo>
                    <a:pt x="0" y="0"/>
                  </a:moveTo>
                  <a:lnTo>
                    <a:pt x="10021824" y="0"/>
                  </a:lnTo>
                  <a:lnTo>
                    <a:pt x="100218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746" r="0" b="-16074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0021824" cy="964692"/>
            </a:xfrm>
            <a:prstGeom prst="roundRect">
              <a:avLst>
                <a:gd name="adj" fmla="val 15549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 </a:t>
              </a:r>
              <a:r>
                <a:rPr lang="en-US" sz="2000">
                  <a:solidFill>
                    <a:srgbClr val="3A425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Generate, preview, and email PDF quotations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912096" y="6498403"/>
            <a:ext cx="7516368" cy="694944"/>
            <a:chOff x="0" y="0"/>
            <a:chExt cx="10021824" cy="9265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021824" cy="926592"/>
            </a:xfrm>
            <a:custGeom>
              <a:avLst/>
              <a:gdLst/>
              <a:ahLst/>
              <a:cxnLst/>
              <a:rect r="r" b="b" t="t" l="l"/>
              <a:pathLst>
                <a:path h="926592" w="10021824">
                  <a:moveTo>
                    <a:pt x="0" y="0"/>
                  </a:moveTo>
                  <a:lnTo>
                    <a:pt x="10021824" y="0"/>
                  </a:lnTo>
                  <a:lnTo>
                    <a:pt x="100218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746" r="0" b="-16074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0021824" cy="964692"/>
            </a:xfrm>
            <a:prstGeom prst="roundRect">
              <a:avLst>
                <a:gd name="adj" fmla="val 15549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 </a:t>
              </a:r>
              <a:r>
                <a:rPr lang="en-US" sz="2000">
                  <a:solidFill>
                    <a:srgbClr val="3A425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Collect cash or initiate online payment via Cashfree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912096" y="7229923"/>
            <a:ext cx="7516368" cy="694944"/>
            <a:chOff x="0" y="0"/>
            <a:chExt cx="10021824" cy="92659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021824" cy="926592"/>
            </a:xfrm>
            <a:custGeom>
              <a:avLst/>
              <a:gdLst/>
              <a:ahLst/>
              <a:cxnLst/>
              <a:rect r="r" b="b" t="t" l="l"/>
              <a:pathLst>
                <a:path h="926592" w="10021824">
                  <a:moveTo>
                    <a:pt x="0" y="0"/>
                  </a:moveTo>
                  <a:lnTo>
                    <a:pt x="10021824" y="0"/>
                  </a:lnTo>
                  <a:lnTo>
                    <a:pt x="100218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746" r="0" b="-16074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0021824" cy="964692"/>
            </a:xfrm>
            <a:prstGeom prst="roundRect">
              <a:avLst>
                <a:gd name="adj" fmla="val 15549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 </a:t>
              </a:r>
              <a:r>
                <a:rPr lang="en-US" sz="2000">
                  <a:solidFill>
                    <a:srgbClr val="3A425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Pre-trip inspection form with photo upload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912096" y="7961443"/>
            <a:ext cx="7516368" cy="694944"/>
            <a:chOff x="0" y="0"/>
            <a:chExt cx="10021824" cy="92659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021824" cy="926592"/>
            </a:xfrm>
            <a:custGeom>
              <a:avLst/>
              <a:gdLst/>
              <a:ahLst/>
              <a:cxnLst/>
              <a:rect r="r" b="b" t="t" l="l"/>
              <a:pathLst>
                <a:path h="926592" w="10021824">
                  <a:moveTo>
                    <a:pt x="0" y="0"/>
                  </a:moveTo>
                  <a:lnTo>
                    <a:pt x="10021824" y="0"/>
                  </a:lnTo>
                  <a:lnTo>
                    <a:pt x="100218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746" r="0" b="-16074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0021824" cy="964692"/>
            </a:xfrm>
            <a:prstGeom prst="roundRect">
              <a:avLst>
                <a:gd name="adj" fmla="val 15549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 </a:t>
              </a:r>
              <a:r>
                <a:rPr lang="en-US" sz="2000">
                  <a:solidFill>
                    <a:srgbClr val="3A425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Personal analytics — revenue, bookings, active vehicles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0" y="9784080"/>
            <a:ext cx="18288000" cy="512064"/>
            <a:chOff x="0" y="0"/>
            <a:chExt cx="24384000" cy="6827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438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5894" r="0" b="-645894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2438400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9AA6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Tej Prakash  ·  Harsimran Kaur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8300697" cy="1018537"/>
            <a:chOff x="0" y="0"/>
            <a:chExt cx="24400929" cy="13580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0890" cy="1358011"/>
            </a:xfrm>
            <a:custGeom>
              <a:avLst/>
              <a:gdLst/>
              <a:ahLst/>
              <a:cxnLst/>
              <a:rect r="r" b="b" t="t" l="l"/>
              <a:pathLst>
                <a:path h="1358011" w="24400890">
                  <a:moveTo>
                    <a:pt x="0" y="0"/>
                  </a:moveTo>
                  <a:lnTo>
                    <a:pt x="24400890" y="0"/>
                  </a:lnTo>
                  <a:lnTo>
                    <a:pt x="24400890" y="1358011"/>
                  </a:lnTo>
                  <a:lnTo>
                    <a:pt x="0" y="1358011"/>
                  </a:lnTo>
                  <a:close/>
                </a:path>
              </a:pathLst>
            </a:custGeom>
            <a:solidFill>
              <a:srgbClr val="EEF2F9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146304"/>
            <a:ext cx="1645920" cy="694944"/>
            <a:chOff x="0" y="0"/>
            <a:chExt cx="2194560" cy="9265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72" t="0" r="-4172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" cy="964692"/>
            </a:xfrm>
            <a:prstGeom prst="roundRect">
              <a:avLst>
                <a:gd name="adj" fmla="val 15549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/ 13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377440" y="146304"/>
            <a:ext cx="12801600" cy="694944"/>
            <a:chOff x="0" y="0"/>
            <a:chExt cx="17068800" cy="9265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934" r="0" b="-30893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7068800" cy="983742"/>
            </a:xfrm>
            <a:prstGeom prst="roundRect">
              <a:avLst>
                <a:gd name="adj" fmla="val 15247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7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End-to-End Booking Flow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84069" y="2362200"/>
            <a:ext cx="1164336" cy="1164336"/>
            <a:chOff x="0" y="0"/>
            <a:chExt cx="1552448" cy="15524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52448" cy="1552448"/>
            </a:xfrm>
            <a:custGeom>
              <a:avLst/>
              <a:gdLst/>
              <a:ahLst/>
              <a:cxnLst/>
              <a:rect r="r" b="b" t="t" l="l"/>
              <a:pathLst>
                <a:path h="1552448" w="1552448">
                  <a:moveTo>
                    <a:pt x="0" y="776224"/>
                  </a:moveTo>
                  <a:cubicBezTo>
                    <a:pt x="0" y="347472"/>
                    <a:pt x="347472" y="0"/>
                    <a:pt x="776224" y="0"/>
                  </a:cubicBezTo>
                  <a:cubicBezTo>
                    <a:pt x="1204976" y="0"/>
                    <a:pt x="1552448" y="347472"/>
                    <a:pt x="1552448" y="776224"/>
                  </a:cubicBezTo>
                  <a:cubicBezTo>
                    <a:pt x="1552448" y="1204976"/>
                    <a:pt x="1204976" y="1552448"/>
                    <a:pt x="776224" y="1552448"/>
                  </a:cubicBezTo>
                  <a:cubicBezTo>
                    <a:pt x="347472" y="1552448"/>
                    <a:pt x="0" y="1204976"/>
                    <a:pt x="0" y="776224"/>
                  </a:cubicBezTo>
                  <a:close/>
                </a:path>
              </a:pathLst>
            </a:custGeom>
            <a:solidFill>
              <a:srgbClr val="7C3AED">
                <a:alpha val="3137"/>
              </a:srgbClr>
            </a:solidFill>
            <a:ln w="3048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99309" y="2523744"/>
            <a:ext cx="1133856" cy="804672"/>
            <a:chOff x="0" y="0"/>
            <a:chExt cx="1511808" cy="10728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11808" cy="1072896"/>
            </a:xfrm>
            <a:custGeom>
              <a:avLst/>
              <a:gdLst/>
              <a:ahLst/>
              <a:cxnLst/>
              <a:rect r="r" b="b" t="t" l="l"/>
              <a:pathLst>
                <a:path h="1072896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054" t="0" r="-41054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511808" cy="1139571"/>
            </a:xfrm>
            <a:prstGeom prst="roundRect">
              <a:avLst>
                <a:gd name="adj" fmla="val 13162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🚗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857251" y="2184397"/>
            <a:ext cx="422653" cy="422653"/>
            <a:chOff x="0" y="0"/>
            <a:chExt cx="563537" cy="56353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63499" cy="563499"/>
            </a:xfrm>
            <a:custGeom>
              <a:avLst/>
              <a:gdLst/>
              <a:ahLst/>
              <a:cxnLst/>
              <a:rect r="r" b="b" t="t" l="l"/>
              <a:pathLst>
                <a:path h="563499" w="563499">
                  <a:moveTo>
                    <a:pt x="0" y="281813"/>
                  </a:moveTo>
                  <a:cubicBezTo>
                    <a:pt x="0" y="126111"/>
                    <a:pt x="126111" y="0"/>
                    <a:pt x="281813" y="0"/>
                  </a:cubicBezTo>
                  <a:cubicBezTo>
                    <a:pt x="437515" y="0"/>
                    <a:pt x="563499" y="126111"/>
                    <a:pt x="563499" y="281813"/>
                  </a:cubicBezTo>
                  <a:cubicBezTo>
                    <a:pt x="563499" y="437515"/>
                    <a:pt x="437388" y="563499"/>
                    <a:pt x="281813" y="563499"/>
                  </a:cubicBezTo>
                  <a:cubicBezTo>
                    <a:pt x="126238" y="563499"/>
                    <a:pt x="0" y="437388"/>
                    <a:pt x="0" y="281813"/>
                  </a:cubicBezTo>
                  <a:close/>
                </a:path>
              </a:pathLst>
            </a:custGeom>
            <a:solidFill>
              <a:srgbClr val="F7F9FC"/>
            </a:solidFill>
            <a:ln w="2032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867405" y="2194560"/>
            <a:ext cx="402336" cy="402336"/>
            <a:chOff x="0" y="0"/>
            <a:chExt cx="536448" cy="5364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536448" cy="565023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17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79853" y="3657600"/>
            <a:ext cx="1572768" cy="1005840"/>
            <a:chOff x="0" y="0"/>
            <a:chExt cx="2097024" cy="1341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97024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2054" t="0" r="-32054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2097024" cy="1369695"/>
            </a:xfrm>
            <a:prstGeom prst="roundRect">
              <a:avLst>
                <a:gd name="adj" fmla="val 10951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3A425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Vehicle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3A425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Selection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293620" y="2895095"/>
            <a:ext cx="541525" cy="98555"/>
            <a:chOff x="0" y="0"/>
            <a:chExt cx="722033" cy="13140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21995" cy="131445"/>
            </a:xfrm>
            <a:custGeom>
              <a:avLst/>
              <a:gdLst/>
              <a:ahLst/>
              <a:cxnLst/>
              <a:rect r="r" b="b" t="t" l="l"/>
              <a:pathLst>
                <a:path h="131445" w="721995">
                  <a:moveTo>
                    <a:pt x="0" y="0"/>
                  </a:moveTo>
                  <a:lnTo>
                    <a:pt x="721995" y="0"/>
                  </a:lnTo>
                  <a:lnTo>
                    <a:pt x="721995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7C3AED">
                <a:alpha val="24706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2953512" y="2362200"/>
            <a:ext cx="1164336" cy="1164336"/>
            <a:chOff x="0" y="0"/>
            <a:chExt cx="1552448" cy="155244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52448" cy="1552448"/>
            </a:xfrm>
            <a:custGeom>
              <a:avLst/>
              <a:gdLst/>
              <a:ahLst/>
              <a:cxnLst/>
              <a:rect r="r" b="b" t="t" l="l"/>
              <a:pathLst>
                <a:path h="1552448" w="1552448">
                  <a:moveTo>
                    <a:pt x="0" y="776224"/>
                  </a:moveTo>
                  <a:cubicBezTo>
                    <a:pt x="0" y="347472"/>
                    <a:pt x="347472" y="0"/>
                    <a:pt x="776224" y="0"/>
                  </a:cubicBezTo>
                  <a:cubicBezTo>
                    <a:pt x="1204976" y="0"/>
                    <a:pt x="1552448" y="347472"/>
                    <a:pt x="1552448" y="776224"/>
                  </a:cubicBezTo>
                  <a:cubicBezTo>
                    <a:pt x="1552448" y="1204976"/>
                    <a:pt x="1204976" y="1552448"/>
                    <a:pt x="776224" y="1552448"/>
                  </a:cubicBezTo>
                  <a:cubicBezTo>
                    <a:pt x="347472" y="1552448"/>
                    <a:pt x="0" y="1204976"/>
                    <a:pt x="0" y="776224"/>
                  </a:cubicBezTo>
                  <a:close/>
                </a:path>
              </a:pathLst>
            </a:custGeom>
            <a:solidFill>
              <a:srgbClr val="7C3AED">
                <a:alpha val="3137"/>
              </a:srgbClr>
            </a:solidFill>
            <a:ln w="3048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2968752" y="2523744"/>
            <a:ext cx="1133856" cy="804672"/>
            <a:chOff x="0" y="0"/>
            <a:chExt cx="1511808" cy="107289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11808" cy="1072896"/>
            </a:xfrm>
            <a:custGeom>
              <a:avLst/>
              <a:gdLst/>
              <a:ahLst/>
              <a:cxnLst/>
              <a:rect r="r" b="b" t="t" l="l"/>
              <a:pathLst>
                <a:path h="1072896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054" t="0" r="-41054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1511808" cy="1139571"/>
            </a:xfrm>
            <a:prstGeom prst="roundRect">
              <a:avLst>
                <a:gd name="adj" fmla="val 13162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📅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726685" y="2184397"/>
            <a:ext cx="422653" cy="422653"/>
            <a:chOff x="0" y="0"/>
            <a:chExt cx="563537" cy="56353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63499" cy="563499"/>
            </a:xfrm>
            <a:custGeom>
              <a:avLst/>
              <a:gdLst/>
              <a:ahLst/>
              <a:cxnLst/>
              <a:rect r="r" b="b" t="t" l="l"/>
              <a:pathLst>
                <a:path h="563499" w="563499">
                  <a:moveTo>
                    <a:pt x="0" y="281813"/>
                  </a:moveTo>
                  <a:cubicBezTo>
                    <a:pt x="0" y="126111"/>
                    <a:pt x="126111" y="0"/>
                    <a:pt x="281813" y="0"/>
                  </a:cubicBezTo>
                  <a:cubicBezTo>
                    <a:pt x="437515" y="0"/>
                    <a:pt x="563499" y="126111"/>
                    <a:pt x="563499" y="281813"/>
                  </a:cubicBezTo>
                  <a:cubicBezTo>
                    <a:pt x="563499" y="437515"/>
                    <a:pt x="437388" y="563499"/>
                    <a:pt x="281813" y="563499"/>
                  </a:cubicBezTo>
                  <a:cubicBezTo>
                    <a:pt x="126238" y="563499"/>
                    <a:pt x="0" y="437388"/>
                    <a:pt x="0" y="281813"/>
                  </a:cubicBezTo>
                  <a:close/>
                </a:path>
              </a:pathLst>
            </a:custGeom>
            <a:solidFill>
              <a:srgbClr val="F7F9FC"/>
            </a:solidFill>
            <a:ln w="2032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3736848" y="2194560"/>
            <a:ext cx="402336" cy="402336"/>
            <a:chOff x="0" y="0"/>
            <a:chExt cx="536448" cy="53644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536448" cy="565023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17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749296" y="3657600"/>
            <a:ext cx="1572768" cy="1005840"/>
            <a:chOff x="0" y="0"/>
            <a:chExt cx="2097024" cy="13411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97024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2054" t="0" r="-32054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2097024" cy="1369695"/>
            </a:xfrm>
            <a:prstGeom prst="roundRect">
              <a:avLst>
                <a:gd name="adj" fmla="val 10951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3A425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Trip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3A425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Details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163063" y="2895095"/>
            <a:ext cx="541525" cy="98555"/>
            <a:chOff x="0" y="0"/>
            <a:chExt cx="722033" cy="13140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21995" cy="131445"/>
            </a:xfrm>
            <a:custGeom>
              <a:avLst/>
              <a:gdLst/>
              <a:ahLst/>
              <a:cxnLst/>
              <a:rect r="r" b="b" t="t" l="l"/>
              <a:pathLst>
                <a:path h="131445" w="721995">
                  <a:moveTo>
                    <a:pt x="0" y="0"/>
                  </a:moveTo>
                  <a:lnTo>
                    <a:pt x="721995" y="0"/>
                  </a:lnTo>
                  <a:lnTo>
                    <a:pt x="721995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7C3AED">
                <a:alpha val="24706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4822955" y="2362200"/>
            <a:ext cx="1164336" cy="1164336"/>
            <a:chOff x="0" y="0"/>
            <a:chExt cx="1552448" cy="155244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552448" cy="1552448"/>
            </a:xfrm>
            <a:custGeom>
              <a:avLst/>
              <a:gdLst/>
              <a:ahLst/>
              <a:cxnLst/>
              <a:rect r="r" b="b" t="t" l="l"/>
              <a:pathLst>
                <a:path h="1552448" w="1552448">
                  <a:moveTo>
                    <a:pt x="0" y="776224"/>
                  </a:moveTo>
                  <a:cubicBezTo>
                    <a:pt x="0" y="347472"/>
                    <a:pt x="347472" y="0"/>
                    <a:pt x="776224" y="0"/>
                  </a:cubicBezTo>
                  <a:cubicBezTo>
                    <a:pt x="1204976" y="0"/>
                    <a:pt x="1552448" y="347472"/>
                    <a:pt x="1552448" y="776224"/>
                  </a:cubicBezTo>
                  <a:cubicBezTo>
                    <a:pt x="1552448" y="1204976"/>
                    <a:pt x="1204976" y="1552448"/>
                    <a:pt x="776224" y="1552448"/>
                  </a:cubicBezTo>
                  <a:cubicBezTo>
                    <a:pt x="347472" y="1552448"/>
                    <a:pt x="0" y="1204976"/>
                    <a:pt x="0" y="776224"/>
                  </a:cubicBezTo>
                  <a:close/>
                </a:path>
              </a:pathLst>
            </a:custGeom>
            <a:solidFill>
              <a:srgbClr val="0D9488">
                <a:alpha val="3137"/>
              </a:srgbClr>
            </a:solidFill>
            <a:ln w="3048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4838195" y="2523744"/>
            <a:ext cx="1133856" cy="804672"/>
            <a:chOff x="0" y="0"/>
            <a:chExt cx="1511808" cy="107289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511808" cy="1072896"/>
            </a:xfrm>
            <a:custGeom>
              <a:avLst/>
              <a:gdLst/>
              <a:ahLst/>
              <a:cxnLst/>
              <a:rect r="r" b="b" t="t" l="l"/>
              <a:pathLst>
                <a:path h="1072896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054" t="0" r="-41054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66675"/>
              <a:ext cx="1511808" cy="1139571"/>
            </a:xfrm>
            <a:prstGeom prst="roundRect">
              <a:avLst>
                <a:gd name="adj" fmla="val 13162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👤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596128" y="2184397"/>
            <a:ext cx="422653" cy="422653"/>
            <a:chOff x="0" y="0"/>
            <a:chExt cx="563537" cy="56353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63499" cy="563499"/>
            </a:xfrm>
            <a:custGeom>
              <a:avLst/>
              <a:gdLst/>
              <a:ahLst/>
              <a:cxnLst/>
              <a:rect r="r" b="b" t="t" l="l"/>
              <a:pathLst>
                <a:path h="563499" w="563499">
                  <a:moveTo>
                    <a:pt x="0" y="281813"/>
                  </a:moveTo>
                  <a:cubicBezTo>
                    <a:pt x="0" y="126111"/>
                    <a:pt x="126111" y="0"/>
                    <a:pt x="281813" y="0"/>
                  </a:cubicBezTo>
                  <a:cubicBezTo>
                    <a:pt x="437515" y="0"/>
                    <a:pt x="563499" y="126111"/>
                    <a:pt x="563499" y="281813"/>
                  </a:cubicBezTo>
                  <a:cubicBezTo>
                    <a:pt x="563499" y="437515"/>
                    <a:pt x="437388" y="563499"/>
                    <a:pt x="281813" y="563499"/>
                  </a:cubicBezTo>
                  <a:cubicBezTo>
                    <a:pt x="126238" y="563499"/>
                    <a:pt x="0" y="437388"/>
                    <a:pt x="0" y="281813"/>
                  </a:cubicBezTo>
                  <a:close/>
                </a:path>
              </a:pathLst>
            </a:custGeom>
            <a:solidFill>
              <a:srgbClr val="F7F9FC"/>
            </a:solidFill>
            <a:ln w="2032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5606291" y="2194560"/>
            <a:ext cx="402336" cy="402336"/>
            <a:chOff x="0" y="0"/>
            <a:chExt cx="536448" cy="53644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536448" cy="565023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17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4618739" y="3657600"/>
            <a:ext cx="1572768" cy="1005840"/>
            <a:chOff x="0" y="0"/>
            <a:chExt cx="2097024" cy="13411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97024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2054" t="0" r="-32054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2097024" cy="1369695"/>
            </a:xfrm>
            <a:prstGeom prst="roundRect">
              <a:avLst>
                <a:gd name="adj" fmla="val 10951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3A425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032497" y="2895095"/>
            <a:ext cx="541525" cy="98555"/>
            <a:chOff x="0" y="0"/>
            <a:chExt cx="722033" cy="13140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21995" cy="131445"/>
            </a:xfrm>
            <a:custGeom>
              <a:avLst/>
              <a:gdLst/>
              <a:ahLst/>
              <a:cxnLst/>
              <a:rect r="r" b="b" t="t" l="l"/>
              <a:pathLst>
                <a:path h="131445" w="721995">
                  <a:moveTo>
                    <a:pt x="0" y="0"/>
                  </a:moveTo>
                  <a:lnTo>
                    <a:pt x="721995" y="0"/>
                  </a:lnTo>
                  <a:lnTo>
                    <a:pt x="721995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0D9488">
                <a:alpha val="24706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6692389" y="2362200"/>
            <a:ext cx="1164336" cy="1164336"/>
            <a:chOff x="0" y="0"/>
            <a:chExt cx="1552448" cy="155244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552448" cy="1552448"/>
            </a:xfrm>
            <a:custGeom>
              <a:avLst/>
              <a:gdLst/>
              <a:ahLst/>
              <a:cxnLst/>
              <a:rect r="r" b="b" t="t" l="l"/>
              <a:pathLst>
                <a:path h="1552448" w="1552448">
                  <a:moveTo>
                    <a:pt x="0" y="776224"/>
                  </a:moveTo>
                  <a:cubicBezTo>
                    <a:pt x="0" y="347472"/>
                    <a:pt x="347472" y="0"/>
                    <a:pt x="776224" y="0"/>
                  </a:cubicBezTo>
                  <a:cubicBezTo>
                    <a:pt x="1204976" y="0"/>
                    <a:pt x="1552448" y="347472"/>
                    <a:pt x="1552448" y="776224"/>
                  </a:cubicBezTo>
                  <a:cubicBezTo>
                    <a:pt x="1552448" y="1204976"/>
                    <a:pt x="1204976" y="1552448"/>
                    <a:pt x="776224" y="1552448"/>
                  </a:cubicBezTo>
                  <a:cubicBezTo>
                    <a:pt x="347472" y="1552448"/>
                    <a:pt x="0" y="1204976"/>
                    <a:pt x="0" y="776224"/>
                  </a:cubicBezTo>
                  <a:close/>
                </a:path>
              </a:pathLst>
            </a:custGeom>
            <a:solidFill>
              <a:srgbClr val="0D9488">
                <a:alpha val="3137"/>
              </a:srgbClr>
            </a:solidFill>
            <a:ln w="3048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6707629" y="2523744"/>
            <a:ext cx="1133856" cy="804672"/>
            <a:chOff x="0" y="0"/>
            <a:chExt cx="1511808" cy="107289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11808" cy="1072896"/>
            </a:xfrm>
            <a:custGeom>
              <a:avLst/>
              <a:gdLst/>
              <a:ahLst/>
              <a:cxnLst/>
              <a:rect r="r" b="b" t="t" l="l"/>
              <a:pathLst>
                <a:path h="1072896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054" t="0" r="-41054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66675"/>
              <a:ext cx="1511808" cy="1139571"/>
            </a:xfrm>
            <a:prstGeom prst="roundRect">
              <a:avLst>
                <a:gd name="adj" fmla="val 13162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📄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7465571" y="2184397"/>
            <a:ext cx="422653" cy="422653"/>
            <a:chOff x="0" y="0"/>
            <a:chExt cx="563537" cy="56353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63499" cy="563499"/>
            </a:xfrm>
            <a:custGeom>
              <a:avLst/>
              <a:gdLst/>
              <a:ahLst/>
              <a:cxnLst/>
              <a:rect r="r" b="b" t="t" l="l"/>
              <a:pathLst>
                <a:path h="563499" w="563499">
                  <a:moveTo>
                    <a:pt x="0" y="281813"/>
                  </a:moveTo>
                  <a:cubicBezTo>
                    <a:pt x="0" y="126111"/>
                    <a:pt x="126111" y="0"/>
                    <a:pt x="281813" y="0"/>
                  </a:cubicBezTo>
                  <a:cubicBezTo>
                    <a:pt x="437515" y="0"/>
                    <a:pt x="563499" y="126111"/>
                    <a:pt x="563499" y="281813"/>
                  </a:cubicBezTo>
                  <a:cubicBezTo>
                    <a:pt x="563499" y="437515"/>
                    <a:pt x="437388" y="563499"/>
                    <a:pt x="281813" y="563499"/>
                  </a:cubicBezTo>
                  <a:cubicBezTo>
                    <a:pt x="126238" y="563499"/>
                    <a:pt x="0" y="437388"/>
                    <a:pt x="0" y="281813"/>
                  </a:cubicBezTo>
                  <a:close/>
                </a:path>
              </a:pathLst>
            </a:custGeom>
            <a:solidFill>
              <a:srgbClr val="F7F9FC"/>
            </a:solidFill>
            <a:ln w="2032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7475725" y="2194560"/>
            <a:ext cx="402336" cy="402336"/>
            <a:chOff x="0" y="0"/>
            <a:chExt cx="536448" cy="53644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536448" cy="565023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17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488173" y="3657600"/>
            <a:ext cx="1572768" cy="1005840"/>
            <a:chOff x="0" y="0"/>
            <a:chExt cx="2097024" cy="13411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097024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2054" t="0" r="-32054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2097024" cy="1369695"/>
            </a:xfrm>
            <a:prstGeom prst="roundRect">
              <a:avLst>
                <a:gd name="adj" fmla="val 10951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3A425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Quotation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7901940" y="2895095"/>
            <a:ext cx="541525" cy="98555"/>
            <a:chOff x="0" y="0"/>
            <a:chExt cx="722033" cy="13140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21995" cy="131445"/>
            </a:xfrm>
            <a:custGeom>
              <a:avLst/>
              <a:gdLst/>
              <a:ahLst/>
              <a:cxnLst/>
              <a:rect r="r" b="b" t="t" l="l"/>
              <a:pathLst>
                <a:path h="131445" w="721995">
                  <a:moveTo>
                    <a:pt x="0" y="0"/>
                  </a:moveTo>
                  <a:lnTo>
                    <a:pt x="721995" y="0"/>
                  </a:lnTo>
                  <a:lnTo>
                    <a:pt x="721995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0D9488">
                <a:alpha val="24706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8561832" y="2362200"/>
            <a:ext cx="1164336" cy="1164336"/>
            <a:chOff x="0" y="0"/>
            <a:chExt cx="1552448" cy="155244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552448" cy="1552448"/>
            </a:xfrm>
            <a:custGeom>
              <a:avLst/>
              <a:gdLst/>
              <a:ahLst/>
              <a:cxnLst/>
              <a:rect r="r" b="b" t="t" l="l"/>
              <a:pathLst>
                <a:path h="1552448" w="1552448">
                  <a:moveTo>
                    <a:pt x="0" y="776224"/>
                  </a:moveTo>
                  <a:cubicBezTo>
                    <a:pt x="0" y="347472"/>
                    <a:pt x="347472" y="0"/>
                    <a:pt x="776224" y="0"/>
                  </a:cubicBezTo>
                  <a:cubicBezTo>
                    <a:pt x="1204976" y="0"/>
                    <a:pt x="1552448" y="347472"/>
                    <a:pt x="1552448" y="776224"/>
                  </a:cubicBezTo>
                  <a:cubicBezTo>
                    <a:pt x="1552448" y="1204976"/>
                    <a:pt x="1204976" y="1552448"/>
                    <a:pt x="776224" y="1552448"/>
                  </a:cubicBezTo>
                  <a:cubicBezTo>
                    <a:pt x="347472" y="1552448"/>
                    <a:pt x="0" y="1204976"/>
                    <a:pt x="0" y="776224"/>
                  </a:cubicBezTo>
                  <a:close/>
                </a:path>
              </a:pathLst>
            </a:custGeom>
            <a:solidFill>
              <a:srgbClr val="D97706">
                <a:alpha val="3137"/>
              </a:srgbClr>
            </a:solidFill>
            <a:ln w="3048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8577072" y="2523744"/>
            <a:ext cx="1133856" cy="804672"/>
            <a:chOff x="0" y="0"/>
            <a:chExt cx="1511808" cy="107289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511808" cy="1072896"/>
            </a:xfrm>
            <a:custGeom>
              <a:avLst/>
              <a:gdLst/>
              <a:ahLst/>
              <a:cxnLst/>
              <a:rect r="r" b="b" t="t" l="l"/>
              <a:pathLst>
                <a:path h="1072896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054" t="0" r="-41054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66675"/>
              <a:ext cx="1511808" cy="1139571"/>
            </a:xfrm>
            <a:prstGeom prst="roundRect">
              <a:avLst>
                <a:gd name="adj" fmla="val 13162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💵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335005" y="2184397"/>
            <a:ext cx="422653" cy="422653"/>
            <a:chOff x="0" y="0"/>
            <a:chExt cx="563537" cy="563537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63499" cy="563499"/>
            </a:xfrm>
            <a:custGeom>
              <a:avLst/>
              <a:gdLst/>
              <a:ahLst/>
              <a:cxnLst/>
              <a:rect r="r" b="b" t="t" l="l"/>
              <a:pathLst>
                <a:path h="563499" w="563499">
                  <a:moveTo>
                    <a:pt x="0" y="281813"/>
                  </a:moveTo>
                  <a:cubicBezTo>
                    <a:pt x="0" y="126111"/>
                    <a:pt x="126111" y="0"/>
                    <a:pt x="281813" y="0"/>
                  </a:cubicBezTo>
                  <a:cubicBezTo>
                    <a:pt x="437515" y="0"/>
                    <a:pt x="563499" y="126111"/>
                    <a:pt x="563499" y="281813"/>
                  </a:cubicBezTo>
                  <a:cubicBezTo>
                    <a:pt x="563499" y="437515"/>
                    <a:pt x="437388" y="563499"/>
                    <a:pt x="281813" y="563499"/>
                  </a:cubicBezTo>
                  <a:cubicBezTo>
                    <a:pt x="126238" y="563499"/>
                    <a:pt x="0" y="437388"/>
                    <a:pt x="0" y="281813"/>
                  </a:cubicBezTo>
                  <a:close/>
                </a:path>
              </a:pathLst>
            </a:custGeom>
            <a:solidFill>
              <a:srgbClr val="F7F9FC"/>
            </a:solidFill>
            <a:ln w="2032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9345168" y="2194560"/>
            <a:ext cx="402336" cy="402336"/>
            <a:chOff x="0" y="0"/>
            <a:chExt cx="536448" cy="53644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536448" cy="565023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17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8357616" y="3657600"/>
            <a:ext cx="1572768" cy="1005840"/>
            <a:chOff x="0" y="0"/>
            <a:chExt cx="2097024" cy="13411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097024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2054" t="0" r="-32054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2097024" cy="1369695"/>
            </a:xfrm>
            <a:prstGeom prst="roundRect">
              <a:avLst>
                <a:gd name="adj" fmla="val 10951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3A425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Cash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3A425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Advance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771383" y="2895095"/>
            <a:ext cx="541525" cy="98555"/>
            <a:chOff x="0" y="0"/>
            <a:chExt cx="722033" cy="131407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21995" cy="131445"/>
            </a:xfrm>
            <a:custGeom>
              <a:avLst/>
              <a:gdLst/>
              <a:ahLst/>
              <a:cxnLst/>
              <a:rect r="r" b="b" t="t" l="l"/>
              <a:pathLst>
                <a:path h="131445" w="721995">
                  <a:moveTo>
                    <a:pt x="0" y="0"/>
                  </a:moveTo>
                  <a:lnTo>
                    <a:pt x="721995" y="0"/>
                  </a:lnTo>
                  <a:lnTo>
                    <a:pt x="721995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D97706">
                <a:alpha val="24706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0431275" y="2362200"/>
            <a:ext cx="1164336" cy="1164336"/>
            <a:chOff x="0" y="0"/>
            <a:chExt cx="1552448" cy="155244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552448" cy="1552448"/>
            </a:xfrm>
            <a:custGeom>
              <a:avLst/>
              <a:gdLst/>
              <a:ahLst/>
              <a:cxnLst/>
              <a:rect r="r" b="b" t="t" l="l"/>
              <a:pathLst>
                <a:path h="1552448" w="1552448">
                  <a:moveTo>
                    <a:pt x="0" y="776224"/>
                  </a:moveTo>
                  <a:cubicBezTo>
                    <a:pt x="0" y="347472"/>
                    <a:pt x="347472" y="0"/>
                    <a:pt x="776224" y="0"/>
                  </a:cubicBezTo>
                  <a:cubicBezTo>
                    <a:pt x="1204976" y="0"/>
                    <a:pt x="1552448" y="347472"/>
                    <a:pt x="1552448" y="776224"/>
                  </a:cubicBezTo>
                  <a:cubicBezTo>
                    <a:pt x="1552448" y="1204976"/>
                    <a:pt x="1204976" y="1552448"/>
                    <a:pt x="776224" y="1552448"/>
                  </a:cubicBezTo>
                  <a:cubicBezTo>
                    <a:pt x="347472" y="1552448"/>
                    <a:pt x="0" y="1204976"/>
                    <a:pt x="0" y="776224"/>
                  </a:cubicBezTo>
                  <a:close/>
                </a:path>
              </a:pathLst>
            </a:custGeom>
            <a:solidFill>
              <a:srgbClr val="D97706">
                <a:alpha val="3137"/>
              </a:srgbClr>
            </a:solidFill>
            <a:ln w="3048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10446515" y="2523744"/>
            <a:ext cx="1133856" cy="804672"/>
            <a:chOff x="0" y="0"/>
            <a:chExt cx="1511808" cy="107289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511808" cy="1072896"/>
            </a:xfrm>
            <a:custGeom>
              <a:avLst/>
              <a:gdLst/>
              <a:ahLst/>
              <a:cxnLst/>
              <a:rect r="r" b="b" t="t" l="l"/>
              <a:pathLst>
                <a:path h="1072896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054" t="0" r="-41054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66675"/>
              <a:ext cx="1511808" cy="1139571"/>
            </a:xfrm>
            <a:prstGeom prst="roundRect">
              <a:avLst>
                <a:gd name="adj" fmla="val 13162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📤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1204448" y="2184397"/>
            <a:ext cx="422653" cy="422653"/>
            <a:chOff x="0" y="0"/>
            <a:chExt cx="563537" cy="563537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63499" cy="563499"/>
            </a:xfrm>
            <a:custGeom>
              <a:avLst/>
              <a:gdLst/>
              <a:ahLst/>
              <a:cxnLst/>
              <a:rect r="r" b="b" t="t" l="l"/>
              <a:pathLst>
                <a:path h="563499" w="563499">
                  <a:moveTo>
                    <a:pt x="0" y="281813"/>
                  </a:moveTo>
                  <a:cubicBezTo>
                    <a:pt x="0" y="126111"/>
                    <a:pt x="126111" y="0"/>
                    <a:pt x="281813" y="0"/>
                  </a:cubicBezTo>
                  <a:cubicBezTo>
                    <a:pt x="437515" y="0"/>
                    <a:pt x="563499" y="126111"/>
                    <a:pt x="563499" y="281813"/>
                  </a:cubicBezTo>
                  <a:cubicBezTo>
                    <a:pt x="563499" y="437515"/>
                    <a:pt x="437388" y="563499"/>
                    <a:pt x="281813" y="563499"/>
                  </a:cubicBezTo>
                  <a:cubicBezTo>
                    <a:pt x="126238" y="563499"/>
                    <a:pt x="0" y="437388"/>
                    <a:pt x="0" y="281813"/>
                  </a:cubicBezTo>
                  <a:close/>
                </a:path>
              </a:pathLst>
            </a:custGeom>
            <a:solidFill>
              <a:srgbClr val="F7F9FC"/>
            </a:solidFill>
            <a:ln w="2032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1214611" y="2194560"/>
            <a:ext cx="402336" cy="402336"/>
            <a:chOff x="0" y="0"/>
            <a:chExt cx="536448" cy="53644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28575"/>
              <a:ext cx="536448" cy="565023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17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227059" y="3657600"/>
            <a:ext cx="1572768" cy="1005840"/>
            <a:chOff x="0" y="0"/>
            <a:chExt cx="2097024" cy="134112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097024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2054" t="0" r="-32054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2097024" cy="1369695"/>
            </a:xfrm>
            <a:prstGeom prst="roundRect">
              <a:avLst>
                <a:gd name="adj" fmla="val 10951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3A425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Submit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1640817" y="2895095"/>
            <a:ext cx="541525" cy="98555"/>
            <a:chOff x="0" y="0"/>
            <a:chExt cx="722033" cy="131407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721995" cy="131445"/>
            </a:xfrm>
            <a:custGeom>
              <a:avLst/>
              <a:gdLst/>
              <a:ahLst/>
              <a:cxnLst/>
              <a:rect r="r" b="b" t="t" l="l"/>
              <a:pathLst>
                <a:path h="131445" w="721995">
                  <a:moveTo>
                    <a:pt x="0" y="0"/>
                  </a:moveTo>
                  <a:lnTo>
                    <a:pt x="721995" y="0"/>
                  </a:lnTo>
                  <a:lnTo>
                    <a:pt x="721995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D97706">
                <a:alpha val="24706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12300709" y="2362200"/>
            <a:ext cx="1164336" cy="1164336"/>
            <a:chOff x="0" y="0"/>
            <a:chExt cx="1552448" cy="155244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552448" cy="1552448"/>
            </a:xfrm>
            <a:custGeom>
              <a:avLst/>
              <a:gdLst/>
              <a:ahLst/>
              <a:cxnLst/>
              <a:rect r="r" b="b" t="t" l="l"/>
              <a:pathLst>
                <a:path h="1552448" w="1552448">
                  <a:moveTo>
                    <a:pt x="0" y="776224"/>
                  </a:moveTo>
                  <a:cubicBezTo>
                    <a:pt x="0" y="347472"/>
                    <a:pt x="347472" y="0"/>
                    <a:pt x="776224" y="0"/>
                  </a:cubicBezTo>
                  <a:cubicBezTo>
                    <a:pt x="1204976" y="0"/>
                    <a:pt x="1552448" y="347472"/>
                    <a:pt x="1552448" y="776224"/>
                  </a:cubicBezTo>
                  <a:cubicBezTo>
                    <a:pt x="1552448" y="1204976"/>
                    <a:pt x="1204976" y="1552448"/>
                    <a:pt x="776224" y="1552448"/>
                  </a:cubicBezTo>
                  <a:cubicBezTo>
                    <a:pt x="347472" y="1552448"/>
                    <a:pt x="0" y="1204976"/>
                    <a:pt x="0" y="776224"/>
                  </a:cubicBezTo>
                  <a:close/>
                </a:path>
              </a:pathLst>
            </a:custGeom>
            <a:solidFill>
              <a:srgbClr val="2563EB">
                <a:alpha val="3137"/>
              </a:srgbClr>
            </a:solidFill>
            <a:ln w="3048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102" id="102"/>
          <p:cNvGrpSpPr/>
          <p:nvPr/>
        </p:nvGrpSpPr>
        <p:grpSpPr>
          <a:xfrm rot="0">
            <a:off x="12315949" y="2523744"/>
            <a:ext cx="1133856" cy="804672"/>
            <a:chOff x="0" y="0"/>
            <a:chExt cx="1511808" cy="1072896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511808" cy="1072896"/>
            </a:xfrm>
            <a:custGeom>
              <a:avLst/>
              <a:gdLst/>
              <a:ahLst/>
              <a:cxnLst/>
              <a:rect r="r" b="b" t="t" l="l"/>
              <a:pathLst>
                <a:path h="1072896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054" t="0" r="-41054" b="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66675"/>
              <a:ext cx="1511808" cy="1139571"/>
            </a:xfrm>
            <a:prstGeom prst="roundRect">
              <a:avLst>
                <a:gd name="adj" fmla="val 13162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3073891" y="2184397"/>
            <a:ext cx="422653" cy="422653"/>
            <a:chOff x="0" y="0"/>
            <a:chExt cx="563537" cy="563537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63499" cy="563499"/>
            </a:xfrm>
            <a:custGeom>
              <a:avLst/>
              <a:gdLst/>
              <a:ahLst/>
              <a:cxnLst/>
              <a:rect r="r" b="b" t="t" l="l"/>
              <a:pathLst>
                <a:path h="563499" w="563499">
                  <a:moveTo>
                    <a:pt x="0" y="281813"/>
                  </a:moveTo>
                  <a:cubicBezTo>
                    <a:pt x="0" y="126111"/>
                    <a:pt x="126111" y="0"/>
                    <a:pt x="281813" y="0"/>
                  </a:cubicBezTo>
                  <a:cubicBezTo>
                    <a:pt x="437515" y="0"/>
                    <a:pt x="563499" y="126111"/>
                    <a:pt x="563499" y="281813"/>
                  </a:cubicBezTo>
                  <a:cubicBezTo>
                    <a:pt x="563499" y="437515"/>
                    <a:pt x="437388" y="563499"/>
                    <a:pt x="281813" y="563499"/>
                  </a:cubicBezTo>
                  <a:cubicBezTo>
                    <a:pt x="126238" y="563499"/>
                    <a:pt x="0" y="437388"/>
                    <a:pt x="0" y="281813"/>
                  </a:cubicBezTo>
                  <a:close/>
                </a:path>
              </a:pathLst>
            </a:custGeom>
            <a:solidFill>
              <a:srgbClr val="F7F9FC"/>
            </a:solidFill>
            <a:ln w="2032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107" id="107"/>
          <p:cNvGrpSpPr/>
          <p:nvPr/>
        </p:nvGrpSpPr>
        <p:grpSpPr>
          <a:xfrm rot="0">
            <a:off x="13084045" y="2194560"/>
            <a:ext cx="402336" cy="402336"/>
            <a:chOff x="0" y="0"/>
            <a:chExt cx="536448" cy="536448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28575"/>
              <a:ext cx="536448" cy="565023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17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2096493" y="3657600"/>
            <a:ext cx="1572768" cy="1005840"/>
            <a:chOff x="0" y="0"/>
            <a:chExt cx="2097024" cy="134112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097024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2054" t="0" r="-32054" b="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28575"/>
              <a:ext cx="2097024" cy="1369695"/>
            </a:xfrm>
            <a:prstGeom prst="roundRect">
              <a:avLst>
                <a:gd name="adj" fmla="val 10951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3A425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Admin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3A425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Approval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3510260" y="2895095"/>
            <a:ext cx="541525" cy="98555"/>
            <a:chOff x="0" y="0"/>
            <a:chExt cx="722033" cy="131407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721995" cy="131445"/>
            </a:xfrm>
            <a:custGeom>
              <a:avLst/>
              <a:gdLst/>
              <a:ahLst/>
              <a:cxnLst/>
              <a:rect r="r" b="b" t="t" l="l"/>
              <a:pathLst>
                <a:path h="131445" w="721995">
                  <a:moveTo>
                    <a:pt x="0" y="0"/>
                  </a:moveTo>
                  <a:lnTo>
                    <a:pt x="721995" y="0"/>
                  </a:lnTo>
                  <a:lnTo>
                    <a:pt x="721995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2563EB">
                <a:alpha val="24706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14170152" y="2362200"/>
            <a:ext cx="1164336" cy="1164336"/>
            <a:chOff x="0" y="0"/>
            <a:chExt cx="1552448" cy="1552448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552448" cy="1552448"/>
            </a:xfrm>
            <a:custGeom>
              <a:avLst/>
              <a:gdLst/>
              <a:ahLst/>
              <a:cxnLst/>
              <a:rect r="r" b="b" t="t" l="l"/>
              <a:pathLst>
                <a:path h="1552448" w="1552448">
                  <a:moveTo>
                    <a:pt x="0" y="776224"/>
                  </a:moveTo>
                  <a:cubicBezTo>
                    <a:pt x="0" y="347472"/>
                    <a:pt x="347472" y="0"/>
                    <a:pt x="776224" y="0"/>
                  </a:cubicBezTo>
                  <a:cubicBezTo>
                    <a:pt x="1204976" y="0"/>
                    <a:pt x="1552448" y="347472"/>
                    <a:pt x="1552448" y="776224"/>
                  </a:cubicBezTo>
                  <a:cubicBezTo>
                    <a:pt x="1552448" y="1204976"/>
                    <a:pt x="1204976" y="1552448"/>
                    <a:pt x="776224" y="1552448"/>
                  </a:cubicBezTo>
                  <a:cubicBezTo>
                    <a:pt x="347472" y="1552448"/>
                    <a:pt x="0" y="1204976"/>
                    <a:pt x="0" y="776224"/>
                  </a:cubicBezTo>
                  <a:close/>
                </a:path>
              </a:pathLst>
            </a:custGeom>
            <a:solidFill>
              <a:srgbClr val="DB2777">
                <a:alpha val="3137"/>
              </a:srgbClr>
            </a:solidFill>
            <a:ln w="30480" cap="sq">
              <a:solidFill>
                <a:srgbClr val="DB2777"/>
              </a:solidFill>
              <a:prstDash val="solid"/>
              <a:miter/>
            </a:ln>
          </p:spPr>
        </p:sp>
      </p:grpSp>
      <p:grpSp>
        <p:nvGrpSpPr>
          <p:cNvPr name="Group 117" id="117"/>
          <p:cNvGrpSpPr/>
          <p:nvPr/>
        </p:nvGrpSpPr>
        <p:grpSpPr>
          <a:xfrm rot="0">
            <a:off x="14185392" y="2523744"/>
            <a:ext cx="1133856" cy="804672"/>
            <a:chOff x="0" y="0"/>
            <a:chExt cx="1511808" cy="1072896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511808" cy="1072896"/>
            </a:xfrm>
            <a:custGeom>
              <a:avLst/>
              <a:gdLst/>
              <a:ahLst/>
              <a:cxnLst/>
              <a:rect r="r" b="b" t="t" l="l"/>
              <a:pathLst>
                <a:path h="1072896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054" t="0" r="-41054" b="0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66675"/>
              <a:ext cx="1511808" cy="1139571"/>
            </a:xfrm>
            <a:prstGeom prst="roundRect">
              <a:avLst>
                <a:gd name="adj" fmla="val 13162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💳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4943325" y="2184397"/>
            <a:ext cx="422653" cy="422653"/>
            <a:chOff x="0" y="0"/>
            <a:chExt cx="563537" cy="563537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563499" cy="563499"/>
            </a:xfrm>
            <a:custGeom>
              <a:avLst/>
              <a:gdLst/>
              <a:ahLst/>
              <a:cxnLst/>
              <a:rect r="r" b="b" t="t" l="l"/>
              <a:pathLst>
                <a:path h="563499" w="563499">
                  <a:moveTo>
                    <a:pt x="0" y="281813"/>
                  </a:moveTo>
                  <a:cubicBezTo>
                    <a:pt x="0" y="126111"/>
                    <a:pt x="126111" y="0"/>
                    <a:pt x="281813" y="0"/>
                  </a:cubicBezTo>
                  <a:cubicBezTo>
                    <a:pt x="437515" y="0"/>
                    <a:pt x="563499" y="126111"/>
                    <a:pt x="563499" y="281813"/>
                  </a:cubicBezTo>
                  <a:cubicBezTo>
                    <a:pt x="563499" y="437515"/>
                    <a:pt x="437388" y="563499"/>
                    <a:pt x="281813" y="563499"/>
                  </a:cubicBezTo>
                  <a:cubicBezTo>
                    <a:pt x="126238" y="563499"/>
                    <a:pt x="0" y="437388"/>
                    <a:pt x="0" y="281813"/>
                  </a:cubicBezTo>
                  <a:close/>
                </a:path>
              </a:pathLst>
            </a:custGeom>
            <a:solidFill>
              <a:srgbClr val="F7F9FC"/>
            </a:solidFill>
            <a:ln w="2032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122" id="122"/>
          <p:cNvGrpSpPr/>
          <p:nvPr/>
        </p:nvGrpSpPr>
        <p:grpSpPr>
          <a:xfrm rot="0">
            <a:off x="14953488" y="2194560"/>
            <a:ext cx="402336" cy="402336"/>
            <a:chOff x="0" y="0"/>
            <a:chExt cx="536448" cy="53644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28575"/>
              <a:ext cx="536448" cy="565023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17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3965936" y="3657600"/>
            <a:ext cx="1572768" cy="1005840"/>
            <a:chOff x="0" y="0"/>
            <a:chExt cx="2097024" cy="134112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097024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2054" t="0" r="-32054" b="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28575"/>
              <a:ext cx="2097024" cy="1369695"/>
            </a:xfrm>
            <a:prstGeom prst="roundRect">
              <a:avLst>
                <a:gd name="adj" fmla="val 10951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3A425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Payment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5379703" y="2895095"/>
            <a:ext cx="541525" cy="98555"/>
            <a:chOff x="0" y="0"/>
            <a:chExt cx="722033" cy="131407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721995" cy="131445"/>
            </a:xfrm>
            <a:custGeom>
              <a:avLst/>
              <a:gdLst/>
              <a:ahLst/>
              <a:cxnLst/>
              <a:rect r="r" b="b" t="t" l="l"/>
              <a:pathLst>
                <a:path h="131445" w="721995">
                  <a:moveTo>
                    <a:pt x="0" y="0"/>
                  </a:moveTo>
                  <a:lnTo>
                    <a:pt x="721995" y="0"/>
                  </a:lnTo>
                  <a:lnTo>
                    <a:pt x="721995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DB2777">
                <a:alpha val="24706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130" id="130"/>
          <p:cNvGrpSpPr/>
          <p:nvPr/>
        </p:nvGrpSpPr>
        <p:grpSpPr>
          <a:xfrm rot="0">
            <a:off x="16039595" y="2362200"/>
            <a:ext cx="1164336" cy="1164336"/>
            <a:chOff x="0" y="0"/>
            <a:chExt cx="1552448" cy="1552448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1552448" cy="1552448"/>
            </a:xfrm>
            <a:custGeom>
              <a:avLst/>
              <a:gdLst/>
              <a:ahLst/>
              <a:cxnLst/>
              <a:rect r="r" b="b" t="t" l="l"/>
              <a:pathLst>
                <a:path h="1552448" w="1552448">
                  <a:moveTo>
                    <a:pt x="0" y="776224"/>
                  </a:moveTo>
                  <a:cubicBezTo>
                    <a:pt x="0" y="347472"/>
                    <a:pt x="347472" y="0"/>
                    <a:pt x="776224" y="0"/>
                  </a:cubicBezTo>
                  <a:cubicBezTo>
                    <a:pt x="1204976" y="0"/>
                    <a:pt x="1552448" y="347472"/>
                    <a:pt x="1552448" y="776224"/>
                  </a:cubicBezTo>
                  <a:cubicBezTo>
                    <a:pt x="1552448" y="1204976"/>
                    <a:pt x="1204976" y="1552448"/>
                    <a:pt x="776224" y="1552448"/>
                  </a:cubicBezTo>
                  <a:cubicBezTo>
                    <a:pt x="347472" y="1552448"/>
                    <a:pt x="0" y="1204976"/>
                    <a:pt x="0" y="776224"/>
                  </a:cubicBezTo>
                  <a:close/>
                </a:path>
              </a:pathLst>
            </a:custGeom>
            <a:solidFill>
              <a:srgbClr val="16A34A">
                <a:alpha val="3137"/>
              </a:srgbClr>
            </a:solidFill>
            <a:ln w="3048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132" id="132"/>
          <p:cNvGrpSpPr/>
          <p:nvPr/>
        </p:nvGrpSpPr>
        <p:grpSpPr>
          <a:xfrm rot="0">
            <a:off x="16054835" y="2523744"/>
            <a:ext cx="1133856" cy="804672"/>
            <a:chOff x="0" y="0"/>
            <a:chExt cx="1511808" cy="107289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511808" cy="1072896"/>
            </a:xfrm>
            <a:custGeom>
              <a:avLst/>
              <a:gdLst/>
              <a:ahLst/>
              <a:cxnLst/>
              <a:rect r="r" b="b" t="t" l="l"/>
              <a:pathLst>
                <a:path h="1072896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054" t="0" r="-41054" b="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66675"/>
              <a:ext cx="1511808" cy="1139571"/>
            </a:xfrm>
            <a:prstGeom prst="roundRect">
              <a:avLst>
                <a:gd name="adj" fmla="val 13162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🔑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16812768" y="2184397"/>
            <a:ext cx="422653" cy="422653"/>
            <a:chOff x="0" y="0"/>
            <a:chExt cx="563537" cy="563537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563499" cy="563499"/>
            </a:xfrm>
            <a:custGeom>
              <a:avLst/>
              <a:gdLst/>
              <a:ahLst/>
              <a:cxnLst/>
              <a:rect r="r" b="b" t="t" l="l"/>
              <a:pathLst>
                <a:path h="563499" w="563499">
                  <a:moveTo>
                    <a:pt x="0" y="281813"/>
                  </a:moveTo>
                  <a:cubicBezTo>
                    <a:pt x="0" y="126111"/>
                    <a:pt x="126111" y="0"/>
                    <a:pt x="281813" y="0"/>
                  </a:cubicBezTo>
                  <a:cubicBezTo>
                    <a:pt x="437515" y="0"/>
                    <a:pt x="563499" y="126111"/>
                    <a:pt x="563499" y="281813"/>
                  </a:cubicBezTo>
                  <a:cubicBezTo>
                    <a:pt x="563499" y="437515"/>
                    <a:pt x="437388" y="563499"/>
                    <a:pt x="281813" y="563499"/>
                  </a:cubicBezTo>
                  <a:cubicBezTo>
                    <a:pt x="126238" y="563499"/>
                    <a:pt x="0" y="437388"/>
                    <a:pt x="0" y="281813"/>
                  </a:cubicBezTo>
                  <a:close/>
                </a:path>
              </a:pathLst>
            </a:custGeom>
            <a:solidFill>
              <a:srgbClr val="F7F9FC"/>
            </a:solidFill>
            <a:ln w="2032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137" id="137"/>
          <p:cNvGrpSpPr/>
          <p:nvPr/>
        </p:nvGrpSpPr>
        <p:grpSpPr>
          <a:xfrm rot="0">
            <a:off x="16822931" y="2194560"/>
            <a:ext cx="402336" cy="402336"/>
            <a:chOff x="0" y="0"/>
            <a:chExt cx="536448" cy="536448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28575"/>
              <a:ext cx="536448" cy="565023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17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5835379" y="3657600"/>
            <a:ext cx="1572768" cy="1005840"/>
            <a:chOff x="0" y="0"/>
            <a:chExt cx="2097024" cy="134112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097024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2054" t="0" r="-32054" b="0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28575"/>
              <a:ext cx="2097024" cy="1369695"/>
            </a:xfrm>
            <a:prstGeom prst="roundRect">
              <a:avLst>
                <a:gd name="adj" fmla="val 10951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3A425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Inspection &amp;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3A425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Handover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633727" y="5388607"/>
            <a:ext cx="17020537" cy="1292857"/>
            <a:chOff x="0" y="0"/>
            <a:chExt cx="22694049" cy="1723809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22694012" cy="1723771"/>
            </a:xfrm>
            <a:custGeom>
              <a:avLst/>
              <a:gdLst/>
              <a:ahLst/>
              <a:cxnLst/>
              <a:rect r="r" b="b" t="t" l="l"/>
              <a:pathLst>
                <a:path h="1723771" w="22694012">
                  <a:moveTo>
                    <a:pt x="0" y="0"/>
                  </a:moveTo>
                  <a:lnTo>
                    <a:pt x="22694012" y="0"/>
                  </a:lnTo>
                  <a:lnTo>
                    <a:pt x="22694012" y="1723771"/>
                  </a:lnTo>
                  <a:lnTo>
                    <a:pt x="0" y="17237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145" id="145"/>
          <p:cNvGrpSpPr/>
          <p:nvPr/>
        </p:nvGrpSpPr>
        <p:grpSpPr>
          <a:xfrm rot="0">
            <a:off x="914400" y="5449824"/>
            <a:ext cx="5852160" cy="457200"/>
            <a:chOff x="0" y="0"/>
            <a:chExt cx="7802880" cy="6096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7802880" cy="609600"/>
            </a:xfrm>
            <a:custGeom>
              <a:avLst/>
              <a:gdLst/>
              <a:ahLst/>
              <a:cxnLst/>
              <a:rect r="r" b="b" t="t" l="l"/>
              <a:pathLst>
                <a:path h="60960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9408" r="0" b="-199408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38100"/>
              <a:ext cx="7802880" cy="64770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7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📊  Tables written across the full flow: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905513" y="5971289"/>
            <a:ext cx="1938023" cy="474983"/>
            <a:chOff x="0" y="0"/>
            <a:chExt cx="2584031" cy="633311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2584069" cy="633349"/>
            </a:xfrm>
            <a:custGeom>
              <a:avLst/>
              <a:gdLst/>
              <a:ahLst/>
              <a:cxnLst/>
              <a:rect r="r" b="b" t="t" l="l"/>
              <a:pathLst>
                <a:path h="633349" w="2584069">
                  <a:moveTo>
                    <a:pt x="0" y="152019"/>
                  </a:moveTo>
                  <a:cubicBezTo>
                    <a:pt x="0" y="68072"/>
                    <a:pt x="68072" y="0"/>
                    <a:pt x="152019" y="0"/>
                  </a:cubicBezTo>
                  <a:lnTo>
                    <a:pt x="2432050" y="0"/>
                  </a:lnTo>
                  <a:cubicBezTo>
                    <a:pt x="2515997" y="0"/>
                    <a:pt x="2584069" y="68072"/>
                    <a:pt x="2584069" y="152019"/>
                  </a:cubicBezTo>
                  <a:lnTo>
                    <a:pt x="2584069" y="481330"/>
                  </a:lnTo>
                  <a:cubicBezTo>
                    <a:pt x="2584069" y="565277"/>
                    <a:pt x="2515997" y="633349"/>
                    <a:pt x="2432050" y="633349"/>
                  </a:cubicBezTo>
                  <a:lnTo>
                    <a:pt x="152019" y="633349"/>
                  </a:lnTo>
                  <a:cubicBezTo>
                    <a:pt x="68072" y="633349"/>
                    <a:pt x="0" y="565277"/>
                    <a:pt x="0" y="481330"/>
                  </a:cubicBezTo>
                  <a:close/>
                </a:path>
              </a:pathLst>
            </a:custGeom>
            <a:solidFill>
              <a:srgbClr val="D97706">
                <a:alpha val="1176"/>
              </a:srgbClr>
            </a:solidFill>
            <a:ln w="1778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150" id="150"/>
          <p:cNvGrpSpPr/>
          <p:nvPr/>
        </p:nvGrpSpPr>
        <p:grpSpPr>
          <a:xfrm rot="0">
            <a:off x="914400" y="5980176"/>
            <a:ext cx="1920240" cy="457200"/>
            <a:chOff x="0" y="0"/>
            <a:chExt cx="2560320" cy="609600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2560320" cy="609600"/>
            </a:xfrm>
            <a:custGeom>
              <a:avLst/>
              <a:gdLst/>
              <a:ahLst/>
              <a:cxnLst/>
              <a:rect r="r" b="b" t="t" l="l"/>
              <a:pathLst>
                <a:path h="60960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28575"/>
              <a:ext cx="2560320" cy="638175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customers</a:t>
              </a:r>
            </a:p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2972057" y="5971289"/>
            <a:ext cx="1938023" cy="474983"/>
            <a:chOff x="0" y="0"/>
            <a:chExt cx="2584031" cy="633311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2584069" cy="633349"/>
            </a:xfrm>
            <a:custGeom>
              <a:avLst/>
              <a:gdLst/>
              <a:ahLst/>
              <a:cxnLst/>
              <a:rect r="r" b="b" t="t" l="l"/>
              <a:pathLst>
                <a:path h="633349" w="2584069">
                  <a:moveTo>
                    <a:pt x="0" y="152019"/>
                  </a:moveTo>
                  <a:cubicBezTo>
                    <a:pt x="0" y="68072"/>
                    <a:pt x="68072" y="0"/>
                    <a:pt x="152019" y="0"/>
                  </a:cubicBezTo>
                  <a:lnTo>
                    <a:pt x="2432050" y="0"/>
                  </a:lnTo>
                  <a:cubicBezTo>
                    <a:pt x="2515997" y="0"/>
                    <a:pt x="2584069" y="68072"/>
                    <a:pt x="2584069" y="152019"/>
                  </a:cubicBezTo>
                  <a:lnTo>
                    <a:pt x="2584069" y="481330"/>
                  </a:lnTo>
                  <a:cubicBezTo>
                    <a:pt x="2584069" y="565277"/>
                    <a:pt x="2515997" y="633349"/>
                    <a:pt x="2432050" y="633349"/>
                  </a:cubicBezTo>
                  <a:lnTo>
                    <a:pt x="152019" y="633349"/>
                  </a:lnTo>
                  <a:cubicBezTo>
                    <a:pt x="68072" y="633349"/>
                    <a:pt x="0" y="565277"/>
                    <a:pt x="0" y="481330"/>
                  </a:cubicBezTo>
                  <a:close/>
                </a:path>
              </a:pathLst>
            </a:custGeom>
            <a:solidFill>
              <a:srgbClr val="D97706">
                <a:alpha val="1176"/>
              </a:srgbClr>
            </a:solidFill>
            <a:ln w="1778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155" id="155"/>
          <p:cNvGrpSpPr/>
          <p:nvPr/>
        </p:nvGrpSpPr>
        <p:grpSpPr>
          <a:xfrm rot="0">
            <a:off x="2980944" y="5980176"/>
            <a:ext cx="1920240" cy="457200"/>
            <a:chOff x="0" y="0"/>
            <a:chExt cx="2560320" cy="60960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2560320" cy="609600"/>
            </a:xfrm>
            <a:custGeom>
              <a:avLst/>
              <a:gdLst/>
              <a:ahLst/>
              <a:cxnLst/>
              <a:rect r="r" b="b" t="t" l="l"/>
              <a:pathLst>
                <a:path h="60960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28575"/>
              <a:ext cx="2560320" cy="638175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bookings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5038601" y="5971289"/>
            <a:ext cx="1938023" cy="474983"/>
            <a:chOff x="0" y="0"/>
            <a:chExt cx="2584031" cy="633311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2584069" cy="633349"/>
            </a:xfrm>
            <a:custGeom>
              <a:avLst/>
              <a:gdLst/>
              <a:ahLst/>
              <a:cxnLst/>
              <a:rect r="r" b="b" t="t" l="l"/>
              <a:pathLst>
                <a:path h="633349" w="2584069">
                  <a:moveTo>
                    <a:pt x="0" y="152019"/>
                  </a:moveTo>
                  <a:cubicBezTo>
                    <a:pt x="0" y="68072"/>
                    <a:pt x="68072" y="0"/>
                    <a:pt x="152019" y="0"/>
                  </a:cubicBezTo>
                  <a:lnTo>
                    <a:pt x="2432050" y="0"/>
                  </a:lnTo>
                  <a:cubicBezTo>
                    <a:pt x="2515997" y="0"/>
                    <a:pt x="2584069" y="68072"/>
                    <a:pt x="2584069" y="152019"/>
                  </a:cubicBezTo>
                  <a:lnTo>
                    <a:pt x="2584069" y="481330"/>
                  </a:lnTo>
                  <a:cubicBezTo>
                    <a:pt x="2584069" y="565277"/>
                    <a:pt x="2515997" y="633349"/>
                    <a:pt x="2432050" y="633349"/>
                  </a:cubicBezTo>
                  <a:lnTo>
                    <a:pt x="152019" y="633349"/>
                  </a:lnTo>
                  <a:cubicBezTo>
                    <a:pt x="68072" y="633349"/>
                    <a:pt x="0" y="565277"/>
                    <a:pt x="0" y="481330"/>
                  </a:cubicBezTo>
                  <a:close/>
                </a:path>
              </a:pathLst>
            </a:custGeom>
            <a:solidFill>
              <a:srgbClr val="D97706">
                <a:alpha val="1176"/>
              </a:srgbClr>
            </a:solidFill>
            <a:ln w="1778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160" id="160"/>
          <p:cNvGrpSpPr/>
          <p:nvPr/>
        </p:nvGrpSpPr>
        <p:grpSpPr>
          <a:xfrm rot="0">
            <a:off x="5047488" y="5980176"/>
            <a:ext cx="1920240" cy="457200"/>
            <a:chOff x="0" y="0"/>
            <a:chExt cx="2560320" cy="60960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2560320" cy="609600"/>
            </a:xfrm>
            <a:custGeom>
              <a:avLst/>
              <a:gdLst/>
              <a:ahLst/>
              <a:cxnLst/>
              <a:rect r="r" b="b" t="t" l="l"/>
              <a:pathLst>
                <a:path h="60960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-28575"/>
              <a:ext cx="2560320" cy="638175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quotations</a:t>
              </a: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7105145" y="5971289"/>
            <a:ext cx="1938023" cy="474983"/>
            <a:chOff x="0" y="0"/>
            <a:chExt cx="2584031" cy="633311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2584069" cy="633349"/>
            </a:xfrm>
            <a:custGeom>
              <a:avLst/>
              <a:gdLst/>
              <a:ahLst/>
              <a:cxnLst/>
              <a:rect r="r" b="b" t="t" l="l"/>
              <a:pathLst>
                <a:path h="633349" w="2584069">
                  <a:moveTo>
                    <a:pt x="0" y="152019"/>
                  </a:moveTo>
                  <a:cubicBezTo>
                    <a:pt x="0" y="68072"/>
                    <a:pt x="68072" y="0"/>
                    <a:pt x="152019" y="0"/>
                  </a:cubicBezTo>
                  <a:lnTo>
                    <a:pt x="2432050" y="0"/>
                  </a:lnTo>
                  <a:cubicBezTo>
                    <a:pt x="2515997" y="0"/>
                    <a:pt x="2584069" y="68072"/>
                    <a:pt x="2584069" y="152019"/>
                  </a:cubicBezTo>
                  <a:lnTo>
                    <a:pt x="2584069" y="481330"/>
                  </a:lnTo>
                  <a:cubicBezTo>
                    <a:pt x="2584069" y="565277"/>
                    <a:pt x="2515997" y="633349"/>
                    <a:pt x="2432050" y="633349"/>
                  </a:cubicBezTo>
                  <a:lnTo>
                    <a:pt x="152019" y="633349"/>
                  </a:lnTo>
                  <a:cubicBezTo>
                    <a:pt x="68072" y="633349"/>
                    <a:pt x="0" y="565277"/>
                    <a:pt x="0" y="481330"/>
                  </a:cubicBezTo>
                  <a:close/>
                </a:path>
              </a:pathLst>
            </a:custGeom>
            <a:solidFill>
              <a:srgbClr val="D97706">
                <a:alpha val="1176"/>
              </a:srgbClr>
            </a:solidFill>
            <a:ln w="1778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165" id="165"/>
          <p:cNvGrpSpPr/>
          <p:nvPr/>
        </p:nvGrpSpPr>
        <p:grpSpPr>
          <a:xfrm rot="0">
            <a:off x="7114032" y="5980176"/>
            <a:ext cx="1920240" cy="457200"/>
            <a:chOff x="0" y="0"/>
            <a:chExt cx="2560320" cy="60960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2560320" cy="609600"/>
            </a:xfrm>
            <a:custGeom>
              <a:avLst/>
              <a:gdLst/>
              <a:ahLst/>
              <a:cxnLst/>
              <a:rect r="r" b="b" t="t" l="l"/>
              <a:pathLst>
                <a:path h="60960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167" id="167"/>
            <p:cNvSpPr txBox="true"/>
            <p:nvPr/>
          </p:nvSpPr>
          <p:spPr>
            <a:xfrm>
              <a:off x="0" y="-28575"/>
              <a:ext cx="2560320" cy="638175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vehicle</a:t>
              </a:r>
            </a:p>
          </p:txBody>
        </p:sp>
      </p:grpSp>
      <p:grpSp>
        <p:nvGrpSpPr>
          <p:cNvPr name="Group 168" id="168"/>
          <p:cNvGrpSpPr/>
          <p:nvPr/>
        </p:nvGrpSpPr>
        <p:grpSpPr>
          <a:xfrm rot="0">
            <a:off x="9171689" y="5971289"/>
            <a:ext cx="1938023" cy="474983"/>
            <a:chOff x="0" y="0"/>
            <a:chExt cx="2584031" cy="633311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2584069" cy="633349"/>
            </a:xfrm>
            <a:custGeom>
              <a:avLst/>
              <a:gdLst/>
              <a:ahLst/>
              <a:cxnLst/>
              <a:rect r="r" b="b" t="t" l="l"/>
              <a:pathLst>
                <a:path h="633349" w="2584069">
                  <a:moveTo>
                    <a:pt x="0" y="152019"/>
                  </a:moveTo>
                  <a:cubicBezTo>
                    <a:pt x="0" y="68072"/>
                    <a:pt x="68072" y="0"/>
                    <a:pt x="152019" y="0"/>
                  </a:cubicBezTo>
                  <a:lnTo>
                    <a:pt x="2432050" y="0"/>
                  </a:lnTo>
                  <a:cubicBezTo>
                    <a:pt x="2515997" y="0"/>
                    <a:pt x="2584069" y="68072"/>
                    <a:pt x="2584069" y="152019"/>
                  </a:cubicBezTo>
                  <a:lnTo>
                    <a:pt x="2584069" y="481330"/>
                  </a:lnTo>
                  <a:cubicBezTo>
                    <a:pt x="2584069" y="565277"/>
                    <a:pt x="2515997" y="633349"/>
                    <a:pt x="2432050" y="633349"/>
                  </a:cubicBezTo>
                  <a:lnTo>
                    <a:pt x="152019" y="633349"/>
                  </a:lnTo>
                  <a:cubicBezTo>
                    <a:pt x="68072" y="633349"/>
                    <a:pt x="0" y="565277"/>
                    <a:pt x="0" y="481330"/>
                  </a:cubicBezTo>
                  <a:close/>
                </a:path>
              </a:pathLst>
            </a:custGeom>
            <a:solidFill>
              <a:srgbClr val="D97706">
                <a:alpha val="1176"/>
              </a:srgbClr>
            </a:solidFill>
            <a:ln w="1778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170" id="170"/>
          <p:cNvGrpSpPr/>
          <p:nvPr/>
        </p:nvGrpSpPr>
        <p:grpSpPr>
          <a:xfrm rot="0">
            <a:off x="9180576" y="5980176"/>
            <a:ext cx="1920240" cy="457200"/>
            <a:chOff x="0" y="0"/>
            <a:chExt cx="2560320" cy="609600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2560320" cy="609600"/>
            </a:xfrm>
            <a:custGeom>
              <a:avLst/>
              <a:gdLst/>
              <a:ahLst/>
              <a:cxnLst/>
              <a:rect r="r" b="b" t="t" l="l"/>
              <a:pathLst>
                <a:path h="60960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28575"/>
              <a:ext cx="2560320" cy="638175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payments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11238233" y="5971289"/>
            <a:ext cx="1938023" cy="474983"/>
            <a:chOff x="0" y="0"/>
            <a:chExt cx="2584031" cy="633311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2584069" cy="633349"/>
            </a:xfrm>
            <a:custGeom>
              <a:avLst/>
              <a:gdLst/>
              <a:ahLst/>
              <a:cxnLst/>
              <a:rect r="r" b="b" t="t" l="l"/>
              <a:pathLst>
                <a:path h="633349" w="2584069">
                  <a:moveTo>
                    <a:pt x="0" y="152019"/>
                  </a:moveTo>
                  <a:cubicBezTo>
                    <a:pt x="0" y="68072"/>
                    <a:pt x="68072" y="0"/>
                    <a:pt x="152019" y="0"/>
                  </a:cubicBezTo>
                  <a:lnTo>
                    <a:pt x="2432050" y="0"/>
                  </a:lnTo>
                  <a:cubicBezTo>
                    <a:pt x="2515997" y="0"/>
                    <a:pt x="2584069" y="68072"/>
                    <a:pt x="2584069" y="152019"/>
                  </a:cubicBezTo>
                  <a:lnTo>
                    <a:pt x="2584069" y="481330"/>
                  </a:lnTo>
                  <a:cubicBezTo>
                    <a:pt x="2584069" y="565277"/>
                    <a:pt x="2515997" y="633349"/>
                    <a:pt x="2432050" y="633349"/>
                  </a:cubicBezTo>
                  <a:lnTo>
                    <a:pt x="152019" y="633349"/>
                  </a:lnTo>
                  <a:cubicBezTo>
                    <a:pt x="68072" y="633349"/>
                    <a:pt x="0" y="565277"/>
                    <a:pt x="0" y="481330"/>
                  </a:cubicBezTo>
                  <a:close/>
                </a:path>
              </a:pathLst>
            </a:custGeom>
            <a:solidFill>
              <a:srgbClr val="D97706">
                <a:alpha val="1176"/>
              </a:srgbClr>
            </a:solidFill>
            <a:ln w="1778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175" id="175"/>
          <p:cNvGrpSpPr/>
          <p:nvPr/>
        </p:nvGrpSpPr>
        <p:grpSpPr>
          <a:xfrm rot="0">
            <a:off x="11247120" y="5980176"/>
            <a:ext cx="1920240" cy="457200"/>
            <a:chOff x="0" y="0"/>
            <a:chExt cx="2560320" cy="60960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2560320" cy="609600"/>
            </a:xfrm>
            <a:custGeom>
              <a:avLst/>
              <a:gdLst/>
              <a:ahLst/>
              <a:cxnLst/>
              <a:rect r="r" b="b" t="t" l="l"/>
              <a:pathLst>
                <a:path h="60960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177" id="177"/>
            <p:cNvSpPr txBox="true"/>
            <p:nvPr/>
          </p:nvSpPr>
          <p:spPr>
            <a:xfrm>
              <a:off x="0" y="-28575"/>
              <a:ext cx="2560320" cy="638175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notifications</a:t>
              </a:r>
            </a:p>
          </p:txBody>
        </p:sp>
      </p:grpSp>
      <p:grpSp>
        <p:nvGrpSpPr>
          <p:cNvPr name="Group 178" id="178"/>
          <p:cNvGrpSpPr/>
          <p:nvPr/>
        </p:nvGrpSpPr>
        <p:grpSpPr>
          <a:xfrm rot="0">
            <a:off x="13304777" y="5971289"/>
            <a:ext cx="1938023" cy="474983"/>
            <a:chOff x="0" y="0"/>
            <a:chExt cx="2584031" cy="633311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2584069" cy="633349"/>
            </a:xfrm>
            <a:custGeom>
              <a:avLst/>
              <a:gdLst/>
              <a:ahLst/>
              <a:cxnLst/>
              <a:rect r="r" b="b" t="t" l="l"/>
              <a:pathLst>
                <a:path h="633349" w="2584069">
                  <a:moveTo>
                    <a:pt x="0" y="152019"/>
                  </a:moveTo>
                  <a:cubicBezTo>
                    <a:pt x="0" y="68072"/>
                    <a:pt x="68072" y="0"/>
                    <a:pt x="152019" y="0"/>
                  </a:cubicBezTo>
                  <a:lnTo>
                    <a:pt x="2432050" y="0"/>
                  </a:lnTo>
                  <a:cubicBezTo>
                    <a:pt x="2515997" y="0"/>
                    <a:pt x="2584069" y="68072"/>
                    <a:pt x="2584069" y="152019"/>
                  </a:cubicBezTo>
                  <a:lnTo>
                    <a:pt x="2584069" y="481330"/>
                  </a:lnTo>
                  <a:cubicBezTo>
                    <a:pt x="2584069" y="565277"/>
                    <a:pt x="2515997" y="633349"/>
                    <a:pt x="2432050" y="633349"/>
                  </a:cubicBezTo>
                  <a:lnTo>
                    <a:pt x="152019" y="633349"/>
                  </a:lnTo>
                  <a:cubicBezTo>
                    <a:pt x="68072" y="633349"/>
                    <a:pt x="0" y="565277"/>
                    <a:pt x="0" y="481330"/>
                  </a:cubicBezTo>
                  <a:close/>
                </a:path>
              </a:pathLst>
            </a:custGeom>
            <a:solidFill>
              <a:srgbClr val="D97706">
                <a:alpha val="1176"/>
              </a:srgbClr>
            </a:solidFill>
            <a:ln w="1778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180" id="180"/>
          <p:cNvGrpSpPr/>
          <p:nvPr/>
        </p:nvGrpSpPr>
        <p:grpSpPr>
          <a:xfrm rot="0">
            <a:off x="13313664" y="5980176"/>
            <a:ext cx="1920240" cy="457200"/>
            <a:chOff x="0" y="0"/>
            <a:chExt cx="2560320" cy="609600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2560320" cy="609600"/>
            </a:xfrm>
            <a:custGeom>
              <a:avLst/>
              <a:gdLst/>
              <a:ahLst/>
              <a:cxnLst/>
              <a:rect r="r" b="b" t="t" l="l"/>
              <a:pathLst>
                <a:path h="60960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182" id="182"/>
            <p:cNvSpPr txBox="true"/>
            <p:nvPr/>
          </p:nvSpPr>
          <p:spPr>
            <a:xfrm>
              <a:off x="0" y="-28575"/>
              <a:ext cx="2560320" cy="638175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inspections</a:t>
              </a:r>
            </a:p>
          </p:txBody>
        </p:sp>
      </p:grpSp>
      <p:grpSp>
        <p:nvGrpSpPr>
          <p:cNvPr name="Group 183" id="183"/>
          <p:cNvGrpSpPr/>
          <p:nvPr/>
        </p:nvGrpSpPr>
        <p:grpSpPr>
          <a:xfrm rot="0">
            <a:off x="15371321" y="5971289"/>
            <a:ext cx="1938023" cy="474983"/>
            <a:chOff x="0" y="0"/>
            <a:chExt cx="2584031" cy="633311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2584069" cy="633349"/>
            </a:xfrm>
            <a:custGeom>
              <a:avLst/>
              <a:gdLst/>
              <a:ahLst/>
              <a:cxnLst/>
              <a:rect r="r" b="b" t="t" l="l"/>
              <a:pathLst>
                <a:path h="633349" w="2584069">
                  <a:moveTo>
                    <a:pt x="0" y="152019"/>
                  </a:moveTo>
                  <a:cubicBezTo>
                    <a:pt x="0" y="68072"/>
                    <a:pt x="68072" y="0"/>
                    <a:pt x="152019" y="0"/>
                  </a:cubicBezTo>
                  <a:lnTo>
                    <a:pt x="2432050" y="0"/>
                  </a:lnTo>
                  <a:cubicBezTo>
                    <a:pt x="2515997" y="0"/>
                    <a:pt x="2584069" y="68072"/>
                    <a:pt x="2584069" y="152019"/>
                  </a:cubicBezTo>
                  <a:lnTo>
                    <a:pt x="2584069" y="481330"/>
                  </a:lnTo>
                  <a:cubicBezTo>
                    <a:pt x="2584069" y="565277"/>
                    <a:pt x="2515997" y="633349"/>
                    <a:pt x="2432050" y="633349"/>
                  </a:cubicBezTo>
                  <a:lnTo>
                    <a:pt x="152019" y="633349"/>
                  </a:lnTo>
                  <a:cubicBezTo>
                    <a:pt x="68072" y="633349"/>
                    <a:pt x="0" y="565277"/>
                    <a:pt x="0" y="481330"/>
                  </a:cubicBezTo>
                  <a:close/>
                </a:path>
              </a:pathLst>
            </a:custGeom>
            <a:solidFill>
              <a:srgbClr val="D97706">
                <a:alpha val="1176"/>
              </a:srgbClr>
            </a:solidFill>
            <a:ln w="1778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185" id="185"/>
          <p:cNvGrpSpPr/>
          <p:nvPr/>
        </p:nvGrpSpPr>
        <p:grpSpPr>
          <a:xfrm rot="0">
            <a:off x="15380208" y="5980176"/>
            <a:ext cx="1920240" cy="457200"/>
            <a:chOff x="0" y="0"/>
            <a:chExt cx="2560320" cy="609600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2560320" cy="609600"/>
            </a:xfrm>
            <a:custGeom>
              <a:avLst/>
              <a:gdLst/>
              <a:ahLst/>
              <a:cxnLst/>
              <a:rect r="r" b="b" t="t" l="l"/>
              <a:pathLst>
                <a:path h="60960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28575"/>
              <a:ext cx="2560320" cy="638175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audit_logs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731520" y="6949440"/>
            <a:ext cx="8229600" cy="512064"/>
            <a:chOff x="0" y="0"/>
            <a:chExt cx="10972800" cy="682752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10972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38100"/>
              <a:ext cx="10972800" cy="720852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 Vehicle Selection — Filter by type, availability, and date range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731520" y="7498080"/>
            <a:ext cx="8229600" cy="512064"/>
            <a:chOff x="0" y="0"/>
            <a:chExt cx="10972800" cy="682752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10972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38100"/>
              <a:ext cx="10972800" cy="720852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2. Trip Details — Pickup, drop location, and trip purpose</a:t>
              </a:r>
            </a:p>
          </p:txBody>
        </p:sp>
      </p:grpSp>
      <p:grpSp>
        <p:nvGrpSpPr>
          <p:cNvPr name="Group 194" id="194"/>
          <p:cNvGrpSpPr/>
          <p:nvPr/>
        </p:nvGrpSpPr>
        <p:grpSpPr>
          <a:xfrm rot="0">
            <a:off x="731520" y="8046720"/>
            <a:ext cx="8229600" cy="512064"/>
            <a:chOff x="0" y="0"/>
            <a:chExt cx="10972800" cy="682752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10972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38100"/>
              <a:ext cx="10972800" cy="720852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3. Customer — Lookup returning customer by mobile or create new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731520" y="8595360"/>
            <a:ext cx="8229600" cy="512064"/>
            <a:chOff x="0" y="0"/>
            <a:chExt cx="10972800" cy="682752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10972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38100"/>
              <a:ext cx="10972800" cy="720852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4. Quotation — Auto-priced PDF with GST, deposit, and advance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731520" y="9144000"/>
            <a:ext cx="8229600" cy="512064"/>
            <a:chOff x="0" y="0"/>
            <a:chExt cx="10972800" cy="682752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10972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38100"/>
              <a:ext cx="10972800" cy="720852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5. Cash Advance — Optional pre-approval payment collection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9326880" y="6949440"/>
            <a:ext cx="8229600" cy="512064"/>
            <a:chOff x="0" y="0"/>
            <a:chExt cx="10972800" cy="682752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10972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-38100"/>
              <a:ext cx="10972800" cy="720852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6. Submit — Notify admins of the new booking request</a:t>
              </a:r>
            </a:p>
          </p:txBody>
        </p:sp>
      </p:grpSp>
      <p:grpSp>
        <p:nvGrpSpPr>
          <p:cNvPr name="Group 206" id="206"/>
          <p:cNvGrpSpPr/>
          <p:nvPr/>
        </p:nvGrpSpPr>
        <p:grpSpPr>
          <a:xfrm rot="0">
            <a:off x="9326880" y="7498080"/>
            <a:ext cx="8229600" cy="512064"/>
            <a:chOff x="0" y="0"/>
            <a:chExt cx="10972800" cy="682752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10972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-38100"/>
              <a:ext cx="10972800" cy="720852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7. Admin Approval — Six DB tables updated atomically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9326880" y="8046720"/>
            <a:ext cx="8229600" cy="512064"/>
            <a:chOff x="0" y="0"/>
            <a:chExt cx="10972800" cy="682752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10972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-38100"/>
              <a:ext cx="10972800" cy="720852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8. Payment — Cashfree gateway or cash collection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9326880" y="8595360"/>
            <a:ext cx="8229600" cy="512064"/>
            <a:chOff x="0" y="0"/>
            <a:chExt cx="10972800" cy="682752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10972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-38100"/>
              <a:ext cx="10972800" cy="720852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9. Inspection &amp; Handover — Photo form; vehicle status set to "rented"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0" y="9784080"/>
            <a:ext cx="18288000" cy="512064"/>
            <a:chOff x="0" y="0"/>
            <a:chExt cx="24384000" cy="682752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2438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5894" r="0" b="-645894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-28575"/>
              <a:ext cx="2438400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9AA6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Tej Prakash  ·  Harsimran Kaur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8300697" cy="1018537"/>
            <a:chOff x="0" y="0"/>
            <a:chExt cx="24400929" cy="13580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0890" cy="1358011"/>
            </a:xfrm>
            <a:custGeom>
              <a:avLst/>
              <a:gdLst/>
              <a:ahLst/>
              <a:cxnLst/>
              <a:rect r="r" b="b" t="t" l="l"/>
              <a:pathLst>
                <a:path h="1358011" w="24400890">
                  <a:moveTo>
                    <a:pt x="0" y="0"/>
                  </a:moveTo>
                  <a:lnTo>
                    <a:pt x="24400890" y="0"/>
                  </a:lnTo>
                  <a:lnTo>
                    <a:pt x="24400890" y="1358011"/>
                  </a:lnTo>
                  <a:lnTo>
                    <a:pt x="0" y="1358011"/>
                  </a:lnTo>
                  <a:close/>
                </a:path>
              </a:pathLst>
            </a:custGeom>
            <a:solidFill>
              <a:srgbClr val="EEF2F9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146304"/>
            <a:ext cx="1645920" cy="694944"/>
            <a:chOff x="0" y="0"/>
            <a:chExt cx="2194560" cy="9265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72" t="0" r="-4172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" cy="964692"/>
            </a:xfrm>
            <a:prstGeom prst="roundRect">
              <a:avLst>
                <a:gd name="adj" fmla="val 15549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 / 13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377440" y="146304"/>
            <a:ext cx="12801600" cy="694944"/>
            <a:chOff x="0" y="0"/>
            <a:chExt cx="17068800" cy="9265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934" r="0" b="-30893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7068800" cy="983742"/>
            </a:xfrm>
            <a:prstGeom prst="roundRect">
              <a:avLst>
                <a:gd name="adj" fmla="val 15247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Features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8591" y="1182367"/>
            <a:ext cx="5407657" cy="3670297"/>
            <a:chOff x="0" y="0"/>
            <a:chExt cx="7210209" cy="48937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10171" cy="4893691"/>
            </a:xfrm>
            <a:custGeom>
              <a:avLst/>
              <a:gdLst/>
              <a:ahLst/>
              <a:cxnLst/>
              <a:rect r="r" b="b" t="t" l="l"/>
              <a:pathLst>
                <a:path h="4893691" w="7210171">
                  <a:moveTo>
                    <a:pt x="0" y="0"/>
                  </a:moveTo>
                  <a:lnTo>
                    <a:pt x="7210171" y="0"/>
                  </a:lnTo>
                  <a:lnTo>
                    <a:pt x="7210171" y="4893691"/>
                  </a:lnTo>
                  <a:lnTo>
                    <a:pt x="0" y="489369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24128" y="1463040"/>
            <a:ext cx="731520" cy="731520"/>
            <a:chOff x="0" y="0"/>
            <a:chExt cx="975360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975360" cy="1051560"/>
            </a:xfrm>
            <a:prstGeom prst="roundRect">
              <a:avLst>
                <a:gd name="adj" fmla="val 15378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🔎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4128" y="2286000"/>
            <a:ext cx="4736592" cy="640080"/>
            <a:chOff x="0" y="0"/>
            <a:chExt cx="6315456" cy="853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15456" cy="853440"/>
            </a:xfrm>
            <a:custGeom>
              <a:avLst/>
              <a:gdLst/>
              <a:ahLst/>
              <a:cxnLst/>
              <a:rect r="r" b="b" t="t" l="l"/>
              <a:pathLst>
                <a:path h="853440" w="6315456">
                  <a:moveTo>
                    <a:pt x="0" y="0"/>
                  </a:moveTo>
                  <a:lnTo>
                    <a:pt x="6315456" y="0"/>
                  </a:lnTo>
                  <a:lnTo>
                    <a:pt x="6315456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6315456" cy="901065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Smart Customer Lookup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4128" y="3017520"/>
            <a:ext cx="4736592" cy="1280160"/>
            <a:chOff x="0" y="0"/>
            <a:chExt cx="6315456" cy="17068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15456" cy="1706880"/>
            </a:xfrm>
            <a:custGeom>
              <a:avLst/>
              <a:gdLst/>
              <a:ahLst/>
              <a:cxnLst/>
              <a:rect r="r" b="b" t="t" l="l"/>
              <a:pathLst>
                <a:path h="1706880" w="6315456">
                  <a:moveTo>
                    <a:pt x="0" y="0"/>
                  </a:moveTo>
                  <a:lnTo>
                    <a:pt x="6315456" y="0"/>
                  </a:lnTo>
                  <a:lnTo>
                    <a:pt x="6315456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94" r="0" b="-2209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315456" cy="1744980"/>
            </a:xfrm>
            <a:prstGeom prst="roundRect">
              <a:avLst>
                <a:gd name="adj" fmla="val 8596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 a mobile number — the system finds the returning customer and auto-fills every field. Debounced search, zero extra clicks.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581401" y="1435865"/>
            <a:ext cx="1261367" cy="456695"/>
            <a:chOff x="0" y="0"/>
            <a:chExt cx="1681823" cy="60892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81861" cy="608965"/>
            </a:xfrm>
            <a:custGeom>
              <a:avLst/>
              <a:gdLst/>
              <a:ahLst/>
              <a:cxnLst/>
              <a:rect r="r" b="b" t="t" l="l"/>
              <a:pathLst>
                <a:path h="608965" w="1681861">
                  <a:moveTo>
                    <a:pt x="0" y="253746"/>
                  </a:moveTo>
                  <a:cubicBezTo>
                    <a:pt x="0" y="113538"/>
                    <a:pt x="113538" y="0"/>
                    <a:pt x="253746" y="0"/>
                  </a:cubicBezTo>
                  <a:lnTo>
                    <a:pt x="1428115" y="0"/>
                  </a:lnTo>
                  <a:cubicBezTo>
                    <a:pt x="1568196" y="0"/>
                    <a:pt x="1681861" y="113538"/>
                    <a:pt x="1681861" y="253746"/>
                  </a:cubicBezTo>
                  <a:lnTo>
                    <a:pt x="1681861" y="355219"/>
                  </a:lnTo>
                  <a:cubicBezTo>
                    <a:pt x="1681861" y="495300"/>
                    <a:pt x="1568323" y="608965"/>
                    <a:pt x="1428115" y="608965"/>
                  </a:cubicBezTo>
                  <a:lnTo>
                    <a:pt x="253746" y="608965"/>
                  </a:lnTo>
                  <a:cubicBezTo>
                    <a:pt x="113538" y="608965"/>
                    <a:pt x="0" y="495300"/>
                    <a:pt x="0" y="355219"/>
                  </a:cubicBezTo>
                  <a:close/>
                </a:path>
              </a:pathLst>
            </a:custGeom>
            <a:solidFill>
              <a:srgbClr val="7C3AED">
                <a:alpha val="1961"/>
              </a:srgbClr>
            </a:solidFill>
            <a:ln w="1778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4590288" y="1444752"/>
            <a:ext cx="1243584" cy="438912"/>
            <a:chOff x="0" y="0"/>
            <a:chExt cx="1658112" cy="5852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58112" cy="585216"/>
            </a:xfrm>
            <a:custGeom>
              <a:avLst/>
              <a:gdLst/>
              <a:ahLst/>
              <a:cxnLst/>
              <a:rect r="r" b="b" t="t" l="l"/>
              <a:pathLst>
                <a:path h="585216" w="1658112">
                  <a:moveTo>
                    <a:pt x="0" y="0"/>
                  </a:moveTo>
                  <a:lnTo>
                    <a:pt x="1658112" y="0"/>
                  </a:lnTo>
                  <a:lnTo>
                    <a:pt x="165811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658112" cy="613791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UX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394447" y="1182367"/>
            <a:ext cx="5407657" cy="3670297"/>
            <a:chOff x="0" y="0"/>
            <a:chExt cx="7210209" cy="489372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210171" cy="4893691"/>
            </a:xfrm>
            <a:custGeom>
              <a:avLst/>
              <a:gdLst/>
              <a:ahLst/>
              <a:cxnLst/>
              <a:rect r="r" b="b" t="t" l="l"/>
              <a:pathLst>
                <a:path h="4893691" w="7210171">
                  <a:moveTo>
                    <a:pt x="0" y="0"/>
                  </a:moveTo>
                  <a:lnTo>
                    <a:pt x="7210171" y="0"/>
                  </a:lnTo>
                  <a:lnTo>
                    <a:pt x="7210171" y="4893691"/>
                  </a:lnTo>
                  <a:lnTo>
                    <a:pt x="0" y="489369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729984" y="1463040"/>
            <a:ext cx="731520" cy="731520"/>
            <a:chOff x="0" y="0"/>
            <a:chExt cx="975360" cy="9753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76200"/>
              <a:ext cx="975360" cy="1051560"/>
            </a:xfrm>
            <a:prstGeom prst="roundRect">
              <a:avLst>
                <a:gd name="adj" fmla="val 15378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📊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729984" y="2286000"/>
            <a:ext cx="4736592" cy="640080"/>
            <a:chOff x="0" y="0"/>
            <a:chExt cx="6315456" cy="8534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15456" cy="853440"/>
            </a:xfrm>
            <a:custGeom>
              <a:avLst/>
              <a:gdLst/>
              <a:ahLst/>
              <a:cxnLst/>
              <a:rect r="r" b="b" t="t" l="l"/>
              <a:pathLst>
                <a:path h="853440" w="6315456">
                  <a:moveTo>
                    <a:pt x="0" y="0"/>
                  </a:moveTo>
                  <a:lnTo>
                    <a:pt x="6315456" y="0"/>
                  </a:lnTo>
                  <a:lnTo>
                    <a:pt x="6315456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6315456" cy="901065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Auto-Priced Quotations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729984" y="3017520"/>
            <a:ext cx="4736592" cy="1280160"/>
            <a:chOff x="0" y="0"/>
            <a:chExt cx="6315456" cy="17068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315456" cy="1706880"/>
            </a:xfrm>
            <a:custGeom>
              <a:avLst/>
              <a:gdLst/>
              <a:ahLst/>
              <a:cxnLst/>
              <a:rect r="r" b="b" t="t" l="l"/>
              <a:pathLst>
                <a:path h="1706880" w="6315456">
                  <a:moveTo>
                    <a:pt x="0" y="0"/>
                  </a:moveTo>
                  <a:lnTo>
                    <a:pt x="6315456" y="0"/>
                  </a:lnTo>
                  <a:lnTo>
                    <a:pt x="6315456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94" r="0" b="-2209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315456" cy="1744980"/>
            </a:xfrm>
            <a:prstGeom prst="roundRect">
              <a:avLst>
                <a:gd name="adj" fmla="val 8596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 cost, GST, security deposit, and 50% advance are all calculated live from vehicle tier data. Promo code validation included.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287257" y="1435865"/>
            <a:ext cx="1261367" cy="456695"/>
            <a:chOff x="0" y="0"/>
            <a:chExt cx="1681823" cy="60892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681861" cy="608965"/>
            </a:xfrm>
            <a:custGeom>
              <a:avLst/>
              <a:gdLst/>
              <a:ahLst/>
              <a:cxnLst/>
              <a:rect r="r" b="b" t="t" l="l"/>
              <a:pathLst>
                <a:path h="608965" w="1681861">
                  <a:moveTo>
                    <a:pt x="0" y="253746"/>
                  </a:moveTo>
                  <a:cubicBezTo>
                    <a:pt x="0" y="113538"/>
                    <a:pt x="113538" y="0"/>
                    <a:pt x="253746" y="0"/>
                  </a:cubicBezTo>
                  <a:lnTo>
                    <a:pt x="1428115" y="0"/>
                  </a:lnTo>
                  <a:cubicBezTo>
                    <a:pt x="1568196" y="0"/>
                    <a:pt x="1681861" y="113538"/>
                    <a:pt x="1681861" y="253746"/>
                  </a:cubicBezTo>
                  <a:lnTo>
                    <a:pt x="1681861" y="355219"/>
                  </a:lnTo>
                  <a:cubicBezTo>
                    <a:pt x="1681861" y="495300"/>
                    <a:pt x="1568323" y="608965"/>
                    <a:pt x="1428115" y="608965"/>
                  </a:cubicBezTo>
                  <a:lnTo>
                    <a:pt x="253746" y="608965"/>
                  </a:lnTo>
                  <a:cubicBezTo>
                    <a:pt x="113538" y="608965"/>
                    <a:pt x="0" y="495300"/>
                    <a:pt x="0" y="355219"/>
                  </a:cubicBezTo>
                  <a:close/>
                </a:path>
              </a:pathLst>
            </a:custGeom>
            <a:solidFill>
              <a:srgbClr val="0D9488">
                <a:alpha val="1961"/>
              </a:srgbClr>
            </a:solidFill>
            <a:ln w="1778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0296144" y="1444752"/>
            <a:ext cx="1243584" cy="438912"/>
            <a:chOff x="0" y="0"/>
            <a:chExt cx="1658112" cy="58521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658112" cy="585216"/>
            </a:xfrm>
            <a:custGeom>
              <a:avLst/>
              <a:gdLst/>
              <a:ahLst/>
              <a:cxnLst/>
              <a:rect r="r" b="b" t="t" l="l"/>
              <a:pathLst>
                <a:path h="585216" w="1658112">
                  <a:moveTo>
                    <a:pt x="0" y="0"/>
                  </a:moveTo>
                  <a:lnTo>
                    <a:pt x="1658112" y="0"/>
                  </a:lnTo>
                  <a:lnTo>
                    <a:pt x="165811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1658112" cy="613791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100303" y="1182367"/>
            <a:ext cx="5407657" cy="3670297"/>
            <a:chOff x="0" y="0"/>
            <a:chExt cx="7210209" cy="489372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210171" cy="4893691"/>
            </a:xfrm>
            <a:custGeom>
              <a:avLst/>
              <a:gdLst/>
              <a:ahLst/>
              <a:cxnLst/>
              <a:rect r="r" b="b" t="t" l="l"/>
              <a:pathLst>
                <a:path h="4893691" w="7210171">
                  <a:moveTo>
                    <a:pt x="0" y="0"/>
                  </a:moveTo>
                  <a:lnTo>
                    <a:pt x="7210171" y="0"/>
                  </a:lnTo>
                  <a:lnTo>
                    <a:pt x="7210171" y="4893691"/>
                  </a:lnTo>
                  <a:lnTo>
                    <a:pt x="0" y="489369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2435840" y="1463040"/>
            <a:ext cx="731520" cy="731520"/>
            <a:chOff x="0" y="0"/>
            <a:chExt cx="975360" cy="9753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76200"/>
              <a:ext cx="975360" cy="1051560"/>
            </a:xfrm>
            <a:prstGeom prst="roundRect">
              <a:avLst>
                <a:gd name="adj" fmla="val 15378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📄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435840" y="2286000"/>
            <a:ext cx="4736592" cy="640080"/>
            <a:chOff x="0" y="0"/>
            <a:chExt cx="6315456" cy="8534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315456" cy="853440"/>
            </a:xfrm>
            <a:custGeom>
              <a:avLst/>
              <a:gdLst/>
              <a:ahLst/>
              <a:cxnLst/>
              <a:rect r="r" b="b" t="t" l="l"/>
              <a:pathLst>
                <a:path h="853440" w="6315456">
                  <a:moveTo>
                    <a:pt x="0" y="0"/>
                  </a:moveTo>
                  <a:lnTo>
                    <a:pt x="6315456" y="0"/>
                  </a:lnTo>
                  <a:lnTo>
                    <a:pt x="6315456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6315456" cy="901065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PDF Generation &amp; Email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435840" y="3017520"/>
            <a:ext cx="4736592" cy="1280160"/>
            <a:chOff x="0" y="0"/>
            <a:chExt cx="6315456" cy="17068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315456" cy="1706880"/>
            </a:xfrm>
            <a:custGeom>
              <a:avLst/>
              <a:gdLst/>
              <a:ahLst/>
              <a:cxnLst/>
              <a:rect r="r" b="b" t="t" l="l"/>
              <a:pathLst>
                <a:path h="1706880" w="6315456">
                  <a:moveTo>
                    <a:pt x="0" y="0"/>
                  </a:moveTo>
                  <a:lnTo>
                    <a:pt x="6315456" y="0"/>
                  </a:lnTo>
                  <a:lnTo>
                    <a:pt x="6315456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94" r="0" b="-2209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6315456" cy="1744980"/>
            </a:xfrm>
            <a:prstGeom prst="roundRect">
              <a:avLst>
                <a:gd name="adj" fmla="val 8596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One-click quotation PDF built client-side with jsPDF, sent via EmailJS. Also sharable via WhatsApp link or SMS.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5993113" y="1435865"/>
            <a:ext cx="1261367" cy="456695"/>
            <a:chOff x="0" y="0"/>
            <a:chExt cx="1681823" cy="60892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681861" cy="608965"/>
            </a:xfrm>
            <a:custGeom>
              <a:avLst/>
              <a:gdLst/>
              <a:ahLst/>
              <a:cxnLst/>
              <a:rect r="r" b="b" t="t" l="l"/>
              <a:pathLst>
                <a:path h="608965" w="1681861">
                  <a:moveTo>
                    <a:pt x="0" y="253746"/>
                  </a:moveTo>
                  <a:cubicBezTo>
                    <a:pt x="0" y="113538"/>
                    <a:pt x="113538" y="0"/>
                    <a:pt x="253746" y="0"/>
                  </a:cubicBezTo>
                  <a:lnTo>
                    <a:pt x="1428115" y="0"/>
                  </a:lnTo>
                  <a:cubicBezTo>
                    <a:pt x="1568196" y="0"/>
                    <a:pt x="1681861" y="113538"/>
                    <a:pt x="1681861" y="253746"/>
                  </a:cubicBezTo>
                  <a:lnTo>
                    <a:pt x="1681861" y="355219"/>
                  </a:lnTo>
                  <a:cubicBezTo>
                    <a:pt x="1681861" y="495300"/>
                    <a:pt x="1568323" y="608965"/>
                    <a:pt x="1428115" y="608965"/>
                  </a:cubicBezTo>
                  <a:lnTo>
                    <a:pt x="253746" y="608965"/>
                  </a:lnTo>
                  <a:cubicBezTo>
                    <a:pt x="113538" y="608965"/>
                    <a:pt x="0" y="495300"/>
                    <a:pt x="0" y="355219"/>
                  </a:cubicBezTo>
                  <a:close/>
                </a:path>
              </a:pathLst>
            </a:custGeom>
            <a:solidFill>
              <a:srgbClr val="D97706">
                <a:alpha val="1961"/>
              </a:srgbClr>
            </a:solidFill>
            <a:ln w="1778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6002000" y="1444752"/>
            <a:ext cx="1243584" cy="438912"/>
            <a:chOff x="0" y="0"/>
            <a:chExt cx="1658112" cy="58521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658112" cy="585216"/>
            </a:xfrm>
            <a:custGeom>
              <a:avLst/>
              <a:gdLst/>
              <a:ahLst/>
              <a:cxnLst/>
              <a:rect r="r" b="b" t="t" l="l"/>
              <a:pathLst>
                <a:path h="585216" w="1658112">
                  <a:moveTo>
                    <a:pt x="0" y="0"/>
                  </a:moveTo>
                  <a:lnTo>
                    <a:pt x="1658112" y="0"/>
                  </a:lnTo>
                  <a:lnTo>
                    <a:pt x="165811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1658112" cy="613791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88591" y="5059423"/>
            <a:ext cx="5407657" cy="3670297"/>
            <a:chOff x="0" y="0"/>
            <a:chExt cx="7210209" cy="489372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210171" cy="4893691"/>
            </a:xfrm>
            <a:custGeom>
              <a:avLst/>
              <a:gdLst/>
              <a:ahLst/>
              <a:cxnLst/>
              <a:rect r="r" b="b" t="t" l="l"/>
              <a:pathLst>
                <a:path h="4893691" w="7210171">
                  <a:moveTo>
                    <a:pt x="0" y="0"/>
                  </a:moveTo>
                  <a:lnTo>
                    <a:pt x="7210171" y="0"/>
                  </a:lnTo>
                  <a:lnTo>
                    <a:pt x="7210171" y="4893691"/>
                  </a:lnTo>
                  <a:lnTo>
                    <a:pt x="0" y="489369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024128" y="5340096"/>
            <a:ext cx="731520" cy="731520"/>
            <a:chOff x="0" y="0"/>
            <a:chExt cx="975360" cy="97536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76200"/>
              <a:ext cx="975360" cy="1051560"/>
            </a:xfrm>
            <a:prstGeom prst="roundRect">
              <a:avLst>
                <a:gd name="adj" fmla="val 15378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⚡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24128" y="6163056"/>
            <a:ext cx="4736592" cy="640080"/>
            <a:chOff x="0" y="0"/>
            <a:chExt cx="6315456" cy="8534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315456" cy="853440"/>
            </a:xfrm>
            <a:custGeom>
              <a:avLst/>
              <a:gdLst/>
              <a:ahLst/>
              <a:cxnLst/>
              <a:rect r="r" b="b" t="t" l="l"/>
              <a:pathLst>
                <a:path h="853440" w="6315456">
                  <a:moveTo>
                    <a:pt x="0" y="0"/>
                  </a:moveTo>
                  <a:lnTo>
                    <a:pt x="6315456" y="0"/>
                  </a:lnTo>
                  <a:lnTo>
                    <a:pt x="6315456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6315456" cy="901065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Realtime Notifications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24128" y="6894576"/>
            <a:ext cx="4736592" cy="1280160"/>
            <a:chOff x="0" y="0"/>
            <a:chExt cx="6315456" cy="17068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315456" cy="1706880"/>
            </a:xfrm>
            <a:custGeom>
              <a:avLst/>
              <a:gdLst/>
              <a:ahLst/>
              <a:cxnLst/>
              <a:rect r="r" b="b" t="t" l="l"/>
              <a:pathLst>
                <a:path h="1706880" w="6315456">
                  <a:moveTo>
                    <a:pt x="0" y="0"/>
                  </a:moveTo>
                  <a:lnTo>
                    <a:pt x="6315456" y="0"/>
                  </a:lnTo>
                  <a:lnTo>
                    <a:pt x="6315456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94" r="0" b="-2209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6315456" cy="1744980"/>
            </a:xfrm>
            <a:prstGeom prst="roundRect">
              <a:avLst>
                <a:gd name="adj" fmla="val 8596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Supabase WebSocket channels push booking updates live. Admins see new requests instantly. Dealers see approvals without refreshing.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4581401" y="5312921"/>
            <a:ext cx="1261367" cy="456695"/>
            <a:chOff x="0" y="0"/>
            <a:chExt cx="1681823" cy="608927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681861" cy="608965"/>
            </a:xfrm>
            <a:custGeom>
              <a:avLst/>
              <a:gdLst/>
              <a:ahLst/>
              <a:cxnLst/>
              <a:rect r="r" b="b" t="t" l="l"/>
              <a:pathLst>
                <a:path h="608965" w="1681861">
                  <a:moveTo>
                    <a:pt x="0" y="253746"/>
                  </a:moveTo>
                  <a:cubicBezTo>
                    <a:pt x="0" y="113538"/>
                    <a:pt x="113538" y="0"/>
                    <a:pt x="253746" y="0"/>
                  </a:cubicBezTo>
                  <a:lnTo>
                    <a:pt x="1428115" y="0"/>
                  </a:lnTo>
                  <a:cubicBezTo>
                    <a:pt x="1568196" y="0"/>
                    <a:pt x="1681861" y="113538"/>
                    <a:pt x="1681861" y="253746"/>
                  </a:cubicBezTo>
                  <a:lnTo>
                    <a:pt x="1681861" y="355219"/>
                  </a:lnTo>
                  <a:cubicBezTo>
                    <a:pt x="1681861" y="495300"/>
                    <a:pt x="1568323" y="608965"/>
                    <a:pt x="1428115" y="608965"/>
                  </a:cubicBezTo>
                  <a:lnTo>
                    <a:pt x="253746" y="608965"/>
                  </a:lnTo>
                  <a:cubicBezTo>
                    <a:pt x="113538" y="608965"/>
                    <a:pt x="0" y="495300"/>
                    <a:pt x="0" y="355219"/>
                  </a:cubicBezTo>
                  <a:close/>
                </a:path>
              </a:pathLst>
            </a:custGeom>
            <a:solidFill>
              <a:srgbClr val="16A34A">
                <a:alpha val="1961"/>
              </a:srgbClr>
            </a:solidFill>
            <a:ln w="1778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4590288" y="5321808"/>
            <a:ext cx="1243584" cy="438912"/>
            <a:chOff x="0" y="0"/>
            <a:chExt cx="1658112" cy="58521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658112" cy="585216"/>
            </a:xfrm>
            <a:custGeom>
              <a:avLst/>
              <a:gdLst/>
              <a:ahLst/>
              <a:cxnLst/>
              <a:rect r="r" b="b" t="t" l="l"/>
              <a:pathLst>
                <a:path h="585216" w="1658112">
                  <a:moveTo>
                    <a:pt x="0" y="0"/>
                  </a:moveTo>
                  <a:lnTo>
                    <a:pt x="1658112" y="0"/>
                  </a:lnTo>
                  <a:lnTo>
                    <a:pt x="165811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1658112" cy="613791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Realtime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394447" y="5059423"/>
            <a:ext cx="5407657" cy="3670297"/>
            <a:chOff x="0" y="0"/>
            <a:chExt cx="7210209" cy="489372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210171" cy="4893691"/>
            </a:xfrm>
            <a:custGeom>
              <a:avLst/>
              <a:gdLst/>
              <a:ahLst/>
              <a:cxnLst/>
              <a:rect r="r" b="b" t="t" l="l"/>
              <a:pathLst>
                <a:path h="4893691" w="7210171">
                  <a:moveTo>
                    <a:pt x="0" y="0"/>
                  </a:moveTo>
                  <a:lnTo>
                    <a:pt x="7210171" y="0"/>
                  </a:lnTo>
                  <a:lnTo>
                    <a:pt x="7210171" y="4893691"/>
                  </a:lnTo>
                  <a:lnTo>
                    <a:pt x="0" y="489369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6729984" y="5340096"/>
            <a:ext cx="731520" cy="731520"/>
            <a:chOff x="0" y="0"/>
            <a:chExt cx="975360" cy="97536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76200"/>
              <a:ext cx="975360" cy="1051560"/>
            </a:xfrm>
            <a:prstGeom prst="roundRect">
              <a:avLst>
                <a:gd name="adj" fmla="val 15378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📸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6729984" y="6163056"/>
            <a:ext cx="4736592" cy="640080"/>
            <a:chOff x="0" y="0"/>
            <a:chExt cx="6315456" cy="8534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315456" cy="853440"/>
            </a:xfrm>
            <a:custGeom>
              <a:avLst/>
              <a:gdLst/>
              <a:ahLst/>
              <a:cxnLst/>
              <a:rect r="r" b="b" t="t" l="l"/>
              <a:pathLst>
                <a:path h="853440" w="6315456">
                  <a:moveTo>
                    <a:pt x="0" y="0"/>
                  </a:moveTo>
                  <a:lnTo>
                    <a:pt x="6315456" y="0"/>
                  </a:lnTo>
                  <a:lnTo>
                    <a:pt x="6315456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6315456" cy="901065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Pre-Trip Inspection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729984" y="6894576"/>
            <a:ext cx="4736592" cy="1280160"/>
            <a:chOff x="0" y="0"/>
            <a:chExt cx="6315456" cy="170688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315456" cy="1706880"/>
            </a:xfrm>
            <a:custGeom>
              <a:avLst/>
              <a:gdLst/>
              <a:ahLst/>
              <a:cxnLst/>
              <a:rect r="r" b="b" t="t" l="l"/>
              <a:pathLst>
                <a:path h="1706880" w="6315456">
                  <a:moveTo>
                    <a:pt x="0" y="0"/>
                  </a:moveTo>
                  <a:lnTo>
                    <a:pt x="6315456" y="0"/>
                  </a:lnTo>
                  <a:lnTo>
                    <a:pt x="6315456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94" r="0" b="-22094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6315456" cy="1744980"/>
            </a:xfrm>
            <a:prstGeom prst="roundRect">
              <a:avLst>
                <a:gd name="adj" fmla="val 8596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Digital checkout form with photo upload, odometer reading, fuel level, and body damage remarks. Vehicle auto-set to "rented".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0287257" y="5312921"/>
            <a:ext cx="1261367" cy="456695"/>
            <a:chOff x="0" y="0"/>
            <a:chExt cx="1681823" cy="608927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681861" cy="608965"/>
            </a:xfrm>
            <a:custGeom>
              <a:avLst/>
              <a:gdLst/>
              <a:ahLst/>
              <a:cxnLst/>
              <a:rect r="r" b="b" t="t" l="l"/>
              <a:pathLst>
                <a:path h="608965" w="1681861">
                  <a:moveTo>
                    <a:pt x="0" y="253746"/>
                  </a:moveTo>
                  <a:cubicBezTo>
                    <a:pt x="0" y="113538"/>
                    <a:pt x="113538" y="0"/>
                    <a:pt x="253746" y="0"/>
                  </a:cubicBezTo>
                  <a:lnTo>
                    <a:pt x="1428115" y="0"/>
                  </a:lnTo>
                  <a:cubicBezTo>
                    <a:pt x="1568196" y="0"/>
                    <a:pt x="1681861" y="113538"/>
                    <a:pt x="1681861" y="253746"/>
                  </a:cubicBezTo>
                  <a:lnTo>
                    <a:pt x="1681861" y="355219"/>
                  </a:lnTo>
                  <a:cubicBezTo>
                    <a:pt x="1681861" y="495300"/>
                    <a:pt x="1568323" y="608965"/>
                    <a:pt x="1428115" y="608965"/>
                  </a:cubicBezTo>
                  <a:lnTo>
                    <a:pt x="253746" y="608965"/>
                  </a:lnTo>
                  <a:cubicBezTo>
                    <a:pt x="113538" y="608965"/>
                    <a:pt x="0" y="495300"/>
                    <a:pt x="0" y="355219"/>
                  </a:cubicBezTo>
                  <a:close/>
                </a:path>
              </a:pathLst>
            </a:custGeom>
            <a:solidFill>
              <a:srgbClr val="EA580C">
                <a:alpha val="1961"/>
              </a:srgbClr>
            </a:solidFill>
            <a:ln w="17780" cap="sq">
              <a:solidFill>
                <a:srgbClr val="EA580C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10296144" y="5321808"/>
            <a:ext cx="1243584" cy="438912"/>
            <a:chOff x="0" y="0"/>
            <a:chExt cx="1658112" cy="58521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658112" cy="585216"/>
            </a:xfrm>
            <a:custGeom>
              <a:avLst/>
              <a:gdLst/>
              <a:ahLst/>
              <a:cxnLst/>
              <a:rect r="r" b="b" t="t" l="l"/>
              <a:pathLst>
                <a:path h="585216" w="1658112">
                  <a:moveTo>
                    <a:pt x="0" y="0"/>
                  </a:moveTo>
                  <a:lnTo>
                    <a:pt x="1658112" y="0"/>
                  </a:lnTo>
                  <a:lnTo>
                    <a:pt x="165811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28575"/>
              <a:ext cx="1658112" cy="613791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EA58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Operations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2100303" y="5059423"/>
            <a:ext cx="5407657" cy="3670297"/>
            <a:chOff x="0" y="0"/>
            <a:chExt cx="7210209" cy="4893729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210171" cy="4893691"/>
            </a:xfrm>
            <a:custGeom>
              <a:avLst/>
              <a:gdLst/>
              <a:ahLst/>
              <a:cxnLst/>
              <a:rect r="r" b="b" t="t" l="l"/>
              <a:pathLst>
                <a:path h="4893691" w="7210171">
                  <a:moveTo>
                    <a:pt x="0" y="0"/>
                  </a:moveTo>
                  <a:lnTo>
                    <a:pt x="7210171" y="0"/>
                  </a:lnTo>
                  <a:lnTo>
                    <a:pt x="7210171" y="4893691"/>
                  </a:lnTo>
                  <a:lnTo>
                    <a:pt x="0" y="489369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2435840" y="5340096"/>
            <a:ext cx="731520" cy="731520"/>
            <a:chOff x="0" y="0"/>
            <a:chExt cx="975360" cy="97536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76200"/>
              <a:ext cx="975360" cy="1051560"/>
            </a:xfrm>
            <a:prstGeom prst="roundRect">
              <a:avLst>
                <a:gd name="adj" fmla="val 15378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📅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435840" y="6163056"/>
            <a:ext cx="4736592" cy="640080"/>
            <a:chOff x="0" y="0"/>
            <a:chExt cx="6315456" cy="8534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315456" cy="853440"/>
            </a:xfrm>
            <a:custGeom>
              <a:avLst/>
              <a:gdLst/>
              <a:ahLst/>
              <a:cxnLst/>
              <a:rect r="r" b="b" t="t" l="l"/>
              <a:pathLst>
                <a:path h="853440" w="6315456">
                  <a:moveTo>
                    <a:pt x="0" y="0"/>
                  </a:moveTo>
                  <a:lnTo>
                    <a:pt x="6315456" y="0"/>
                  </a:lnTo>
                  <a:lnTo>
                    <a:pt x="6315456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6315456" cy="901065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Conflict-Free Availability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2435840" y="6894576"/>
            <a:ext cx="4736592" cy="1280160"/>
            <a:chOff x="0" y="0"/>
            <a:chExt cx="6315456" cy="170688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315456" cy="1706880"/>
            </a:xfrm>
            <a:custGeom>
              <a:avLst/>
              <a:gdLst/>
              <a:ahLst/>
              <a:cxnLst/>
              <a:rect r="r" b="b" t="t" l="l"/>
              <a:pathLst>
                <a:path h="1706880" w="6315456">
                  <a:moveTo>
                    <a:pt x="0" y="0"/>
                  </a:moveTo>
                  <a:lnTo>
                    <a:pt x="6315456" y="0"/>
                  </a:lnTo>
                  <a:lnTo>
                    <a:pt x="6315456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94" r="0" b="-22094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6315456" cy="1744980"/>
            </a:xfrm>
            <a:prstGeom prst="roundRect">
              <a:avLst>
                <a:gd name="adj" fmla="val 8596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Vehicle selection cross-checks all active booking windows against selected dates. A booked car simply doesn't appear in results.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5993113" y="5312921"/>
            <a:ext cx="1261367" cy="456695"/>
            <a:chOff x="0" y="0"/>
            <a:chExt cx="1681823" cy="608927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681861" cy="608965"/>
            </a:xfrm>
            <a:custGeom>
              <a:avLst/>
              <a:gdLst/>
              <a:ahLst/>
              <a:cxnLst/>
              <a:rect r="r" b="b" t="t" l="l"/>
              <a:pathLst>
                <a:path h="608965" w="1681861">
                  <a:moveTo>
                    <a:pt x="0" y="253746"/>
                  </a:moveTo>
                  <a:cubicBezTo>
                    <a:pt x="0" y="113538"/>
                    <a:pt x="113538" y="0"/>
                    <a:pt x="253746" y="0"/>
                  </a:cubicBezTo>
                  <a:lnTo>
                    <a:pt x="1428115" y="0"/>
                  </a:lnTo>
                  <a:cubicBezTo>
                    <a:pt x="1568196" y="0"/>
                    <a:pt x="1681861" y="113538"/>
                    <a:pt x="1681861" y="253746"/>
                  </a:cubicBezTo>
                  <a:lnTo>
                    <a:pt x="1681861" y="355219"/>
                  </a:lnTo>
                  <a:cubicBezTo>
                    <a:pt x="1681861" y="495300"/>
                    <a:pt x="1568323" y="608965"/>
                    <a:pt x="1428115" y="608965"/>
                  </a:cubicBezTo>
                  <a:lnTo>
                    <a:pt x="253746" y="608965"/>
                  </a:lnTo>
                  <a:cubicBezTo>
                    <a:pt x="113538" y="608965"/>
                    <a:pt x="0" y="495300"/>
                    <a:pt x="0" y="355219"/>
                  </a:cubicBezTo>
                  <a:close/>
                </a:path>
              </a:pathLst>
            </a:custGeom>
            <a:solidFill>
              <a:srgbClr val="2563EB">
                <a:alpha val="1961"/>
              </a:srgbClr>
            </a:solidFill>
            <a:ln w="1778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103" id="103"/>
          <p:cNvGrpSpPr/>
          <p:nvPr/>
        </p:nvGrpSpPr>
        <p:grpSpPr>
          <a:xfrm rot="0">
            <a:off x="16002000" y="5321808"/>
            <a:ext cx="1243584" cy="438912"/>
            <a:chOff x="0" y="0"/>
            <a:chExt cx="1658112" cy="585216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658112" cy="585216"/>
            </a:xfrm>
            <a:custGeom>
              <a:avLst/>
              <a:gdLst/>
              <a:ahLst/>
              <a:cxnLst/>
              <a:rect r="r" b="b" t="t" l="l"/>
              <a:pathLst>
                <a:path h="585216" w="1658112">
                  <a:moveTo>
                    <a:pt x="0" y="0"/>
                  </a:moveTo>
                  <a:lnTo>
                    <a:pt x="1658112" y="0"/>
                  </a:lnTo>
                  <a:lnTo>
                    <a:pt x="165811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28575"/>
              <a:ext cx="1658112" cy="613791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Logic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0" y="9784080"/>
            <a:ext cx="18288000" cy="512064"/>
            <a:chOff x="0" y="0"/>
            <a:chExt cx="24384000" cy="68275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438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5894" r="0" b="-645894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28575"/>
              <a:ext cx="2438400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9AA6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Tej Prakash  ·  Harsimran Kaur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8300697" cy="1018537"/>
            <a:chOff x="0" y="0"/>
            <a:chExt cx="24400929" cy="13580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0890" cy="1358011"/>
            </a:xfrm>
            <a:custGeom>
              <a:avLst/>
              <a:gdLst/>
              <a:ahLst/>
              <a:cxnLst/>
              <a:rect r="r" b="b" t="t" l="l"/>
              <a:pathLst>
                <a:path h="1358011" w="24400890">
                  <a:moveTo>
                    <a:pt x="0" y="0"/>
                  </a:moveTo>
                  <a:lnTo>
                    <a:pt x="24400890" y="0"/>
                  </a:lnTo>
                  <a:lnTo>
                    <a:pt x="24400890" y="1358011"/>
                  </a:lnTo>
                  <a:lnTo>
                    <a:pt x="0" y="1358011"/>
                  </a:lnTo>
                  <a:close/>
                </a:path>
              </a:pathLst>
            </a:custGeom>
            <a:solidFill>
              <a:srgbClr val="EEF2F9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146304"/>
            <a:ext cx="1645920" cy="694944"/>
            <a:chOff x="0" y="0"/>
            <a:chExt cx="2194560" cy="9265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72" t="0" r="-4172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" cy="964692"/>
            </a:xfrm>
            <a:prstGeom prst="roundRect">
              <a:avLst>
                <a:gd name="adj" fmla="val 15549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 / 13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377440" y="146304"/>
            <a:ext cx="12801600" cy="694944"/>
            <a:chOff x="0" y="0"/>
            <a:chExt cx="17068800" cy="9265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934" r="0" b="-30893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7068800" cy="983742"/>
            </a:xfrm>
            <a:prstGeom prst="roundRect">
              <a:avLst>
                <a:gd name="adj" fmla="val 15247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Dual Payment Architecture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3727" y="1182367"/>
            <a:ext cx="8333737" cy="8059417"/>
            <a:chOff x="0" y="0"/>
            <a:chExt cx="11111649" cy="107458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111611" cy="10745851"/>
            </a:xfrm>
            <a:custGeom>
              <a:avLst/>
              <a:gdLst/>
              <a:ahLst/>
              <a:cxnLst/>
              <a:rect r="r" b="b" t="t" l="l"/>
              <a:pathLst>
                <a:path h="10745851" w="11111611">
                  <a:moveTo>
                    <a:pt x="0" y="0"/>
                  </a:moveTo>
                  <a:lnTo>
                    <a:pt x="11111611" y="0"/>
                  </a:lnTo>
                  <a:lnTo>
                    <a:pt x="11111611" y="10745851"/>
                  </a:lnTo>
                  <a:lnTo>
                    <a:pt x="0" y="1074585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1316736"/>
            <a:ext cx="7680960" cy="640080"/>
            <a:chOff x="0" y="0"/>
            <a:chExt cx="10241280" cy="853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241280" cy="901065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💳  Online — Cashfree Gateway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01703" y="2035559"/>
            <a:ext cx="7797803" cy="61979"/>
            <a:chOff x="0" y="0"/>
            <a:chExt cx="10397071" cy="8263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397109" cy="82677"/>
            </a:xfrm>
            <a:custGeom>
              <a:avLst/>
              <a:gdLst/>
              <a:ahLst/>
              <a:cxnLst/>
              <a:rect r="r" b="b" t="t" l="l"/>
              <a:pathLst>
                <a:path h="82677" w="10397109">
                  <a:moveTo>
                    <a:pt x="0" y="0"/>
                  </a:moveTo>
                  <a:lnTo>
                    <a:pt x="10397109" y="0"/>
                  </a:lnTo>
                  <a:lnTo>
                    <a:pt x="10397109" y="82677"/>
                  </a:lnTo>
                  <a:lnTo>
                    <a:pt x="0" y="82677"/>
                  </a:lnTo>
                  <a:close/>
                </a:path>
              </a:pathLst>
            </a:custGeom>
            <a:solidFill>
              <a:srgbClr val="DCE4F0"/>
            </a:solidFill>
            <a:ln w="254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40813" y="2220973"/>
            <a:ext cx="532381" cy="532381"/>
            <a:chOff x="0" y="0"/>
            <a:chExt cx="709841" cy="7098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9803" cy="709803"/>
            </a:xfrm>
            <a:custGeom>
              <a:avLst/>
              <a:gdLst/>
              <a:ahLst/>
              <a:cxnLst/>
              <a:rect r="r" b="b" t="t" l="l"/>
              <a:pathLst>
                <a:path h="709803" w="709803">
                  <a:moveTo>
                    <a:pt x="0" y="354965"/>
                  </a:moveTo>
                  <a:cubicBezTo>
                    <a:pt x="0" y="158877"/>
                    <a:pt x="158877" y="0"/>
                    <a:pt x="354965" y="0"/>
                  </a:cubicBezTo>
                  <a:cubicBezTo>
                    <a:pt x="551053" y="0"/>
                    <a:pt x="709803" y="158877"/>
                    <a:pt x="709803" y="354965"/>
                  </a:cubicBezTo>
                  <a:cubicBezTo>
                    <a:pt x="709803" y="551053"/>
                    <a:pt x="550926" y="709803"/>
                    <a:pt x="354965" y="709803"/>
                  </a:cubicBezTo>
                  <a:cubicBezTo>
                    <a:pt x="159004" y="709803"/>
                    <a:pt x="0" y="550926"/>
                    <a:pt x="0" y="354965"/>
                  </a:cubicBezTo>
                  <a:close/>
                </a:path>
              </a:pathLst>
            </a:custGeom>
            <a:solidFill>
              <a:srgbClr val="DB2777">
                <a:alpha val="3137"/>
              </a:srgbClr>
            </a:solidFill>
            <a:ln w="20320" cap="sq">
              <a:solidFill>
                <a:srgbClr val="DB2777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50976" y="2231136"/>
            <a:ext cx="512064" cy="512064"/>
            <a:chOff x="0" y="0"/>
            <a:chExt cx="682752" cy="6827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682752" cy="711327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DB277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09344" y="2194560"/>
            <a:ext cx="7132320" cy="950976"/>
            <a:chOff x="0" y="0"/>
            <a:chExt cx="9509760" cy="12679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5097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509760" cy="1306068"/>
            </a:xfrm>
            <a:prstGeom prst="roundRect">
              <a:avLst>
                <a:gd name="adj" fmla="val 11484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Dealer clicks Pay Online — booking must be Admin-approved first.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40813" y="3354829"/>
            <a:ext cx="532381" cy="532381"/>
            <a:chOff x="0" y="0"/>
            <a:chExt cx="709841" cy="70984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9803" cy="709803"/>
            </a:xfrm>
            <a:custGeom>
              <a:avLst/>
              <a:gdLst/>
              <a:ahLst/>
              <a:cxnLst/>
              <a:rect r="r" b="b" t="t" l="l"/>
              <a:pathLst>
                <a:path h="709803" w="709803">
                  <a:moveTo>
                    <a:pt x="0" y="354965"/>
                  </a:moveTo>
                  <a:cubicBezTo>
                    <a:pt x="0" y="158877"/>
                    <a:pt x="158877" y="0"/>
                    <a:pt x="354965" y="0"/>
                  </a:cubicBezTo>
                  <a:cubicBezTo>
                    <a:pt x="551053" y="0"/>
                    <a:pt x="709803" y="158877"/>
                    <a:pt x="709803" y="354965"/>
                  </a:cubicBezTo>
                  <a:cubicBezTo>
                    <a:pt x="709803" y="551053"/>
                    <a:pt x="550926" y="709803"/>
                    <a:pt x="354965" y="709803"/>
                  </a:cubicBezTo>
                  <a:cubicBezTo>
                    <a:pt x="159004" y="709803"/>
                    <a:pt x="0" y="550926"/>
                    <a:pt x="0" y="354965"/>
                  </a:cubicBezTo>
                  <a:close/>
                </a:path>
              </a:pathLst>
            </a:custGeom>
            <a:solidFill>
              <a:srgbClr val="DB2777">
                <a:alpha val="3137"/>
              </a:srgbClr>
            </a:solidFill>
            <a:ln w="20320" cap="sq">
              <a:solidFill>
                <a:srgbClr val="DB2777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50976" y="3364992"/>
            <a:ext cx="512064" cy="512064"/>
            <a:chOff x="0" y="0"/>
            <a:chExt cx="682752" cy="6827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682752" cy="711327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DB277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09344" y="3328416"/>
            <a:ext cx="7132320" cy="950976"/>
            <a:chOff x="0" y="0"/>
            <a:chExt cx="9509760" cy="126796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5097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9509760" cy="1306068"/>
            </a:xfrm>
            <a:prstGeom prst="roundRect">
              <a:avLst>
                <a:gd name="adj" fmla="val 11484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Angular calls createCashfreeOrder() → Vercel serverless → Cashfree API returns session ID.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40813" y="4488685"/>
            <a:ext cx="532381" cy="532381"/>
            <a:chOff x="0" y="0"/>
            <a:chExt cx="709841" cy="70984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09803" cy="709803"/>
            </a:xfrm>
            <a:custGeom>
              <a:avLst/>
              <a:gdLst/>
              <a:ahLst/>
              <a:cxnLst/>
              <a:rect r="r" b="b" t="t" l="l"/>
              <a:pathLst>
                <a:path h="709803" w="709803">
                  <a:moveTo>
                    <a:pt x="0" y="354965"/>
                  </a:moveTo>
                  <a:cubicBezTo>
                    <a:pt x="0" y="158877"/>
                    <a:pt x="158877" y="0"/>
                    <a:pt x="354965" y="0"/>
                  </a:cubicBezTo>
                  <a:cubicBezTo>
                    <a:pt x="551053" y="0"/>
                    <a:pt x="709803" y="158877"/>
                    <a:pt x="709803" y="354965"/>
                  </a:cubicBezTo>
                  <a:cubicBezTo>
                    <a:pt x="709803" y="551053"/>
                    <a:pt x="550926" y="709803"/>
                    <a:pt x="354965" y="709803"/>
                  </a:cubicBezTo>
                  <a:cubicBezTo>
                    <a:pt x="159004" y="709803"/>
                    <a:pt x="0" y="550926"/>
                    <a:pt x="0" y="354965"/>
                  </a:cubicBezTo>
                  <a:close/>
                </a:path>
              </a:pathLst>
            </a:custGeom>
            <a:solidFill>
              <a:srgbClr val="DB2777">
                <a:alpha val="3137"/>
              </a:srgbClr>
            </a:solidFill>
            <a:ln w="20320" cap="sq">
              <a:solidFill>
                <a:srgbClr val="DB2777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50976" y="4498848"/>
            <a:ext cx="512064" cy="512064"/>
            <a:chOff x="0" y="0"/>
            <a:chExt cx="682752" cy="6827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682752" cy="711327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DB277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609344" y="4462272"/>
            <a:ext cx="7132320" cy="950976"/>
            <a:chOff x="0" y="0"/>
            <a:chExt cx="9509760" cy="126796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5097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9509760" cy="1306068"/>
            </a:xfrm>
            <a:prstGeom prst="roundRect">
              <a:avLst>
                <a:gd name="adj" fmla="val 11484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Payment record inserted via insert_payment_record RPC (SECURITY DEFINER).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40813" y="5622541"/>
            <a:ext cx="532381" cy="532381"/>
            <a:chOff x="0" y="0"/>
            <a:chExt cx="709841" cy="70984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09803" cy="709803"/>
            </a:xfrm>
            <a:custGeom>
              <a:avLst/>
              <a:gdLst/>
              <a:ahLst/>
              <a:cxnLst/>
              <a:rect r="r" b="b" t="t" l="l"/>
              <a:pathLst>
                <a:path h="709803" w="709803">
                  <a:moveTo>
                    <a:pt x="0" y="354965"/>
                  </a:moveTo>
                  <a:cubicBezTo>
                    <a:pt x="0" y="158877"/>
                    <a:pt x="158877" y="0"/>
                    <a:pt x="354965" y="0"/>
                  </a:cubicBezTo>
                  <a:cubicBezTo>
                    <a:pt x="551053" y="0"/>
                    <a:pt x="709803" y="158877"/>
                    <a:pt x="709803" y="354965"/>
                  </a:cubicBezTo>
                  <a:cubicBezTo>
                    <a:pt x="709803" y="551053"/>
                    <a:pt x="550926" y="709803"/>
                    <a:pt x="354965" y="709803"/>
                  </a:cubicBezTo>
                  <a:cubicBezTo>
                    <a:pt x="159004" y="709803"/>
                    <a:pt x="0" y="550926"/>
                    <a:pt x="0" y="354965"/>
                  </a:cubicBezTo>
                  <a:close/>
                </a:path>
              </a:pathLst>
            </a:custGeom>
            <a:solidFill>
              <a:srgbClr val="DB2777">
                <a:alpha val="3137"/>
              </a:srgbClr>
            </a:solidFill>
            <a:ln w="20320" cap="sq">
              <a:solidFill>
                <a:srgbClr val="DB2777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950976" y="5632704"/>
            <a:ext cx="512064" cy="512064"/>
            <a:chOff x="0" y="0"/>
            <a:chExt cx="682752" cy="68275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682752" cy="711327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DB277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609344" y="5596128"/>
            <a:ext cx="7132320" cy="950976"/>
            <a:chOff x="0" y="0"/>
            <a:chExt cx="9509760" cy="126796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5097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9509760" cy="1306068"/>
            </a:xfrm>
            <a:prstGeom prst="roundRect">
              <a:avLst>
                <a:gd name="adj" fmla="val 11484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Cashfree SDK overlay opens. Customer pays via UPI / Card / Net Banking.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40813" y="6756397"/>
            <a:ext cx="532381" cy="532381"/>
            <a:chOff x="0" y="0"/>
            <a:chExt cx="709841" cy="70984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09803" cy="709803"/>
            </a:xfrm>
            <a:custGeom>
              <a:avLst/>
              <a:gdLst/>
              <a:ahLst/>
              <a:cxnLst/>
              <a:rect r="r" b="b" t="t" l="l"/>
              <a:pathLst>
                <a:path h="709803" w="709803">
                  <a:moveTo>
                    <a:pt x="0" y="354965"/>
                  </a:moveTo>
                  <a:cubicBezTo>
                    <a:pt x="0" y="158877"/>
                    <a:pt x="158877" y="0"/>
                    <a:pt x="354965" y="0"/>
                  </a:cubicBezTo>
                  <a:cubicBezTo>
                    <a:pt x="551053" y="0"/>
                    <a:pt x="709803" y="158877"/>
                    <a:pt x="709803" y="354965"/>
                  </a:cubicBezTo>
                  <a:cubicBezTo>
                    <a:pt x="709803" y="551053"/>
                    <a:pt x="550926" y="709803"/>
                    <a:pt x="354965" y="709803"/>
                  </a:cubicBezTo>
                  <a:cubicBezTo>
                    <a:pt x="159004" y="709803"/>
                    <a:pt x="0" y="550926"/>
                    <a:pt x="0" y="354965"/>
                  </a:cubicBezTo>
                  <a:close/>
                </a:path>
              </a:pathLst>
            </a:custGeom>
            <a:solidFill>
              <a:srgbClr val="DB2777">
                <a:alpha val="3137"/>
              </a:srgbClr>
            </a:solidFill>
            <a:ln w="20320" cap="sq">
              <a:solidFill>
                <a:srgbClr val="DB2777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950976" y="6766560"/>
            <a:ext cx="512064" cy="512064"/>
            <a:chOff x="0" y="0"/>
            <a:chExt cx="682752" cy="68275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682752" cy="711327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DB277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609344" y="6729984"/>
            <a:ext cx="7132320" cy="950976"/>
            <a:chOff x="0" y="0"/>
            <a:chExt cx="9509760" cy="126796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5097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9509760" cy="1306068"/>
            </a:xfrm>
            <a:prstGeom prst="roundRect">
              <a:avLst>
                <a:gd name="adj" fmla="val 11484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 SDK success → booking activated → navigate to inspection form.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320527" y="1182367"/>
            <a:ext cx="8333737" cy="8059417"/>
            <a:chOff x="0" y="0"/>
            <a:chExt cx="11111649" cy="1074588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111611" cy="10745851"/>
            </a:xfrm>
            <a:custGeom>
              <a:avLst/>
              <a:gdLst/>
              <a:ahLst/>
              <a:cxnLst/>
              <a:rect r="r" b="b" t="t" l="l"/>
              <a:pathLst>
                <a:path h="10745851" w="11111611">
                  <a:moveTo>
                    <a:pt x="0" y="0"/>
                  </a:moveTo>
                  <a:lnTo>
                    <a:pt x="11111611" y="0"/>
                  </a:lnTo>
                  <a:lnTo>
                    <a:pt x="11111611" y="10745851"/>
                  </a:lnTo>
                  <a:lnTo>
                    <a:pt x="0" y="1074585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9601200" y="1316736"/>
            <a:ext cx="7680960" cy="640080"/>
            <a:chOff x="0" y="0"/>
            <a:chExt cx="10241280" cy="8534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0241280" cy="901065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💵  Offline — Cash Collection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588503" y="2035559"/>
            <a:ext cx="7797803" cy="61979"/>
            <a:chOff x="0" y="0"/>
            <a:chExt cx="10397071" cy="8263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397109" cy="82677"/>
            </a:xfrm>
            <a:custGeom>
              <a:avLst/>
              <a:gdLst/>
              <a:ahLst/>
              <a:cxnLst/>
              <a:rect r="r" b="b" t="t" l="l"/>
              <a:pathLst>
                <a:path h="82677" w="10397109">
                  <a:moveTo>
                    <a:pt x="0" y="0"/>
                  </a:moveTo>
                  <a:lnTo>
                    <a:pt x="10397109" y="0"/>
                  </a:lnTo>
                  <a:lnTo>
                    <a:pt x="10397109" y="82677"/>
                  </a:lnTo>
                  <a:lnTo>
                    <a:pt x="0" y="82677"/>
                  </a:lnTo>
                  <a:close/>
                </a:path>
              </a:pathLst>
            </a:custGeom>
            <a:solidFill>
              <a:srgbClr val="DCE4F0"/>
            </a:solidFill>
            <a:ln w="254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9601200" y="2157984"/>
            <a:ext cx="7680960" cy="585216"/>
            <a:chOff x="0" y="0"/>
            <a:chExt cx="10241280" cy="78028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241280" cy="780288"/>
            </a:xfrm>
            <a:custGeom>
              <a:avLst/>
              <a:gdLst/>
              <a:ahLst/>
              <a:cxnLst/>
              <a:rect r="r" b="b" t="t" l="l"/>
              <a:pathLst>
                <a:path h="7802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0241280" cy="818388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Cash can be collected at two points in the flow: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592313" y="2880617"/>
            <a:ext cx="7790183" cy="2212343"/>
            <a:chOff x="0" y="0"/>
            <a:chExt cx="10386911" cy="294979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386949" cy="2949829"/>
            </a:xfrm>
            <a:custGeom>
              <a:avLst/>
              <a:gdLst/>
              <a:ahLst/>
              <a:cxnLst/>
              <a:rect r="r" b="b" t="t" l="l"/>
              <a:pathLst>
                <a:path h="2949829" w="10386949">
                  <a:moveTo>
                    <a:pt x="0" y="0"/>
                  </a:moveTo>
                  <a:lnTo>
                    <a:pt x="10386949" y="0"/>
                  </a:lnTo>
                  <a:lnTo>
                    <a:pt x="10386949" y="2949829"/>
                  </a:lnTo>
                  <a:lnTo>
                    <a:pt x="0" y="2949829"/>
                  </a:lnTo>
                  <a:close/>
                </a:path>
              </a:pathLst>
            </a:custGeom>
            <a:solidFill>
              <a:srgbClr val="D97706">
                <a:alpha val="0"/>
              </a:srgbClr>
            </a:solidFill>
            <a:ln w="1778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9838944" y="2962656"/>
            <a:ext cx="7315200" cy="475488"/>
            <a:chOff x="0" y="0"/>
            <a:chExt cx="9753600" cy="63398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753600" cy="633984"/>
            </a:xfrm>
            <a:custGeom>
              <a:avLst/>
              <a:gdLst/>
              <a:ahLst/>
              <a:cxnLst/>
              <a:rect r="r" b="b" t="t" l="l"/>
              <a:pathLst>
                <a:path h="63398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9769" r="0" b="-249769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9753600" cy="672084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PATH A — Before approval (wizard Step 5)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838944" y="3474720"/>
            <a:ext cx="7315200" cy="1371600"/>
            <a:chOff x="0" y="0"/>
            <a:chExt cx="9753600" cy="18288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753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9753600" cy="1866900"/>
            </a:xfrm>
            <a:prstGeom prst="roundRect">
              <a:avLst>
                <a:gd name="adj" fmla="val 8034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Dealer collects cash → payment row inserted → booking submitted → Admin approves → system detects existing paid row → auto-activates booking.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592313" y="5294633"/>
            <a:ext cx="7790183" cy="2212343"/>
            <a:chOff x="0" y="0"/>
            <a:chExt cx="10386911" cy="294979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386949" cy="2949829"/>
            </a:xfrm>
            <a:custGeom>
              <a:avLst/>
              <a:gdLst/>
              <a:ahLst/>
              <a:cxnLst/>
              <a:rect r="r" b="b" t="t" l="l"/>
              <a:pathLst>
                <a:path h="2949829" w="10386949">
                  <a:moveTo>
                    <a:pt x="0" y="0"/>
                  </a:moveTo>
                  <a:lnTo>
                    <a:pt x="10386949" y="0"/>
                  </a:lnTo>
                  <a:lnTo>
                    <a:pt x="10386949" y="2949829"/>
                  </a:lnTo>
                  <a:lnTo>
                    <a:pt x="0" y="2949829"/>
                  </a:lnTo>
                  <a:close/>
                </a:path>
              </a:pathLst>
            </a:custGeom>
            <a:solidFill>
              <a:srgbClr val="16A34A">
                <a:alpha val="0"/>
              </a:srgbClr>
            </a:solidFill>
            <a:ln w="1778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9838944" y="5376672"/>
            <a:ext cx="7315200" cy="475488"/>
            <a:chOff x="0" y="0"/>
            <a:chExt cx="9753600" cy="63398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753600" cy="633984"/>
            </a:xfrm>
            <a:custGeom>
              <a:avLst/>
              <a:gdLst/>
              <a:ahLst/>
              <a:cxnLst/>
              <a:rect r="r" b="b" t="t" l="l"/>
              <a:pathLst>
                <a:path h="63398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9769" r="0" b="-24976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9753600" cy="672084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PATH B — After approval (payment page)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838944" y="5888736"/>
            <a:ext cx="7315200" cy="1371600"/>
            <a:chOff x="0" y="0"/>
            <a:chExt cx="9753600" cy="18288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753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9753600" cy="1866900"/>
            </a:xfrm>
            <a:prstGeom prst="roundRect">
              <a:avLst>
                <a:gd name="adj" fmla="val 8034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Booking approved → dealer collects cash → recordOfflineAdvancePayment() → markBookingInService() → navigate to inspection.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601200" y="7717536"/>
            <a:ext cx="7772400" cy="640080"/>
            <a:chOff x="0" y="0"/>
            <a:chExt cx="10363200" cy="8534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363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6604" r="0" b="-186604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10363200" cy="891540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AA6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Security note: server-side Cashfree verification endpoint is planned for v2.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0" y="9784080"/>
            <a:ext cx="18288000" cy="512064"/>
            <a:chOff x="0" y="0"/>
            <a:chExt cx="24384000" cy="68275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438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5894" r="0" b="-645894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28575"/>
              <a:ext cx="2438400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9AA6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Tej Prakash  ·  Harsimran Kaur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8300697" cy="1018537"/>
            <a:chOff x="0" y="0"/>
            <a:chExt cx="24400929" cy="13580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0890" cy="1358011"/>
            </a:xfrm>
            <a:custGeom>
              <a:avLst/>
              <a:gdLst/>
              <a:ahLst/>
              <a:cxnLst/>
              <a:rect r="r" b="b" t="t" l="l"/>
              <a:pathLst>
                <a:path h="1358011" w="24400890">
                  <a:moveTo>
                    <a:pt x="0" y="0"/>
                  </a:moveTo>
                  <a:lnTo>
                    <a:pt x="24400890" y="0"/>
                  </a:lnTo>
                  <a:lnTo>
                    <a:pt x="24400890" y="1358011"/>
                  </a:lnTo>
                  <a:lnTo>
                    <a:pt x="0" y="1358011"/>
                  </a:lnTo>
                  <a:close/>
                </a:path>
              </a:pathLst>
            </a:custGeom>
            <a:solidFill>
              <a:srgbClr val="EEF2F9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146304"/>
            <a:ext cx="1645920" cy="694944"/>
            <a:chOff x="0" y="0"/>
            <a:chExt cx="2194560" cy="9265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72" t="0" r="-4172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" cy="964692"/>
            </a:xfrm>
            <a:prstGeom prst="roundRect">
              <a:avLst>
                <a:gd name="adj" fmla="val 15549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 / 13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377440" y="146304"/>
            <a:ext cx="12801600" cy="694944"/>
            <a:chOff x="0" y="0"/>
            <a:chExt cx="17068800" cy="9265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934" r="0" b="-30893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7068800" cy="983742"/>
            </a:xfrm>
            <a:prstGeom prst="roundRect">
              <a:avLst>
                <a:gd name="adj" fmla="val 15247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 Design — 12 Tables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05711" y="1182367"/>
            <a:ext cx="4218937" cy="2664457"/>
            <a:chOff x="0" y="0"/>
            <a:chExt cx="5625249" cy="35526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625211" cy="3552571"/>
            </a:xfrm>
            <a:custGeom>
              <a:avLst/>
              <a:gdLst/>
              <a:ahLst/>
              <a:cxnLst/>
              <a:rect r="r" b="b" t="t" l="l"/>
              <a:pathLst>
                <a:path h="3552571" w="5625211">
                  <a:moveTo>
                    <a:pt x="0" y="0"/>
                  </a:moveTo>
                  <a:lnTo>
                    <a:pt x="5625211" y="0"/>
                  </a:lnTo>
                  <a:lnTo>
                    <a:pt x="5625211" y="3552571"/>
                  </a:lnTo>
                  <a:lnTo>
                    <a:pt x="0" y="35525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731520" y="1371600"/>
            <a:ext cx="3767328" cy="548640"/>
            <a:chOff x="0" y="0"/>
            <a:chExt cx="5023104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23104" cy="731520"/>
            </a:xfrm>
            <a:custGeom>
              <a:avLst/>
              <a:gdLst/>
              <a:ahLst/>
              <a:cxnLst/>
              <a:rect r="r" b="b" t="t" l="l"/>
              <a:pathLst>
                <a:path h="731520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797" r="0" b="-8379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5023104" cy="779145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bookings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31520" y="1956816"/>
            <a:ext cx="3767328" cy="1188720"/>
            <a:chOff x="0" y="0"/>
            <a:chExt cx="5023104" cy="1584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23104" cy="1584960"/>
            </a:xfrm>
            <a:custGeom>
              <a:avLst/>
              <a:gdLst/>
              <a:ahLst/>
              <a:cxnLst/>
              <a:rect r="r" b="b" t="t" l="l"/>
              <a:pathLst>
                <a:path h="1584960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52" r="0" b="-1175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023104" cy="1623060"/>
            </a:xfrm>
            <a:prstGeom prst="roundRect">
              <a:avLst>
                <a:gd name="adj" fmla="val 9241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Central record. Every other table relates back to this one.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23900" y="3192780"/>
            <a:ext cx="1386840" cy="417576"/>
            <a:chOff x="0" y="0"/>
            <a:chExt cx="1849120" cy="5567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49120" cy="556768"/>
            </a:xfrm>
            <a:custGeom>
              <a:avLst/>
              <a:gdLst/>
              <a:ahLst/>
              <a:cxnLst/>
              <a:rect r="r" b="b" t="t" l="l"/>
              <a:pathLst>
                <a:path h="556768" w="1849120">
                  <a:moveTo>
                    <a:pt x="0" y="151892"/>
                  </a:moveTo>
                  <a:cubicBezTo>
                    <a:pt x="0" y="67945"/>
                    <a:pt x="67945" y="0"/>
                    <a:pt x="151892" y="0"/>
                  </a:cubicBezTo>
                  <a:lnTo>
                    <a:pt x="1697228" y="0"/>
                  </a:lnTo>
                  <a:cubicBezTo>
                    <a:pt x="1781048" y="0"/>
                    <a:pt x="1849120" y="67945"/>
                    <a:pt x="1849120" y="151892"/>
                  </a:cubicBezTo>
                  <a:lnTo>
                    <a:pt x="1849120" y="404876"/>
                  </a:lnTo>
                  <a:cubicBezTo>
                    <a:pt x="1849120" y="488696"/>
                    <a:pt x="1781175" y="556768"/>
                    <a:pt x="1697228" y="556768"/>
                  </a:cubicBezTo>
                  <a:lnTo>
                    <a:pt x="151892" y="556768"/>
                  </a:lnTo>
                  <a:cubicBezTo>
                    <a:pt x="67945" y="556768"/>
                    <a:pt x="0" y="488823"/>
                    <a:pt x="0" y="404876"/>
                  </a:cubicBezTo>
                  <a:close/>
                </a:path>
              </a:pathLst>
            </a:custGeom>
            <a:solidFill>
              <a:srgbClr val="0D9488">
                <a:alpha val="1569"/>
              </a:srgbClr>
            </a:solidFill>
            <a:ln w="1524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731520" y="3200400"/>
            <a:ext cx="1371600" cy="402336"/>
            <a:chOff x="0" y="0"/>
            <a:chExt cx="1828800" cy="5364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28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828800" cy="565023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 readers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86940" y="3192780"/>
            <a:ext cx="1386840" cy="417576"/>
            <a:chOff x="0" y="0"/>
            <a:chExt cx="1849120" cy="5567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49120" cy="556768"/>
            </a:xfrm>
            <a:custGeom>
              <a:avLst/>
              <a:gdLst/>
              <a:ahLst/>
              <a:cxnLst/>
              <a:rect r="r" b="b" t="t" l="l"/>
              <a:pathLst>
                <a:path h="556768" w="1849120">
                  <a:moveTo>
                    <a:pt x="0" y="151892"/>
                  </a:moveTo>
                  <a:cubicBezTo>
                    <a:pt x="0" y="67945"/>
                    <a:pt x="67945" y="0"/>
                    <a:pt x="151892" y="0"/>
                  </a:cubicBezTo>
                  <a:lnTo>
                    <a:pt x="1697228" y="0"/>
                  </a:lnTo>
                  <a:cubicBezTo>
                    <a:pt x="1781048" y="0"/>
                    <a:pt x="1849120" y="67945"/>
                    <a:pt x="1849120" y="151892"/>
                  </a:cubicBezTo>
                  <a:lnTo>
                    <a:pt x="1849120" y="404876"/>
                  </a:lnTo>
                  <a:cubicBezTo>
                    <a:pt x="1849120" y="488696"/>
                    <a:pt x="1781175" y="556768"/>
                    <a:pt x="1697228" y="556768"/>
                  </a:cubicBezTo>
                  <a:lnTo>
                    <a:pt x="151892" y="556768"/>
                  </a:lnTo>
                  <a:cubicBezTo>
                    <a:pt x="67945" y="556768"/>
                    <a:pt x="0" y="488823"/>
                    <a:pt x="0" y="404876"/>
                  </a:cubicBezTo>
                  <a:close/>
                </a:path>
              </a:pathLst>
            </a:custGeom>
            <a:solidFill>
              <a:srgbClr val="EA580C">
                <a:alpha val="1569"/>
              </a:srgbClr>
            </a:solidFill>
            <a:ln w="15240" cap="sq">
              <a:solidFill>
                <a:srgbClr val="EA580C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2194560" y="3200400"/>
            <a:ext cx="1371600" cy="402336"/>
            <a:chOff x="0" y="0"/>
            <a:chExt cx="1828800" cy="53644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28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828800" cy="565023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EA58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 writers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894831" y="1182367"/>
            <a:ext cx="4218937" cy="2664457"/>
            <a:chOff x="0" y="0"/>
            <a:chExt cx="5625249" cy="355260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625211" cy="3552571"/>
            </a:xfrm>
            <a:custGeom>
              <a:avLst/>
              <a:gdLst/>
              <a:ahLst/>
              <a:cxnLst/>
              <a:rect r="r" b="b" t="t" l="l"/>
              <a:pathLst>
                <a:path h="3552571" w="5625211">
                  <a:moveTo>
                    <a:pt x="0" y="0"/>
                  </a:moveTo>
                  <a:lnTo>
                    <a:pt x="5625211" y="0"/>
                  </a:lnTo>
                  <a:lnTo>
                    <a:pt x="5625211" y="3552571"/>
                  </a:lnTo>
                  <a:lnTo>
                    <a:pt x="0" y="35525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5120640" y="1371600"/>
            <a:ext cx="3767328" cy="548640"/>
            <a:chOff x="0" y="0"/>
            <a:chExt cx="5023104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023104" cy="731520"/>
            </a:xfrm>
            <a:custGeom>
              <a:avLst/>
              <a:gdLst/>
              <a:ahLst/>
              <a:cxnLst/>
              <a:rect r="r" b="b" t="t" l="l"/>
              <a:pathLst>
                <a:path h="731520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797" r="0" b="-8379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5023104" cy="779145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customers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120640" y="1956816"/>
            <a:ext cx="3767328" cy="1188720"/>
            <a:chOff x="0" y="0"/>
            <a:chExt cx="5023104" cy="15849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023104" cy="1584960"/>
            </a:xfrm>
            <a:custGeom>
              <a:avLst/>
              <a:gdLst/>
              <a:ahLst/>
              <a:cxnLst/>
              <a:rect r="r" b="b" t="t" l="l"/>
              <a:pathLst>
                <a:path h="1584960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52" r="0" b="-1175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5023104" cy="1623060"/>
            </a:xfrm>
            <a:prstGeom prst="roundRect">
              <a:avLst>
                <a:gd name="adj" fmla="val 9241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Mobile as unique key. Upsert on duplicate — never duplicates.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113020" y="3192780"/>
            <a:ext cx="1386840" cy="417576"/>
            <a:chOff x="0" y="0"/>
            <a:chExt cx="1849120" cy="55676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849120" cy="556768"/>
            </a:xfrm>
            <a:custGeom>
              <a:avLst/>
              <a:gdLst/>
              <a:ahLst/>
              <a:cxnLst/>
              <a:rect r="r" b="b" t="t" l="l"/>
              <a:pathLst>
                <a:path h="556768" w="1849120">
                  <a:moveTo>
                    <a:pt x="0" y="151892"/>
                  </a:moveTo>
                  <a:cubicBezTo>
                    <a:pt x="0" y="67945"/>
                    <a:pt x="67945" y="0"/>
                    <a:pt x="151892" y="0"/>
                  </a:cubicBezTo>
                  <a:lnTo>
                    <a:pt x="1697228" y="0"/>
                  </a:lnTo>
                  <a:cubicBezTo>
                    <a:pt x="1781048" y="0"/>
                    <a:pt x="1849120" y="67945"/>
                    <a:pt x="1849120" y="151892"/>
                  </a:cubicBezTo>
                  <a:lnTo>
                    <a:pt x="1849120" y="404876"/>
                  </a:lnTo>
                  <a:cubicBezTo>
                    <a:pt x="1849120" y="488696"/>
                    <a:pt x="1781175" y="556768"/>
                    <a:pt x="1697228" y="556768"/>
                  </a:cubicBezTo>
                  <a:lnTo>
                    <a:pt x="151892" y="556768"/>
                  </a:lnTo>
                  <a:cubicBezTo>
                    <a:pt x="67945" y="556768"/>
                    <a:pt x="0" y="488823"/>
                    <a:pt x="0" y="404876"/>
                  </a:cubicBezTo>
                  <a:close/>
                </a:path>
              </a:pathLst>
            </a:custGeom>
            <a:solidFill>
              <a:srgbClr val="0D9488">
                <a:alpha val="1569"/>
              </a:srgbClr>
            </a:solidFill>
            <a:ln w="1524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5120640" y="3200400"/>
            <a:ext cx="1371600" cy="402336"/>
            <a:chOff x="0" y="0"/>
            <a:chExt cx="1828800" cy="53644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828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1828800" cy="565023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 readers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576060" y="3192780"/>
            <a:ext cx="1386840" cy="417576"/>
            <a:chOff x="0" y="0"/>
            <a:chExt cx="1849120" cy="55676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849120" cy="556768"/>
            </a:xfrm>
            <a:custGeom>
              <a:avLst/>
              <a:gdLst/>
              <a:ahLst/>
              <a:cxnLst/>
              <a:rect r="r" b="b" t="t" l="l"/>
              <a:pathLst>
                <a:path h="556768" w="1849120">
                  <a:moveTo>
                    <a:pt x="0" y="151892"/>
                  </a:moveTo>
                  <a:cubicBezTo>
                    <a:pt x="0" y="67945"/>
                    <a:pt x="67945" y="0"/>
                    <a:pt x="151892" y="0"/>
                  </a:cubicBezTo>
                  <a:lnTo>
                    <a:pt x="1697228" y="0"/>
                  </a:lnTo>
                  <a:cubicBezTo>
                    <a:pt x="1781048" y="0"/>
                    <a:pt x="1849120" y="67945"/>
                    <a:pt x="1849120" y="151892"/>
                  </a:cubicBezTo>
                  <a:lnTo>
                    <a:pt x="1849120" y="404876"/>
                  </a:lnTo>
                  <a:cubicBezTo>
                    <a:pt x="1849120" y="488696"/>
                    <a:pt x="1781175" y="556768"/>
                    <a:pt x="1697228" y="556768"/>
                  </a:cubicBezTo>
                  <a:lnTo>
                    <a:pt x="151892" y="556768"/>
                  </a:lnTo>
                  <a:cubicBezTo>
                    <a:pt x="67945" y="556768"/>
                    <a:pt x="0" y="488823"/>
                    <a:pt x="0" y="404876"/>
                  </a:cubicBezTo>
                  <a:close/>
                </a:path>
              </a:pathLst>
            </a:custGeom>
            <a:solidFill>
              <a:srgbClr val="EA580C">
                <a:alpha val="1569"/>
              </a:srgbClr>
            </a:solidFill>
            <a:ln w="15240" cap="sq">
              <a:solidFill>
                <a:srgbClr val="EA580C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6583680" y="3200400"/>
            <a:ext cx="1371600" cy="402336"/>
            <a:chOff x="0" y="0"/>
            <a:chExt cx="1828800" cy="53644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828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1828800" cy="565023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EA58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 writers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283951" y="1182367"/>
            <a:ext cx="4218937" cy="2664457"/>
            <a:chOff x="0" y="0"/>
            <a:chExt cx="5625249" cy="355260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625211" cy="3552571"/>
            </a:xfrm>
            <a:custGeom>
              <a:avLst/>
              <a:gdLst/>
              <a:ahLst/>
              <a:cxnLst/>
              <a:rect r="r" b="b" t="t" l="l"/>
              <a:pathLst>
                <a:path h="3552571" w="5625211">
                  <a:moveTo>
                    <a:pt x="0" y="0"/>
                  </a:moveTo>
                  <a:lnTo>
                    <a:pt x="5625211" y="0"/>
                  </a:lnTo>
                  <a:lnTo>
                    <a:pt x="5625211" y="3552571"/>
                  </a:lnTo>
                  <a:lnTo>
                    <a:pt x="0" y="35525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509760" y="1371600"/>
            <a:ext cx="3767328" cy="548640"/>
            <a:chOff x="0" y="0"/>
            <a:chExt cx="5023104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023104" cy="731520"/>
            </a:xfrm>
            <a:custGeom>
              <a:avLst/>
              <a:gdLst/>
              <a:ahLst/>
              <a:cxnLst/>
              <a:rect r="r" b="b" t="t" l="l"/>
              <a:pathLst>
                <a:path h="731520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797" r="0" b="-8379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5023104" cy="779145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vehicle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509760" y="1956816"/>
            <a:ext cx="3767328" cy="1188720"/>
            <a:chOff x="0" y="0"/>
            <a:chExt cx="5023104" cy="15849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023104" cy="1584960"/>
            </a:xfrm>
            <a:custGeom>
              <a:avLst/>
              <a:gdLst/>
              <a:ahLst/>
              <a:cxnLst/>
              <a:rect r="r" b="b" t="t" l="l"/>
              <a:pathLst>
                <a:path h="1584960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52" r="0" b="-1175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5023104" cy="1623060"/>
            </a:xfrm>
            <a:prstGeom prst="roundRect">
              <a:avLst>
                <a:gd name="adj" fmla="val 9241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Fleet records. Status: available → booked → rented → dirty.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502140" y="3192780"/>
            <a:ext cx="1386840" cy="417576"/>
            <a:chOff x="0" y="0"/>
            <a:chExt cx="1849120" cy="55676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849120" cy="556768"/>
            </a:xfrm>
            <a:custGeom>
              <a:avLst/>
              <a:gdLst/>
              <a:ahLst/>
              <a:cxnLst/>
              <a:rect r="r" b="b" t="t" l="l"/>
              <a:pathLst>
                <a:path h="556768" w="1849120">
                  <a:moveTo>
                    <a:pt x="0" y="151892"/>
                  </a:moveTo>
                  <a:cubicBezTo>
                    <a:pt x="0" y="67945"/>
                    <a:pt x="67945" y="0"/>
                    <a:pt x="151892" y="0"/>
                  </a:cubicBezTo>
                  <a:lnTo>
                    <a:pt x="1697228" y="0"/>
                  </a:lnTo>
                  <a:cubicBezTo>
                    <a:pt x="1781048" y="0"/>
                    <a:pt x="1849120" y="67945"/>
                    <a:pt x="1849120" y="151892"/>
                  </a:cubicBezTo>
                  <a:lnTo>
                    <a:pt x="1849120" y="404876"/>
                  </a:lnTo>
                  <a:cubicBezTo>
                    <a:pt x="1849120" y="488696"/>
                    <a:pt x="1781175" y="556768"/>
                    <a:pt x="1697228" y="556768"/>
                  </a:cubicBezTo>
                  <a:lnTo>
                    <a:pt x="151892" y="556768"/>
                  </a:lnTo>
                  <a:cubicBezTo>
                    <a:pt x="67945" y="556768"/>
                    <a:pt x="0" y="488823"/>
                    <a:pt x="0" y="404876"/>
                  </a:cubicBezTo>
                  <a:close/>
                </a:path>
              </a:pathLst>
            </a:custGeom>
            <a:solidFill>
              <a:srgbClr val="0D9488">
                <a:alpha val="1569"/>
              </a:srgbClr>
            </a:solidFill>
            <a:ln w="1524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9509760" y="3200400"/>
            <a:ext cx="1371600" cy="402336"/>
            <a:chOff x="0" y="0"/>
            <a:chExt cx="1828800" cy="53644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28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1828800" cy="565023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 readers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965180" y="3192780"/>
            <a:ext cx="1386840" cy="417576"/>
            <a:chOff x="0" y="0"/>
            <a:chExt cx="1849120" cy="55676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849120" cy="556768"/>
            </a:xfrm>
            <a:custGeom>
              <a:avLst/>
              <a:gdLst/>
              <a:ahLst/>
              <a:cxnLst/>
              <a:rect r="r" b="b" t="t" l="l"/>
              <a:pathLst>
                <a:path h="556768" w="1849120">
                  <a:moveTo>
                    <a:pt x="0" y="151892"/>
                  </a:moveTo>
                  <a:cubicBezTo>
                    <a:pt x="0" y="67945"/>
                    <a:pt x="67945" y="0"/>
                    <a:pt x="151892" y="0"/>
                  </a:cubicBezTo>
                  <a:lnTo>
                    <a:pt x="1697228" y="0"/>
                  </a:lnTo>
                  <a:cubicBezTo>
                    <a:pt x="1781048" y="0"/>
                    <a:pt x="1849120" y="67945"/>
                    <a:pt x="1849120" y="151892"/>
                  </a:cubicBezTo>
                  <a:lnTo>
                    <a:pt x="1849120" y="404876"/>
                  </a:lnTo>
                  <a:cubicBezTo>
                    <a:pt x="1849120" y="488696"/>
                    <a:pt x="1781175" y="556768"/>
                    <a:pt x="1697228" y="556768"/>
                  </a:cubicBezTo>
                  <a:lnTo>
                    <a:pt x="151892" y="556768"/>
                  </a:lnTo>
                  <a:cubicBezTo>
                    <a:pt x="67945" y="556768"/>
                    <a:pt x="0" y="488823"/>
                    <a:pt x="0" y="404876"/>
                  </a:cubicBezTo>
                  <a:close/>
                </a:path>
              </a:pathLst>
            </a:custGeom>
            <a:solidFill>
              <a:srgbClr val="EA580C">
                <a:alpha val="1569"/>
              </a:srgbClr>
            </a:solidFill>
            <a:ln w="15240" cap="sq">
              <a:solidFill>
                <a:srgbClr val="EA580C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0972800" y="3200400"/>
            <a:ext cx="1371600" cy="402336"/>
            <a:chOff x="0" y="0"/>
            <a:chExt cx="1828800" cy="53644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828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1828800" cy="565023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EA58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 writers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673071" y="1182367"/>
            <a:ext cx="4218937" cy="2664457"/>
            <a:chOff x="0" y="0"/>
            <a:chExt cx="5625249" cy="355260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625211" cy="3552571"/>
            </a:xfrm>
            <a:custGeom>
              <a:avLst/>
              <a:gdLst/>
              <a:ahLst/>
              <a:cxnLst/>
              <a:rect r="r" b="b" t="t" l="l"/>
              <a:pathLst>
                <a:path h="3552571" w="5625211">
                  <a:moveTo>
                    <a:pt x="0" y="0"/>
                  </a:moveTo>
                  <a:lnTo>
                    <a:pt x="5625211" y="0"/>
                  </a:lnTo>
                  <a:lnTo>
                    <a:pt x="5625211" y="3552571"/>
                  </a:lnTo>
                  <a:lnTo>
                    <a:pt x="0" y="35525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3898880" y="1371600"/>
            <a:ext cx="3767328" cy="548640"/>
            <a:chOff x="0" y="0"/>
            <a:chExt cx="5023104" cy="7315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023104" cy="731520"/>
            </a:xfrm>
            <a:custGeom>
              <a:avLst/>
              <a:gdLst/>
              <a:ahLst/>
              <a:cxnLst/>
              <a:rect r="r" b="b" t="t" l="l"/>
              <a:pathLst>
                <a:path h="731520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797" r="0" b="-83797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5023104" cy="779145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A58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quotations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3898880" y="1956816"/>
            <a:ext cx="3767328" cy="1188720"/>
            <a:chOff x="0" y="0"/>
            <a:chExt cx="5023104" cy="15849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023104" cy="1584960"/>
            </a:xfrm>
            <a:custGeom>
              <a:avLst/>
              <a:gdLst/>
              <a:ahLst/>
              <a:cxnLst/>
              <a:rect r="r" b="b" t="t" l="l"/>
              <a:pathLst>
                <a:path h="1584960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52" r="0" b="-11752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5023104" cy="1623060"/>
            </a:xfrm>
            <a:prstGeom prst="roundRect">
              <a:avLst>
                <a:gd name="adj" fmla="val 9241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1:1 with bookings via unique constraint. Holds all pricing.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3891260" y="3192780"/>
            <a:ext cx="1386840" cy="417576"/>
            <a:chOff x="0" y="0"/>
            <a:chExt cx="1849120" cy="55676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849120" cy="556768"/>
            </a:xfrm>
            <a:custGeom>
              <a:avLst/>
              <a:gdLst/>
              <a:ahLst/>
              <a:cxnLst/>
              <a:rect r="r" b="b" t="t" l="l"/>
              <a:pathLst>
                <a:path h="556768" w="1849120">
                  <a:moveTo>
                    <a:pt x="0" y="151892"/>
                  </a:moveTo>
                  <a:cubicBezTo>
                    <a:pt x="0" y="67945"/>
                    <a:pt x="67945" y="0"/>
                    <a:pt x="151892" y="0"/>
                  </a:cubicBezTo>
                  <a:lnTo>
                    <a:pt x="1697228" y="0"/>
                  </a:lnTo>
                  <a:cubicBezTo>
                    <a:pt x="1781048" y="0"/>
                    <a:pt x="1849120" y="67945"/>
                    <a:pt x="1849120" y="151892"/>
                  </a:cubicBezTo>
                  <a:lnTo>
                    <a:pt x="1849120" y="404876"/>
                  </a:lnTo>
                  <a:cubicBezTo>
                    <a:pt x="1849120" y="488696"/>
                    <a:pt x="1781175" y="556768"/>
                    <a:pt x="1697228" y="556768"/>
                  </a:cubicBezTo>
                  <a:lnTo>
                    <a:pt x="151892" y="556768"/>
                  </a:lnTo>
                  <a:cubicBezTo>
                    <a:pt x="67945" y="556768"/>
                    <a:pt x="0" y="488823"/>
                    <a:pt x="0" y="404876"/>
                  </a:cubicBezTo>
                  <a:close/>
                </a:path>
              </a:pathLst>
            </a:custGeom>
            <a:solidFill>
              <a:srgbClr val="0D9488">
                <a:alpha val="1569"/>
              </a:srgbClr>
            </a:solidFill>
            <a:ln w="1524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3898880" y="3200400"/>
            <a:ext cx="1371600" cy="402336"/>
            <a:chOff x="0" y="0"/>
            <a:chExt cx="1828800" cy="53644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828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1828800" cy="565023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 readers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5354300" y="3192780"/>
            <a:ext cx="1386840" cy="417576"/>
            <a:chOff x="0" y="0"/>
            <a:chExt cx="1849120" cy="55676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849120" cy="556768"/>
            </a:xfrm>
            <a:custGeom>
              <a:avLst/>
              <a:gdLst/>
              <a:ahLst/>
              <a:cxnLst/>
              <a:rect r="r" b="b" t="t" l="l"/>
              <a:pathLst>
                <a:path h="556768" w="1849120">
                  <a:moveTo>
                    <a:pt x="0" y="151892"/>
                  </a:moveTo>
                  <a:cubicBezTo>
                    <a:pt x="0" y="67945"/>
                    <a:pt x="67945" y="0"/>
                    <a:pt x="151892" y="0"/>
                  </a:cubicBezTo>
                  <a:lnTo>
                    <a:pt x="1697228" y="0"/>
                  </a:lnTo>
                  <a:cubicBezTo>
                    <a:pt x="1781048" y="0"/>
                    <a:pt x="1849120" y="67945"/>
                    <a:pt x="1849120" y="151892"/>
                  </a:cubicBezTo>
                  <a:lnTo>
                    <a:pt x="1849120" y="404876"/>
                  </a:lnTo>
                  <a:cubicBezTo>
                    <a:pt x="1849120" y="488696"/>
                    <a:pt x="1781175" y="556768"/>
                    <a:pt x="1697228" y="556768"/>
                  </a:cubicBezTo>
                  <a:lnTo>
                    <a:pt x="151892" y="556768"/>
                  </a:lnTo>
                  <a:cubicBezTo>
                    <a:pt x="67945" y="556768"/>
                    <a:pt x="0" y="488823"/>
                    <a:pt x="0" y="404876"/>
                  </a:cubicBezTo>
                  <a:close/>
                </a:path>
              </a:pathLst>
            </a:custGeom>
            <a:solidFill>
              <a:srgbClr val="EA580C">
                <a:alpha val="1569"/>
              </a:srgbClr>
            </a:solidFill>
            <a:ln w="15240" cap="sq">
              <a:solidFill>
                <a:srgbClr val="EA580C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5361920" y="3200400"/>
            <a:ext cx="1371600" cy="402336"/>
            <a:chOff x="0" y="0"/>
            <a:chExt cx="1828800" cy="53644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828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1828800" cy="565023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EA58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 writers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505711" y="4017007"/>
            <a:ext cx="4218937" cy="2664457"/>
            <a:chOff x="0" y="0"/>
            <a:chExt cx="5625249" cy="355260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625211" cy="3552571"/>
            </a:xfrm>
            <a:custGeom>
              <a:avLst/>
              <a:gdLst/>
              <a:ahLst/>
              <a:cxnLst/>
              <a:rect r="r" b="b" t="t" l="l"/>
              <a:pathLst>
                <a:path h="3552571" w="5625211">
                  <a:moveTo>
                    <a:pt x="0" y="0"/>
                  </a:moveTo>
                  <a:lnTo>
                    <a:pt x="5625211" y="0"/>
                  </a:lnTo>
                  <a:lnTo>
                    <a:pt x="5625211" y="3552571"/>
                  </a:lnTo>
                  <a:lnTo>
                    <a:pt x="0" y="35525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731520" y="4206240"/>
            <a:ext cx="3767328" cy="548640"/>
            <a:chOff x="0" y="0"/>
            <a:chExt cx="5023104" cy="73152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023104" cy="731520"/>
            </a:xfrm>
            <a:custGeom>
              <a:avLst/>
              <a:gdLst/>
              <a:ahLst/>
              <a:cxnLst/>
              <a:rect r="r" b="b" t="t" l="l"/>
              <a:pathLst>
                <a:path h="731520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797" r="0" b="-83797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5023104" cy="779145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DB277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payments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731520" y="4791456"/>
            <a:ext cx="3767328" cy="1188720"/>
            <a:chOff x="0" y="0"/>
            <a:chExt cx="5023104" cy="158496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023104" cy="1584960"/>
            </a:xfrm>
            <a:custGeom>
              <a:avLst/>
              <a:gdLst/>
              <a:ahLst/>
              <a:cxnLst/>
              <a:rect r="r" b="b" t="t" l="l"/>
              <a:pathLst>
                <a:path h="1584960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52" r="0" b="-11752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5023104" cy="1623060"/>
            </a:xfrm>
            <a:prstGeom prst="roundRect">
              <a:avLst>
                <a:gd name="adj" fmla="val 9241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Online (Cashfree via RPC) or offline cash. Status: initiated → paid.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723900" y="6027420"/>
            <a:ext cx="1386840" cy="417576"/>
            <a:chOff x="0" y="0"/>
            <a:chExt cx="1849120" cy="55676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849120" cy="556768"/>
            </a:xfrm>
            <a:custGeom>
              <a:avLst/>
              <a:gdLst/>
              <a:ahLst/>
              <a:cxnLst/>
              <a:rect r="r" b="b" t="t" l="l"/>
              <a:pathLst>
                <a:path h="556768" w="1849120">
                  <a:moveTo>
                    <a:pt x="0" y="151892"/>
                  </a:moveTo>
                  <a:cubicBezTo>
                    <a:pt x="0" y="67945"/>
                    <a:pt x="67945" y="0"/>
                    <a:pt x="151892" y="0"/>
                  </a:cubicBezTo>
                  <a:lnTo>
                    <a:pt x="1697228" y="0"/>
                  </a:lnTo>
                  <a:cubicBezTo>
                    <a:pt x="1781048" y="0"/>
                    <a:pt x="1849120" y="67945"/>
                    <a:pt x="1849120" y="151892"/>
                  </a:cubicBezTo>
                  <a:lnTo>
                    <a:pt x="1849120" y="404876"/>
                  </a:lnTo>
                  <a:cubicBezTo>
                    <a:pt x="1849120" y="488696"/>
                    <a:pt x="1781175" y="556768"/>
                    <a:pt x="1697228" y="556768"/>
                  </a:cubicBezTo>
                  <a:lnTo>
                    <a:pt x="151892" y="556768"/>
                  </a:lnTo>
                  <a:cubicBezTo>
                    <a:pt x="67945" y="556768"/>
                    <a:pt x="0" y="488823"/>
                    <a:pt x="0" y="404876"/>
                  </a:cubicBezTo>
                  <a:close/>
                </a:path>
              </a:pathLst>
            </a:custGeom>
            <a:solidFill>
              <a:srgbClr val="0D9488">
                <a:alpha val="1569"/>
              </a:srgbClr>
            </a:solidFill>
            <a:ln w="1524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731520" y="6035040"/>
            <a:ext cx="1371600" cy="402336"/>
            <a:chOff x="0" y="0"/>
            <a:chExt cx="1828800" cy="53644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828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28575"/>
              <a:ext cx="1828800" cy="565023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 readers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2186940" y="6027420"/>
            <a:ext cx="1386840" cy="417576"/>
            <a:chOff x="0" y="0"/>
            <a:chExt cx="1849120" cy="55676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849120" cy="556768"/>
            </a:xfrm>
            <a:custGeom>
              <a:avLst/>
              <a:gdLst/>
              <a:ahLst/>
              <a:cxnLst/>
              <a:rect r="r" b="b" t="t" l="l"/>
              <a:pathLst>
                <a:path h="556768" w="1849120">
                  <a:moveTo>
                    <a:pt x="0" y="151892"/>
                  </a:moveTo>
                  <a:cubicBezTo>
                    <a:pt x="0" y="67945"/>
                    <a:pt x="67945" y="0"/>
                    <a:pt x="151892" y="0"/>
                  </a:cubicBezTo>
                  <a:lnTo>
                    <a:pt x="1697228" y="0"/>
                  </a:lnTo>
                  <a:cubicBezTo>
                    <a:pt x="1781048" y="0"/>
                    <a:pt x="1849120" y="67945"/>
                    <a:pt x="1849120" y="151892"/>
                  </a:cubicBezTo>
                  <a:lnTo>
                    <a:pt x="1849120" y="404876"/>
                  </a:lnTo>
                  <a:cubicBezTo>
                    <a:pt x="1849120" y="488696"/>
                    <a:pt x="1781175" y="556768"/>
                    <a:pt x="1697228" y="556768"/>
                  </a:cubicBezTo>
                  <a:lnTo>
                    <a:pt x="151892" y="556768"/>
                  </a:lnTo>
                  <a:cubicBezTo>
                    <a:pt x="67945" y="556768"/>
                    <a:pt x="0" y="488823"/>
                    <a:pt x="0" y="404876"/>
                  </a:cubicBezTo>
                  <a:close/>
                </a:path>
              </a:pathLst>
            </a:custGeom>
            <a:solidFill>
              <a:srgbClr val="EA580C">
                <a:alpha val="1569"/>
              </a:srgbClr>
            </a:solidFill>
            <a:ln w="15240" cap="sq">
              <a:solidFill>
                <a:srgbClr val="EA580C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2194560" y="6035040"/>
            <a:ext cx="1371600" cy="402336"/>
            <a:chOff x="0" y="0"/>
            <a:chExt cx="1828800" cy="53644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828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28575"/>
              <a:ext cx="1828800" cy="565023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EA58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 writers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4894831" y="4017007"/>
            <a:ext cx="4218937" cy="2664457"/>
            <a:chOff x="0" y="0"/>
            <a:chExt cx="5625249" cy="3552609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625211" cy="3552571"/>
            </a:xfrm>
            <a:custGeom>
              <a:avLst/>
              <a:gdLst/>
              <a:ahLst/>
              <a:cxnLst/>
              <a:rect r="r" b="b" t="t" l="l"/>
              <a:pathLst>
                <a:path h="3552571" w="5625211">
                  <a:moveTo>
                    <a:pt x="0" y="0"/>
                  </a:moveTo>
                  <a:lnTo>
                    <a:pt x="5625211" y="0"/>
                  </a:lnTo>
                  <a:lnTo>
                    <a:pt x="5625211" y="3552571"/>
                  </a:lnTo>
                  <a:lnTo>
                    <a:pt x="0" y="35525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102" id="102"/>
          <p:cNvGrpSpPr/>
          <p:nvPr/>
        </p:nvGrpSpPr>
        <p:grpSpPr>
          <a:xfrm rot="0">
            <a:off x="5120640" y="4206240"/>
            <a:ext cx="3767328" cy="548640"/>
            <a:chOff x="0" y="0"/>
            <a:chExt cx="5023104" cy="73152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5023104" cy="731520"/>
            </a:xfrm>
            <a:custGeom>
              <a:avLst/>
              <a:gdLst/>
              <a:ahLst/>
              <a:cxnLst/>
              <a:rect r="r" b="b" t="t" l="l"/>
              <a:pathLst>
                <a:path h="731520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797" r="0" b="-83797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47625"/>
              <a:ext cx="5023104" cy="779145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notifications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5120640" y="4791456"/>
            <a:ext cx="3767328" cy="1188720"/>
            <a:chOff x="0" y="0"/>
            <a:chExt cx="5023104" cy="158496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023104" cy="1584960"/>
            </a:xfrm>
            <a:custGeom>
              <a:avLst/>
              <a:gdLst/>
              <a:ahLst/>
              <a:cxnLst/>
              <a:rect r="r" b="b" t="t" l="l"/>
              <a:pathLst>
                <a:path h="1584960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52" r="0" b="-11752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5023104" cy="1623060"/>
            </a:xfrm>
            <a:prstGeom prst="roundRect">
              <a:avLst>
                <a:gd name="adj" fmla="val 9241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In-app alerts. Realtime subscribed — appear without refresh.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5113020" y="6027420"/>
            <a:ext cx="1386840" cy="417576"/>
            <a:chOff x="0" y="0"/>
            <a:chExt cx="1849120" cy="55676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849120" cy="556768"/>
            </a:xfrm>
            <a:custGeom>
              <a:avLst/>
              <a:gdLst/>
              <a:ahLst/>
              <a:cxnLst/>
              <a:rect r="r" b="b" t="t" l="l"/>
              <a:pathLst>
                <a:path h="556768" w="1849120">
                  <a:moveTo>
                    <a:pt x="0" y="151892"/>
                  </a:moveTo>
                  <a:cubicBezTo>
                    <a:pt x="0" y="67945"/>
                    <a:pt x="67945" y="0"/>
                    <a:pt x="151892" y="0"/>
                  </a:cubicBezTo>
                  <a:lnTo>
                    <a:pt x="1697228" y="0"/>
                  </a:lnTo>
                  <a:cubicBezTo>
                    <a:pt x="1781048" y="0"/>
                    <a:pt x="1849120" y="67945"/>
                    <a:pt x="1849120" y="151892"/>
                  </a:cubicBezTo>
                  <a:lnTo>
                    <a:pt x="1849120" y="404876"/>
                  </a:lnTo>
                  <a:cubicBezTo>
                    <a:pt x="1849120" y="488696"/>
                    <a:pt x="1781175" y="556768"/>
                    <a:pt x="1697228" y="556768"/>
                  </a:cubicBezTo>
                  <a:lnTo>
                    <a:pt x="151892" y="556768"/>
                  </a:lnTo>
                  <a:cubicBezTo>
                    <a:pt x="67945" y="556768"/>
                    <a:pt x="0" y="488823"/>
                    <a:pt x="0" y="404876"/>
                  </a:cubicBezTo>
                  <a:close/>
                </a:path>
              </a:pathLst>
            </a:custGeom>
            <a:solidFill>
              <a:srgbClr val="0D9488">
                <a:alpha val="1569"/>
              </a:srgbClr>
            </a:solidFill>
            <a:ln w="1524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110" id="110"/>
          <p:cNvGrpSpPr/>
          <p:nvPr/>
        </p:nvGrpSpPr>
        <p:grpSpPr>
          <a:xfrm rot="0">
            <a:off x="5120640" y="6035040"/>
            <a:ext cx="1371600" cy="402336"/>
            <a:chOff x="0" y="0"/>
            <a:chExt cx="1828800" cy="53644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828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28575"/>
              <a:ext cx="1828800" cy="565023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reader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6576060" y="6027420"/>
            <a:ext cx="1386840" cy="417576"/>
            <a:chOff x="0" y="0"/>
            <a:chExt cx="1849120" cy="55676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849120" cy="556768"/>
            </a:xfrm>
            <a:custGeom>
              <a:avLst/>
              <a:gdLst/>
              <a:ahLst/>
              <a:cxnLst/>
              <a:rect r="r" b="b" t="t" l="l"/>
              <a:pathLst>
                <a:path h="556768" w="1849120">
                  <a:moveTo>
                    <a:pt x="0" y="151892"/>
                  </a:moveTo>
                  <a:cubicBezTo>
                    <a:pt x="0" y="67945"/>
                    <a:pt x="67945" y="0"/>
                    <a:pt x="151892" y="0"/>
                  </a:cubicBezTo>
                  <a:lnTo>
                    <a:pt x="1697228" y="0"/>
                  </a:lnTo>
                  <a:cubicBezTo>
                    <a:pt x="1781048" y="0"/>
                    <a:pt x="1849120" y="67945"/>
                    <a:pt x="1849120" y="151892"/>
                  </a:cubicBezTo>
                  <a:lnTo>
                    <a:pt x="1849120" y="404876"/>
                  </a:lnTo>
                  <a:cubicBezTo>
                    <a:pt x="1849120" y="488696"/>
                    <a:pt x="1781175" y="556768"/>
                    <a:pt x="1697228" y="556768"/>
                  </a:cubicBezTo>
                  <a:lnTo>
                    <a:pt x="151892" y="556768"/>
                  </a:lnTo>
                  <a:cubicBezTo>
                    <a:pt x="67945" y="556768"/>
                    <a:pt x="0" y="488823"/>
                    <a:pt x="0" y="404876"/>
                  </a:cubicBezTo>
                  <a:close/>
                </a:path>
              </a:pathLst>
            </a:custGeom>
            <a:solidFill>
              <a:srgbClr val="EA580C">
                <a:alpha val="1569"/>
              </a:srgbClr>
            </a:solidFill>
            <a:ln w="15240" cap="sq">
              <a:solidFill>
                <a:srgbClr val="EA580C"/>
              </a:solidFill>
              <a:prstDash val="solid"/>
              <a:miter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6583680" y="6035040"/>
            <a:ext cx="1371600" cy="402336"/>
            <a:chOff x="0" y="0"/>
            <a:chExt cx="1828800" cy="536448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828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28575"/>
              <a:ext cx="1828800" cy="565023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EA58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 writers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9283951" y="4017007"/>
            <a:ext cx="4218937" cy="2664457"/>
            <a:chOff x="0" y="0"/>
            <a:chExt cx="5625249" cy="3552609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5625211" cy="3552571"/>
            </a:xfrm>
            <a:custGeom>
              <a:avLst/>
              <a:gdLst/>
              <a:ahLst/>
              <a:cxnLst/>
              <a:rect r="r" b="b" t="t" l="l"/>
              <a:pathLst>
                <a:path h="3552571" w="5625211">
                  <a:moveTo>
                    <a:pt x="0" y="0"/>
                  </a:moveTo>
                  <a:lnTo>
                    <a:pt x="5625211" y="0"/>
                  </a:lnTo>
                  <a:lnTo>
                    <a:pt x="5625211" y="3552571"/>
                  </a:lnTo>
                  <a:lnTo>
                    <a:pt x="0" y="35525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120" id="120"/>
          <p:cNvGrpSpPr/>
          <p:nvPr/>
        </p:nvGrpSpPr>
        <p:grpSpPr>
          <a:xfrm rot="0">
            <a:off x="9509760" y="4206240"/>
            <a:ext cx="3767328" cy="548640"/>
            <a:chOff x="0" y="0"/>
            <a:chExt cx="5023104" cy="73152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5023104" cy="731520"/>
            </a:xfrm>
            <a:custGeom>
              <a:avLst/>
              <a:gdLst/>
              <a:ahLst/>
              <a:cxnLst/>
              <a:rect r="r" b="b" t="t" l="l"/>
              <a:pathLst>
                <a:path h="731520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797" r="0" b="-83797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47625"/>
              <a:ext cx="5023104" cy="779145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audit_logs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9509760" y="4791456"/>
            <a:ext cx="3767328" cy="1188720"/>
            <a:chOff x="0" y="0"/>
            <a:chExt cx="5023104" cy="158496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5023104" cy="1584960"/>
            </a:xfrm>
            <a:custGeom>
              <a:avLst/>
              <a:gdLst/>
              <a:ahLst/>
              <a:cxnLst/>
              <a:rect r="r" b="b" t="t" l="l"/>
              <a:pathLst>
                <a:path h="1584960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52" r="0" b="-11752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5023104" cy="1623060"/>
            </a:xfrm>
            <a:prstGeom prst="roundRect">
              <a:avLst>
                <a:gd name="adj" fmla="val 9241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Immutable trail. Every important action is stamped here.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9502140" y="6027420"/>
            <a:ext cx="1386840" cy="417576"/>
            <a:chOff x="0" y="0"/>
            <a:chExt cx="1849120" cy="556768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849120" cy="556768"/>
            </a:xfrm>
            <a:custGeom>
              <a:avLst/>
              <a:gdLst/>
              <a:ahLst/>
              <a:cxnLst/>
              <a:rect r="r" b="b" t="t" l="l"/>
              <a:pathLst>
                <a:path h="556768" w="1849120">
                  <a:moveTo>
                    <a:pt x="0" y="151892"/>
                  </a:moveTo>
                  <a:cubicBezTo>
                    <a:pt x="0" y="67945"/>
                    <a:pt x="67945" y="0"/>
                    <a:pt x="151892" y="0"/>
                  </a:cubicBezTo>
                  <a:lnTo>
                    <a:pt x="1697228" y="0"/>
                  </a:lnTo>
                  <a:cubicBezTo>
                    <a:pt x="1781048" y="0"/>
                    <a:pt x="1849120" y="67945"/>
                    <a:pt x="1849120" y="151892"/>
                  </a:cubicBezTo>
                  <a:lnTo>
                    <a:pt x="1849120" y="404876"/>
                  </a:lnTo>
                  <a:cubicBezTo>
                    <a:pt x="1849120" y="488696"/>
                    <a:pt x="1781175" y="556768"/>
                    <a:pt x="1697228" y="556768"/>
                  </a:cubicBezTo>
                  <a:lnTo>
                    <a:pt x="151892" y="556768"/>
                  </a:lnTo>
                  <a:cubicBezTo>
                    <a:pt x="67945" y="556768"/>
                    <a:pt x="0" y="488823"/>
                    <a:pt x="0" y="404876"/>
                  </a:cubicBezTo>
                  <a:close/>
                </a:path>
              </a:pathLst>
            </a:custGeom>
            <a:solidFill>
              <a:srgbClr val="0D9488">
                <a:alpha val="1569"/>
              </a:srgbClr>
            </a:solidFill>
            <a:ln w="1524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128" id="128"/>
          <p:cNvGrpSpPr/>
          <p:nvPr/>
        </p:nvGrpSpPr>
        <p:grpSpPr>
          <a:xfrm rot="0">
            <a:off x="9509760" y="6035040"/>
            <a:ext cx="1371600" cy="402336"/>
            <a:chOff x="0" y="0"/>
            <a:chExt cx="1828800" cy="53644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1828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28575"/>
              <a:ext cx="1828800" cy="565023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reader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0965180" y="6027420"/>
            <a:ext cx="1386840" cy="417576"/>
            <a:chOff x="0" y="0"/>
            <a:chExt cx="1849120" cy="556768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849120" cy="556768"/>
            </a:xfrm>
            <a:custGeom>
              <a:avLst/>
              <a:gdLst/>
              <a:ahLst/>
              <a:cxnLst/>
              <a:rect r="r" b="b" t="t" l="l"/>
              <a:pathLst>
                <a:path h="556768" w="1849120">
                  <a:moveTo>
                    <a:pt x="0" y="151892"/>
                  </a:moveTo>
                  <a:cubicBezTo>
                    <a:pt x="0" y="67945"/>
                    <a:pt x="67945" y="0"/>
                    <a:pt x="151892" y="0"/>
                  </a:cubicBezTo>
                  <a:lnTo>
                    <a:pt x="1697228" y="0"/>
                  </a:lnTo>
                  <a:cubicBezTo>
                    <a:pt x="1781048" y="0"/>
                    <a:pt x="1849120" y="67945"/>
                    <a:pt x="1849120" y="151892"/>
                  </a:cubicBezTo>
                  <a:lnTo>
                    <a:pt x="1849120" y="404876"/>
                  </a:lnTo>
                  <a:cubicBezTo>
                    <a:pt x="1849120" y="488696"/>
                    <a:pt x="1781175" y="556768"/>
                    <a:pt x="1697228" y="556768"/>
                  </a:cubicBezTo>
                  <a:lnTo>
                    <a:pt x="151892" y="556768"/>
                  </a:lnTo>
                  <a:cubicBezTo>
                    <a:pt x="67945" y="556768"/>
                    <a:pt x="0" y="488823"/>
                    <a:pt x="0" y="404876"/>
                  </a:cubicBezTo>
                  <a:close/>
                </a:path>
              </a:pathLst>
            </a:custGeom>
            <a:solidFill>
              <a:srgbClr val="EA580C">
                <a:alpha val="1569"/>
              </a:srgbClr>
            </a:solidFill>
            <a:ln w="15240" cap="sq">
              <a:solidFill>
                <a:srgbClr val="EA580C"/>
              </a:solidFill>
              <a:prstDash val="solid"/>
              <a:miter/>
            </a:ln>
          </p:spPr>
        </p:sp>
      </p:grpSp>
      <p:grpSp>
        <p:nvGrpSpPr>
          <p:cNvPr name="Group 133" id="133"/>
          <p:cNvGrpSpPr/>
          <p:nvPr/>
        </p:nvGrpSpPr>
        <p:grpSpPr>
          <a:xfrm rot="0">
            <a:off x="10972800" y="6035040"/>
            <a:ext cx="1371600" cy="402336"/>
            <a:chOff x="0" y="0"/>
            <a:chExt cx="1828800" cy="536448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828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28575"/>
              <a:ext cx="1828800" cy="565023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EA58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writer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3673071" y="4017007"/>
            <a:ext cx="4218937" cy="2664457"/>
            <a:chOff x="0" y="0"/>
            <a:chExt cx="5625249" cy="3552609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5625211" cy="3552571"/>
            </a:xfrm>
            <a:custGeom>
              <a:avLst/>
              <a:gdLst/>
              <a:ahLst/>
              <a:cxnLst/>
              <a:rect r="r" b="b" t="t" l="l"/>
              <a:pathLst>
                <a:path h="3552571" w="5625211">
                  <a:moveTo>
                    <a:pt x="0" y="0"/>
                  </a:moveTo>
                  <a:lnTo>
                    <a:pt x="5625211" y="0"/>
                  </a:lnTo>
                  <a:lnTo>
                    <a:pt x="5625211" y="3552571"/>
                  </a:lnTo>
                  <a:lnTo>
                    <a:pt x="0" y="35525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138" id="138"/>
          <p:cNvGrpSpPr/>
          <p:nvPr/>
        </p:nvGrpSpPr>
        <p:grpSpPr>
          <a:xfrm rot="0">
            <a:off x="13898880" y="4206240"/>
            <a:ext cx="3767328" cy="548640"/>
            <a:chOff x="0" y="0"/>
            <a:chExt cx="5023104" cy="73152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5023104" cy="731520"/>
            </a:xfrm>
            <a:custGeom>
              <a:avLst/>
              <a:gdLst/>
              <a:ahLst/>
              <a:cxnLst/>
              <a:rect r="r" b="b" t="t" l="l"/>
              <a:pathLst>
                <a:path h="731520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797" r="0" b="-83797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47625"/>
              <a:ext cx="5023104" cy="779145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user_roles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3898880" y="4791456"/>
            <a:ext cx="3767328" cy="1188720"/>
            <a:chOff x="0" y="0"/>
            <a:chExt cx="5023104" cy="1584960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5023104" cy="1584960"/>
            </a:xfrm>
            <a:custGeom>
              <a:avLst/>
              <a:gdLst/>
              <a:ahLst/>
              <a:cxnLst/>
              <a:rect r="r" b="b" t="t" l="l"/>
              <a:pathLst>
                <a:path h="1584960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52" r="0" b="-11752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38100"/>
              <a:ext cx="5023104" cy="1623060"/>
            </a:xfrm>
            <a:prstGeom prst="roundRect">
              <a:avLst>
                <a:gd name="adj" fmla="val 9241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Admin or dealer. Auto-created on first Google login.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13891260" y="6027420"/>
            <a:ext cx="1386840" cy="417576"/>
            <a:chOff x="0" y="0"/>
            <a:chExt cx="1849120" cy="556768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1849120" cy="556768"/>
            </a:xfrm>
            <a:custGeom>
              <a:avLst/>
              <a:gdLst/>
              <a:ahLst/>
              <a:cxnLst/>
              <a:rect r="r" b="b" t="t" l="l"/>
              <a:pathLst>
                <a:path h="556768" w="1849120">
                  <a:moveTo>
                    <a:pt x="0" y="151892"/>
                  </a:moveTo>
                  <a:cubicBezTo>
                    <a:pt x="0" y="67945"/>
                    <a:pt x="67945" y="0"/>
                    <a:pt x="151892" y="0"/>
                  </a:cubicBezTo>
                  <a:lnTo>
                    <a:pt x="1697228" y="0"/>
                  </a:lnTo>
                  <a:cubicBezTo>
                    <a:pt x="1781048" y="0"/>
                    <a:pt x="1849120" y="67945"/>
                    <a:pt x="1849120" y="151892"/>
                  </a:cubicBezTo>
                  <a:lnTo>
                    <a:pt x="1849120" y="404876"/>
                  </a:lnTo>
                  <a:cubicBezTo>
                    <a:pt x="1849120" y="488696"/>
                    <a:pt x="1781175" y="556768"/>
                    <a:pt x="1697228" y="556768"/>
                  </a:cubicBezTo>
                  <a:lnTo>
                    <a:pt x="151892" y="556768"/>
                  </a:lnTo>
                  <a:cubicBezTo>
                    <a:pt x="67945" y="556768"/>
                    <a:pt x="0" y="488823"/>
                    <a:pt x="0" y="404876"/>
                  </a:cubicBezTo>
                  <a:close/>
                </a:path>
              </a:pathLst>
            </a:custGeom>
            <a:solidFill>
              <a:srgbClr val="0D9488">
                <a:alpha val="1569"/>
              </a:srgbClr>
            </a:solidFill>
            <a:ln w="1524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146" id="146"/>
          <p:cNvGrpSpPr/>
          <p:nvPr/>
        </p:nvGrpSpPr>
        <p:grpSpPr>
          <a:xfrm rot="0">
            <a:off x="13898880" y="6035040"/>
            <a:ext cx="1371600" cy="402336"/>
            <a:chOff x="0" y="0"/>
            <a:chExt cx="1828800" cy="536448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1828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28575"/>
              <a:ext cx="1828800" cy="565023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 readers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5354300" y="6027420"/>
            <a:ext cx="1386840" cy="417576"/>
            <a:chOff x="0" y="0"/>
            <a:chExt cx="1849120" cy="556768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849120" cy="556768"/>
            </a:xfrm>
            <a:custGeom>
              <a:avLst/>
              <a:gdLst/>
              <a:ahLst/>
              <a:cxnLst/>
              <a:rect r="r" b="b" t="t" l="l"/>
              <a:pathLst>
                <a:path h="556768" w="1849120">
                  <a:moveTo>
                    <a:pt x="0" y="151892"/>
                  </a:moveTo>
                  <a:cubicBezTo>
                    <a:pt x="0" y="67945"/>
                    <a:pt x="67945" y="0"/>
                    <a:pt x="151892" y="0"/>
                  </a:cubicBezTo>
                  <a:lnTo>
                    <a:pt x="1697228" y="0"/>
                  </a:lnTo>
                  <a:cubicBezTo>
                    <a:pt x="1781048" y="0"/>
                    <a:pt x="1849120" y="67945"/>
                    <a:pt x="1849120" y="151892"/>
                  </a:cubicBezTo>
                  <a:lnTo>
                    <a:pt x="1849120" y="404876"/>
                  </a:lnTo>
                  <a:cubicBezTo>
                    <a:pt x="1849120" y="488696"/>
                    <a:pt x="1781175" y="556768"/>
                    <a:pt x="1697228" y="556768"/>
                  </a:cubicBezTo>
                  <a:lnTo>
                    <a:pt x="151892" y="556768"/>
                  </a:lnTo>
                  <a:cubicBezTo>
                    <a:pt x="67945" y="556768"/>
                    <a:pt x="0" y="488823"/>
                    <a:pt x="0" y="404876"/>
                  </a:cubicBezTo>
                  <a:close/>
                </a:path>
              </a:pathLst>
            </a:custGeom>
            <a:solidFill>
              <a:srgbClr val="EA580C">
                <a:alpha val="1569"/>
              </a:srgbClr>
            </a:solidFill>
            <a:ln w="15240" cap="sq">
              <a:solidFill>
                <a:srgbClr val="EA580C"/>
              </a:solidFill>
              <a:prstDash val="solid"/>
              <a:miter/>
            </a:ln>
          </p:spPr>
        </p:sp>
      </p:grpSp>
      <p:grpSp>
        <p:nvGrpSpPr>
          <p:cNvPr name="Group 151" id="151"/>
          <p:cNvGrpSpPr/>
          <p:nvPr/>
        </p:nvGrpSpPr>
        <p:grpSpPr>
          <a:xfrm rot="0">
            <a:off x="15361920" y="6035040"/>
            <a:ext cx="1371600" cy="402336"/>
            <a:chOff x="0" y="0"/>
            <a:chExt cx="1828800" cy="536448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1828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28575"/>
              <a:ext cx="1828800" cy="565023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EA58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 writers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505711" y="6851647"/>
            <a:ext cx="4218937" cy="2664457"/>
            <a:chOff x="0" y="0"/>
            <a:chExt cx="5625249" cy="3552609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5625211" cy="3552571"/>
            </a:xfrm>
            <a:custGeom>
              <a:avLst/>
              <a:gdLst/>
              <a:ahLst/>
              <a:cxnLst/>
              <a:rect r="r" b="b" t="t" l="l"/>
              <a:pathLst>
                <a:path h="3552571" w="5625211">
                  <a:moveTo>
                    <a:pt x="0" y="0"/>
                  </a:moveTo>
                  <a:lnTo>
                    <a:pt x="5625211" y="0"/>
                  </a:lnTo>
                  <a:lnTo>
                    <a:pt x="5625211" y="3552571"/>
                  </a:lnTo>
                  <a:lnTo>
                    <a:pt x="0" y="35525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156" id="156"/>
          <p:cNvGrpSpPr/>
          <p:nvPr/>
        </p:nvGrpSpPr>
        <p:grpSpPr>
          <a:xfrm rot="0">
            <a:off x="731520" y="7040880"/>
            <a:ext cx="3767328" cy="548640"/>
            <a:chOff x="0" y="0"/>
            <a:chExt cx="5023104" cy="731520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5023104" cy="731520"/>
            </a:xfrm>
            <a:custGeom>
              <a:avLst/>
              <a:gdLst/>
              <a:ahLst/>
              <a:cxnLst/>
              <a:rect r="r" b="b" t="t" l="l"/>
              <a:pathLst>
                <a:path h="731520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797" r="0" b="-83797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-47625"/>
              <a:ext cx="5023104" cy="779145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vehicle_tiers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731520" y="7626096"/>
            <a:ext cx="3767328" cy="1188720"/>
            <a:chOff x="0" y="0"/>
            <a:chExt cx="5023104" cy="1584960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5023104" cy="1584960"/>
            </a:xfrm>
            <a:custGeom>
              <a:avLst/>
              <a:gdLst/>
              <a:ahLst/>
              <a:cxnLst/>
              <a:rect r="r" b="b" t="t" l="l"/>
              <a:pathLst>
                <a:path h="1584960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52" r="0" b="-11752"/>
              </a:stretch>
            </a:blip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-38100"/>
              <a:ext cx="5023104" cy="1623060"/>
            </a:xfrm>
            <a:prstGeom prst="roundRect">
              <a:avLst>
                <a:gd name="adj" fmla="val 9241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Pricing config — daily rate, deposit, mileage limits per tier.</a:t>
              </a:r>
            </a:p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723900" y="8862060"/>
            <a:ext cx="1386840" cy="417576"/>
            <a:chOff x="0" y="0"/>
            <a:chExt cx="1849120" cy="556768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1849120" cy="556768"/>
            </a:xfrm>
            <a:custGeom>
              <a:avLst/>
              <a:gdLst/>
              <a:ahLst/>
              <a:cxnLst/>
              <a:rect r="r" b="b" t="t" l="l"/>
              <a:pathLst>
                <a:path h="556768" w="1849120">
                  <a:moveTo>
                    <a:pt x="0" y="151892"/>
                  </a:moveTo>
                  <a:cubicBezTo>
                    <a:pt x="0" y="67945"/>
                    <a:pt x="67945" y="0"/>
                    <a:pt x="151892" y="0"/>
                  </a:cubicBezTo>
                  <a:lnTo>
                    <a:pt x="1697228" y="0"/>
                  </a:lnTo>
                  <a:cubicBezTo>
                    <a:pt x="1781048" y="0"/>
                    <a:pt x="1849120" y="67945"/>
                    <a:pt x="1849120" y="151892"/>
                  </a:cubicBezTo>
                  <a:lnTo>
                    <a:pt x="1849120" y="404876"/>
                  </a:lnTo>
                  <a:cubicBezTo>
                    <a:pt x="1849120" y="488696"/>
                    <a:pt x="1781175" y="556768"/>
                    <a:pt x="1697228" y="556768"/>
                  </a:cubicBezTo>
                  <a:lnTo>
                    <a:pt x="151892" y="556768"/>
                  </a:lnTo>
                  <a:cubicBezTo>
                    <a:pt x="67945" y="556768"/>
                    <a:pt x="0" y="488823"/>
                    <a:pt x="0" y="404876"/>
                  </a:cubicBezTo>
                  <a:close/>
                </a:path>
              </a:pathLst>
            </a:custGeom>
            <a:solidFill>
              <a:srgbClr val="0D9488">
                <a:alpha val="1569"/>
              </a:srgbClr>
            </a:solidFill>
            <a:ln w="1524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164" id="164"/>
          <p:cNvGrpSpPr/>
          <p:nvPr/>
        </p:nvGrpSpPr>
        <p:grpSpPr>
          <a:xfrm rot="0">
            <a:off x="731520" y="8869680"/>
            <a:ext cx="1371600" cy="402336"/>
            <a:chOff x="0" y="0"/>
            <a:chExt cx="1828800" cy="536448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1828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28575"/>
              <a:ext cx="1828800" cy="565023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readers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2186940" y="8862060"/>
            <a:ext cx="1386840" cy="417576"/>
            <a:chOff x="0" y="0"/>
            <a:chExt cx="1849120" cy="556768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1849120" cy="556768"/>
            </a:xfrm>
            <a:custGeom>
              <a:avLst/>
              <a:gdLst/>
              <a:ahLst/>
              <a:cxnLst/>
              <a:rect r="r" b="b" t="t" l="l"/>
              <a:pathLst>
                <a:path h="556768" w="1849120">
                  <a:moveTo>
                    <a:pt x="0" y="151892"/>
                  </a:moveTo>
                  <a:cubicBezTo>
                    <a:pt x="0" y="67945"/>
                    <a:pt x="67945" y="0"/>
                    <a:pt x="151892" y="0"/>
                  </a:cubicBezTo>
                  <a:lnTo>
                    <a:pt x="1697228" y="0"/>
                  </a:lnTo>
                  <a:cubicBezTo>
                    <a:pt x="1781048" y="0"/>
                    <a:pt x="1849120" y="67945"/>
                    <a:pt x="1849120" y="151892"/>
                  </a:cubicBezTo>
                  <a:lnTo>
                    <a:pt x="1849120" y="404876"/>
                  </a:lnTo>
                  <a:cubicBezTo>
                    <a:pt x="1849120" y="488696"/>
                    <a:pt x="1781175" y="556768"/>
                    <a:pt x="1697228" y="556768"/>
                  </a:cubicBezTo>
                  <a:lnTo>
                    <a:pt x="151892" y="556768"/>
                  </a:lnTo>
                  <a:cubicBezTo>
                    <a:pt x="67945" y="556768"/>
                    <a:pt x="0" y="488823"/>
                    <a:pt x="0" y="404876"/>
                  </a:cubicBezTo>
                  <a:close/>
                </a:path>
              </a:pathLst>
            </a:custGeom>
            <a:solidFill>
              <a:srgbClr val="EA580C">
                <a:alpha val="1569"/>
              </a:srgbClr>
            </a:solidFill>
            <a:ln w="15240" cap="sq">
              <a:solidFill>
                <a:srgbClr val="EA580C"/>
              </a:solidFill>
              <a:prstDash val="solid"/>
              <a:miter/>
            </a:ln>
          </p:spPr>
        </p:sp>
      </p:grpSp>
      <p:grpSp>
        <p:nvGrpSpPr>
          <p:cNvPr name="Group 169" id="169"/>
          <p:cNvGrpSpPr/>
          <p:nvPr/>
        </p:nvGrpSpPr>
        <p:grpSpPr>
          <a:xfrm rot="0">
            <a:off x="2194560" y="8869680"/>
            <a:ext cx="1371600" cy="402336"/>
            <a:chOff x="0" y="0"/>
            <a:chExt cx="1828800" cy="536448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1828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171" id="171"/>
            <p:cNvSpPr txBox="true"/>
            <p:nvPr/>
          </p:nvSpPr>
          <p:spPr>
            <a:xfrm>
              <a:off x="0" y="-28575"/>
              <a:ext cx="1828800" cy="565023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EA58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admin only</a:t>
              </a:r>
            </a:p>
          </p:txBody>
        </p:sp>
      </p:grpSp>
      <p:grpSp>
        <p:nvGrpSpPr>
          <p:cNvPr name="Group 172" id="172"/>
          <p:cNvGrpSpPr/>
          <p:nvPr/>
        </p:nvGrpSpPr>
        <p:grpSpPr>
          <a:xfrm rot="0">
            <a:off x="4894831" y="6851647"/>
            <a:ext cx="4218937" cy="2664457"/>
            <a:chOff x="0" y="0"/>
            <a:chExt cx="5625249" cy="3552609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5625211" cy="3552571"/>
            </a:xfrm>
            <a:custGeom>
              <a:avLst/>
              <a:gdLst/>
              <a:ahLst/>
              <a:cxnLst/>
              <a:rect r="r" b="b" t="t" l="l"/>
              <a:pathLst>
                <a:path h="3552571" w="5625211">
                  <a:moveTo>
                    <a:pt x="0" y="0"/>
                  </a:moveTo>
                  <a:lnTo>
                    <a:pt x="5625211" y="0"/>
                  </a:lnTo>
                  <a:lnTo>
                    <a:pt x="5625211" y="3552571"/>
                  </a:lnTo>
                  <a:lnTo>
                    <a:pt x="0" y="35525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174" id="174"/>
          <p:cNvGrpSpPr/>
          <p:nvPr/>
        </p:nvGrpSpPr>
        <p:grpSpPr>
          <a:xfrm rot="0">
            <a:off x="5120640" y="7040880"/>
            <a:ext cx="3767328" cy="548640"/>
            <a:chOff x="0" y="0"/>
            <a:chExt cx="5023104" cy="73152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5023104" cy="731520"/>
            </a:xfrm>
            <a:custGeom>
              <a:avLst/>
              <a:gdLst/>
              <a:ahLst/>
              <a:cxnLst/>
              <a:rect r="r" b="b" t="t" l="l"/>
              <a:pathLst>
                <a:path h="731520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797" r="0" b="-83797"/>
              </a:stretch>
            </a:blipFill>
          </p:spPr>
        </p:sp>
        <p:sp>
          <p:nvSpPr>
            <p:cNvPr name="TextBox 176" id="176"/>
            <p:cNvSpPr txBox="true"/>
            <p:nvPr/>
          </p:nvSpPr>
          <p:spPr>
            <a:xfrm>
              <a:off x="0" y="-47625"/>
              <a:ext cx="5023104" cy="779145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dealers</a:t>
              </a:r>
            </a:p>
          </p:txBody>
        </p:sp>
      </p:grpSp>
      <p:grpSp>
        <p:nvGrpSpPr>
          <p:cNvPr name="Group 177" id="177"/>
          <p:cNvGrpSpPr/>
          <p:nvPr/>
        </p:nvGrpSpPr>
        <p:grpSpPr>
          <a:xfrm rot="0">
            <a:off x="5120640" y="7626096"/>
            <a:ext cx="3767328" cy="1188720"/>
            <a:chOff x="0" y="0"/>
            <a:chExt cx="5023104" cy="158496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5023104" cy="1584960"/>
            </a:xfrm>
            <a:custGeom>
              <a:avLst/>
              <a:gdLst/>
              <a:ahLst/>
              <a:cxnLst/>
              <a:rect r="r" b="b" t="t" l="l"/>
              <a:pathLst>
                <a:path h="1584960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52" r="0" b="-11752"/>
              </a:stretch>
            </a:blipFill>
          </p:spPr>
        </p:sp>
        <p:sp>
          <p:nvSpPr>
            <p:cNvPr name="TextBox 179" id="179"/>
            <p:cNvSpPr txBox="true"/>
            <p:nvPr/>
          </p:nvSpPr>
          <p:spPr>
            <a:xfrm>
              <a:off x="0" y="-38100"/>
              <a:ext cx="5023104" cy="1623060"/>
            </a:xfrm>
            <a:prstGeom prst="roundRect">
              <a:avLst>
                <a:gd name="adj" fmla="val 9241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Company name, GST, phone, address. Upserted on signup.</a:t>
              </a:r>
            </a:p>
          </p:txBody>
        </p:sp>
      </p:grpSp>
      <p:grpSp>
        <p:nvGrpSpPr>
          <p:cNvPr name="Group 180" id="180"/>
          <p:cNvGrpSpPr/>
          <p:nvPr/>
        </p:nvGrpSpPr>
        <p:grpSpPr>
          <a:xfrm rot="0">
            <a:off x="5113020" y="8862060"/>
            <a:ext cx="1386840" cy="417576"/>
            <a:chOff x="0" y="0"/>
            <a:chExt cx="1849120" cy="556768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1849120" cy="556768"/>
            </a:xfrm>
            <a:custGeom>
              <a:avLst/>
              <a:gdLst/>
              <a:ahLst/>
              <a:cxnLst/>
              <a:rect r="r" b="b" t="t" l="l"/>
              <a:pathLst>
                <a:path h="556768" w="1849120">
                  <a:moveTo>
                    <a:pt x="0" y="151892"/>
                  </a:moveTo>
                  <a:cubicBezTo>
                    <a:pt x="0" y="67945"/>
                    <a:pt x="67945" y="0"/>
                    <a:pt x="151892" y="0"/>
                  </a:cubicBezTo>
                  <a:lnTo>
                    <a:pt x="1697228" y="0"/>
                  </a:lnTo>
                  <a:cubicBezTo>
                    <a:pt x="1781048" y="0"/>
                    <a:pt x="1849120" y="67945"/>
                    <a:pt x="1849120" y="151892"/>
                  </a:cubicBezTo>
                  <a:lnTo>
                    <a:pt x="1849120" y="404876"/>
                  </a:lnTo>
                  <a:cubicBezTo>
                    <a:pt x="1849120" y="488696"/>
                    <a:pt x="1781175" y="556768"/>
                    <a:pt x="1697228" y="556768"/>
                  </a:cubicBezTo>
                  <a:lnTo>
                    <a:pt x="151892" y="556768"/>
                  </a:lnTo>
                  <a:cubicBezTo>
                    <a:pt x="67945" y="556768"/>
                    <a:pt x="0" y="488823"/>
                    <a:pt x="0" y="404876"/>
                  </a:cubicBezTo>
                  <a:close/>
                </a:path>
              </a:pathLst>
            </a:custGeom>
            <a:solidFill>
              <a:srgbClr val="0D9488">
                <a:alpha val="1569"/>
              </a:srgbClr>
            </a:solidFill>
            <a:ln w="1524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182" id="182"/>
          <p:cNvGrpSpPr/>
          <p:nvPr/>
        </p:nvGrpSpPr>
        <p:grpSpPr>
          <a:xfrm rot="0">
            <a:off x="5120640" y="8869680"/>
            <a:ext cx="1371600" cy="402336"/>
            <a:chOff x="0" y="0"/>
            <a:chExt cx="1828800" cy="53644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1828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28575"/>
              <a:ext cx="1828800" cy="565023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 readers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6576060" y="8862060"/>
            <a:ext cx="1386840" cy="417576"/>
            <a:chOff x="0" y="0"/>
            <a:chExt cx="1849120" cy="556768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1849120" cy="556768"/>
            </a:xfrm>
            <a:custGeom>
              <a:avLst/>
              <a:gdLst/>
              <a:ahLst/>
              <a:cxnLst/>
              <a:rect r="r" b="b" t="t" l="l"/>
              <a:pathLst>
                <a:path h="556768" w="1849120">
                  <a:moveTo>
                    <a:pt x="0" y="151892"/>
                  </a:moveTo>
                  <a:cubicBezTo>
                    <a:pt x="0" y="67945"/>
                    <a:pt x="67945" y="0"/>
                    <a:pt x="151892" y="0"/>
                  </a:cubicBezTo>
                  <a:lnTo>
                    <a:pt x="1697228" y="0"/>
                  </a:lnTo>
                  <a:cubicBezTo>
                    <a:pt x="1781048" y="0"/>
                    <a:pt x="1849120" y="67945"/>
                    <a:pt x="1849120" y="151892"/>
                  </a:cubicBezTo>
                  <a:lnTo>
                    <a:pt x="1849120" y="404876"/>
                  </a:lnTo>
                  <a:cubicBezTo>
                    <a:pt x="1849120" y="488696"/>
                    <a:pt x="1781175" y="556768"/>
                    <a:pt x="1697228" y="556768"/>
                  </a:cubicBezTo>
                  <a:lnTo>
                    <a:pt x="151892" y="556768"/>
                  </a:lnTo>
                  <a:cubicBezTo>
                    <a:pt x="67945" y="556768"/>
                    <a:pt x="0" y="488823"/>
                    <a:pt x="0" y="404876"/>
                  </a:cubicBezTo>
                  <a:close/>
                </a:path>
              </a:pathLst>
            </a:custGeom>
            <a:solidFill>
              <a:srgbClr val="EA580C">
                <a:alpha val="1569"/>
              </a:srgbClr>
            </a:solidFill>
            <a:ln w="15240" cap="sq">
              <a:solidFill>
                <a:srgbClr val="EA580C"/>
              </a:solidFill>
              <a:prstDash val="solid"/>
              <a:miter/>
            </a:ln>
          </p:spPr>
        </p:sp>
      </p:grpSp>
      <p:grpSp>
        <p:nvGrpSpPr>
          <p:cNvPr name="Group 187" id="187"/>
          <p:cNvGrpSpPr/>
          <p:nvPr/>
        </p:nvGrpSpPr>
        <p:grpSpPr>
          <a:xfrm rot="0">
            <a:off x="6583680" y="8869680"/>
            <a:ext cx="1371600" cy="402336"/>
            <a:chOff x="0" y="0"/>
            <a:chExt cx="1828800" cy="536448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1828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189" id="189"/>
            <p:cNvSpPr txBox="true"/>
            <p:nvPr/>
          </p:nvSpPr>
          <p:spPr>
            <a:xfrm>
              <a:off x="0" y="-28575"/>
              <a:ext cx="1828800" cy="565023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EA58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 writers</a:t>
              </a:r>
            </a:p>
          </p:txBody>
        </p:sp>
      </p:grpSp>
      <p:grpSp>
        <p:nvGrpSpPr>
          <p:cNvPr name="Group 190" id="190"/>
          <p:cNvGrpSpPr/>
          <p:nvPr/>
        </p:nvGrpSpPr>
        <p:grpSpPr>
          <a:xfrm rot="0">
            <a:off x="9283951" y="6851647"/>
            <a:ext cx="4218937" cy="2664457"/>
            <a:chOff x="0" y="0"/>
            <a:chExt cx="5625249" cy="3552609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5625211" cy="3552571"/>
            </a:xfrm>
            <a:custGeom>
              <a:avLst/>
              <a:gdLst/>
              <a:ahLst/>
              <a:cxnLst/>
              <a:rect r="r" b="b" t="t" l="l"/>
              <a:pathLst>
                <a:path h="3552571" w="5625211">
                  <a:moveTo>
                    <a:pt x="0" y="0"/>
                  </a:moveTo>
                  <a:lnTo>
                    <a:pt x="5625211" y="0"/>
                  </a:lnTo>
                  <a:lnTo>
                    <a:pt x="5625211" y="3552571"/>
                  </a:lnTo>
                  <a:lnTo>
                    <a:pt x="0" y="35525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192" id="192"/>
          <p:cNvGrpSpPr/>
          <p:nvPr/>
        </p:nvGrpSpPr>
        <p:grpSpPr>
          <a:xfrm rot="0">
            <a:off x="9509760" y="7040880"/>
            <a:ext cx="3767328" cy="548640"/>
            <a:chOff x="0" y="0"/>
            <a:chExt cx="5023104" cy="731520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023104" cy="731520"/>
            </a:xfrm>
            <a:custGeom>
              <a:avLst/>
              <a:gdLst/>
              <a:ahLst/>
              <a:cxnLst/>
              <a:rect r="r" b="b" t="t" l="l"/>
              <a:pathLst>
                <a:path h="731520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797" r="0" b="-83797"/>
              </a:stretch>
            </a:blipFill>
          </p:spPr>
        </p:sp>
        <p:sp>
          <p:nvSpPr>
            <p:cNvPr name="TextBox 194" id="194"/>
            <p:cNvSpPr txBox="true"/>
            <p:nvPr/>
          </p:nvSpPr>
          <p:spPr>
            <a:xfrm>
              <a:off x="0" y="-47625"/>
              <a:ext cx="5023104" cy="779145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inspections</a:t>
              </a:r>
            </a:p>
          </p:txBody>
        </p:sp>
      </p:grpSp>
      <p:grpSp>
        <p:nvGrpSpPr>
          <p:cNvPr name="Group 195" id="195"/>
          <p:cNvGrpSpPr/>
          <p:nvPr/>
        </p:nvGrpSpPr>
        <p:grpSpPr>
          <a:xfrm rot="0">
            <a:off x="9509760" y="7626096"/>
            <a:ext cx="3767328" cy="1188720"/>
            <a:chOff x="0" y="0"/>
            <a:chExt cx="5023104" cy="1584960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5023104" cy="1584960"/>
            </a:xfrm>
            <a:custGeom>
              <a:avLst/>
              <a:gdLst/>
              <a:ahLst/>
              <a:cxnLst/>
              <a:rect r="r" b="b" t="t" l="l"/>
              <a:pathLst>
                <a:path h="1584960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52" r="0" b="-11752"/>
              </a:stretch>
            </a:blipFill>
          </p:spPr>
        </p:sp>
        <p:sp>
          <p:nvSpPr>
            <p:cNvPr name="TextBox 197" id="197"/>
            <p:cNvSpPr txBox="true"/>
            <p:nvPr/>
          </p:nvSpPr>
          <p:spPr>
            <a:xfrm>
              <a:off x="0" y="-38100"/>
              <a:ext cx="5023104" cy="1623060"/>
            </a:xfrm>
            <a:prstGeom prst="roundRect">
              <a:avLst>
                <a:gd name="adj" fmla="val 9241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Vehicle checkout form. Written once per booking at handover.</a:t>
              </a:r>
            </a:p>
          </p:txBody>
        </p:sp>
      </p:grpSp>
      <p:grpSp>
        <p:nvGrpSpPr>
          <p:cNvPr name="Group 198" id="198"/>
          <p:cNvGrpSpPr/>
          <p:nvPr/>
        </p:nvGrpSpPr>
        <p:grpSpPr>
          <a:xfrm rot="0">
            <a:off x="9502140" y="8862060"/>
            <a:ext cx="1386840" cy="417576"/>
            <a:chOff x="0" y="0"/>
            <a:chExt cx="1849120" cy="556768"/>
          </a:xfrm>
        </p:grpSpPr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1849120" cy="556768"/>
            </a:xfrm>
            <a:custGeom>
              <a:avLst/>
              <a:gdLst/>
              <a:ahLst/>
              <a:cxnLst/>
              <a:rect r="r" b="b" t="t" l="l"/>
              <a:pathLst>
                <a:path h="556768" w="1849120">
                  <a:moveTo>
                    <a:pt x="0" y="151892"/>
                  </a:moveTo>
                  <a:cubicBezTo>
                    <a:pt x="0" y="67945"/>
                    <a:pt x="67945" y="0"/>
                    <a:pt x="151892" y="0"/>
                  </a:cubicBezTo>
                  <a:lnTo>
                    <a:pt x="1697228" y="0"/>
                  </a:lnTo>
                  <a:cubicBezTo>
                    <a:pt x="1781048" y="0"/>
                    <a:pt x="1849120" y="67945"/>
                    <a:pt x="1849120" y="151892"/>
                  </a:cubicBezTo>
                  <a:lnTo>
                    <a:pt x="1849120" y="404876"/>
                  </a:lnTo>
                  <a:cubicBezTo>
                    <a:pt x="1849120" y="488696"/>
                    <a:pt x="1781175" y="556768"/>
                    <a:pt x="1697228" y="556768"/>
                  </a:cubicBezTo>
                  <a:lnTo>
                    <a:pt x="151892" y="556768"/>
                  </a:lnTo>
                  <a:cubicBezTo>
                    <a:pt x="67945" y="556768"/>
                    <a:pt x="0" y="488823"/>
                    <a:pt x="0" y="404876"/>
                  </a:cubicBezTo>
                  <a:close/>
                </a:path>
              </a:pathLst>
            </a:custGeom>
            <a:solidFill>
              <a:srgbClr val="0D9488">
                <a:alpha val="1569"/>
              </a:srgbClr>
            </a:solidFill>
            <a:ln w="1524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200" id="200"/>
          <p:cNvGrpSpPr/>
          <p:nvPr/>
        </p:nvGrpSpPr>
        <p:grpSpPr>
          <a:xfrm rot="0">
            <a:off x="9509760" y="8869680"/>
            <a:ext cx="1371600" cy="402336"/>
            <a:chOff x="0" y="0"/>
            <a:chExt cx="1828800" cy="536448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1828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28575"/>
              <a:ext cx="1828800" cy="565023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UI soon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10965180" y="8862060"/>
            <a:ext cx="1386840" cy="417576"/>
            <a:chOff x="0" y="0"/>
            <a:chExt cx="1849120" cy="556768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1849120" cy="556768"/>
            </a:xfrm>
            <a:custGeom>
              <a:avLst/>
              <a:gdLst/>
              <a:ahLst/>
              <a:cxnLst/>
              <a:rect r="r" b="b" t="t" l="l"/>
              <a:pathLst>
                <a:path h="556768" w="1849120">
                  <a:moveTo>
                    <a:pt x="0" y="151892"/>
                  </a:moveTo>
                  <a:cubicBezTo>
                    <a:pt x="0" y="67945"/>
                    <a:pt x="67945" y="0"/>
                    <a:pt x="151892" y="0"/>
                  </a:cubicBezTo>
                  <a:lnTo>
                    <a:pt x="1697228" y="0"/>
                  </a:lnTo>
                  <a:cubicBezTo>
                    <a:pt x="1781048" y="0"/>
                    <a:pt x="1849120" y="67945"/>
                    <a:pt x="1849120" y="151892"/>
                  </a:cubicBezTo>
                  <a:lnTo>
                    <a:pt x="1849120" y="404876"/>
                  </a:lnTo>
                  <a:cubicBezTo>
                    <a:pt x="1849120" y="488696"/>
                    <a:pt x="1781175" y="556768"/>
                    <a:pt x="1697228" y="556768"/>
                  </a:cubicBezTo>
                  <a:lnTo>
                    <a:pt x="151892" y="556768"/>
                  </a:lnTo>
                  <a:cubicBezTo>
                    <a:pt x="67945" y="556768"/>
                    <a:pt x="0" y="488823"/>
                    <a:pt x="0" y="404876"/>
                  </a:cubicBezTo>
                  <a:close/>
                </a:path>
              </a:pathLst>
            </a:custGeom>
            <a:solidFill>
              <a:srgbClr val="EA580C">
                <a:alpha val="1569"/>
              </a:srgbClr>
            </a:solidFill>
            <a:ln w="15240" cap="sq">
              <a:solidFill>
                <a:srgbClr val="EA580C"/>
              </a:solidFill>
              <a:prstDash val="solid"/>
              <a:miter/>
            </a:ln>
          </p:spPr>
        </p:sp>
      </p:grpSp>
      <p:grpSp>
        <p:nvGrpSpPr>
          <p:cNvPr name="Group 205" id="205"/>
          <p:cNvGrpSpPr/>
          <p:nvPr/>
        </p:nvGrpSpPr>
        <p:grpSpPr>
          <a:xfrm rot="0">
            <a:off x="10972800" y="8869680"/>
            <a:ext cx="1371600" cy="402336"/>
            <a:chOff x="0" y="0"/>
            <a:chExt cx="1828800" cy="536448"/>
          </a:xfrm>
        </p:grpSpPr>
        <p:sp>
          <p:nvSpPr>
            <p:cNvPr name="Freeform 206" id="206"/>
            <p:cNvSpPr/>
            <p:nvPr/>
          </p:nvSpPr>
          <p:spPr>
            <a:xfrm flipH="false" flipV="false" rot="0">
              <a:off x="0" y="0"/>
              <a:ext cx="1828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207" id="207"/>
            <p:cNvSpPr txBox="true"/>
            <p:nvPr/>
          </p:nvSpPr>
          <p:spPr>
            <a:xfrm>
              <a:off x="0" y="-28575"/>
              <a:ext cx="1828800" cy="565023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EA58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writer</a:t>
              </a:r>
            </a:p>
          </p:txBody>
        </p:sp>
      </p:grpSp>
      <p:grpSp>
        <p:nvGrpSpPr>
          <p:cNvPr name="Group 208" id="208"/>
          <p:cNvGrpSpPr/>
          <p:nvPr/>
        </p:nvGrpSpPr>
        <p:grpSpPr>
          <a:xfrm rot="0">
            <a:off x="13673071" y="6851647"/>
            <a:ext cx="4218937" cy="2664457"/>
            <a:chOff x="0" y="0"/>
            <a:chExt cx="5625249" cy="3552609"/>
          </a:xfrm>
        </p:grpSpPr>
        <p:sp>
          <p:nvSpPr>
            <p:cNvPr name="Freeform 209" id="209"/>
            <p:cNvSpPr/>
            <p:nvPr/>
          </p:nvSpPr>
          <p:spPr>
            <a:xfrm flipH="false" flipV="false" rot="0">
              <a:off x="0" y="0"/>
              <a:ext cx="5625211" cy="3552571"/>
            </a:xfrm>
            <a:custGeom>
              <a:avLst/>
              <a:gdLst/>
              <a:ahLst/>
              <a:cxnLst/>
              <a:rect r="r" b="b" t="t" l="l"/>
              <a:pathLst>
                <a:path h="3552571" w="5625211">
                  <a:moveTo>
                    <a:pt x="0" y="0"/>
                  </a:moveTo>
                  <a:lnTo>
                    <a:pt x="5625211" y="0"/>
                  </a:lnTo>
                  <a:lnTo>
                    <a:pt x="5625211" y="3552571"/>
                  </a:lnTo>
                  <a:lnTo>
                    <a:pt x="0" y="35525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210" id="210"/>
          <p:cNvGrpSpPr/>
          <p:nvPr/>
        </p:nvGrpSpPr>
        <p:grpSpPr>
          <a:xfrm rot="0">
            <a:off x="13898880" y="7040880"/>
            <a:ext cx="3767328" cy="548640"/>
            <a:chOff x="0" y="0"/>
            <a:chExt cx="5023104" cy="731520"/>
          </a:xfrm>
        </p:grpSpPr>
        <p:sp>
          <p:nvSpPr>
            <p:cNvPr name="Freeform 211" id="211"/>
            <p:cNvSpPr/>
            <p:nvPr/>
          </p:nvSpPr>
          <p:spPr>
            <a:xfrm flipH="false" flipV="false" rot="0">
              <a:off x="0" y="0"/>
              <a:ext cx="5023104" cy="731520"/>
            </a:xfrm>
            <a:custGeom>
              <a:avLst/>
              <a:gdLst/>
              <a:ahLst/>
              <a:cxnLst/>
              <a:rect r="r" b="b" t="t" l="l"/>
              <a:pathLst>
                <a:path h="731520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797" r="0" b="-83797"/>
              </a:stretch>
            </a:blipFill>
          </p:spPr>
        </p:sp>
        <p:sp>
          <p:nvSpPr>
            <p:cNvPr name="TextBox 212" id="212"/>
            <p:cNvSpPr txBox="true"/>
            <p:nvPr/>
          </p:nvSpPr>
          <p:spPr>
            <a:xfrm>
              <a:off x="0" y="-47625"/>
              <a:ext cx="5023104" cy="779145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9AA6B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bulk_bookings</a:t>
              </a:r>
            </a:p>
          </p:txBody>
        </p:sp>
      </p:grpSp>
      <p:grpSp>
        <p:nvGrpSpPr>
          <p:cNvPr name="Group 213" id="213"/>
          <p:cNvGrpSpPr/>
          <p:nvPr/>
        </p:nvGrpSpPr>
        <p:grpSpPr>
          <a:xfrm rot="0">
            <a:off x="13898880" y="7626096"/>
            <a:ext cx="3767328" cy="1188720"/>
            <a:chOff x="0" y="0"/>
            <a:chExt cx="5023104" cy="1584960"/>
          </a:xfrm>
        </p:grpSpPr>
        <p:sp>
          <p:nvSpPr>
            <p:cNvPr name="Freeform 214" id="214"/>
            <p:cNvSpPr/>
            <p:nvPr/>
          </p:nvSpPr>
          <p:spPr>
            <a:xfrm flipH="false" flipV="false" rot="0">
              <a:off x="0" y="0"/>
              <a:ext cx="5023104" cy="1584960"/>
            </a:xfrm>
            <a:custGeom>
              <a:avLst/>
              <a:gdLst/>
              <a:ahLst/>
              <a:cxnLst/>
              <a:rect r="r" b="b" t="t" l="l"/>
              <a:pathLst>
                <a:path h="1584960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52" r="0" b="-11752"/>
              </a:stretch>
            </a:blipFill>
          </p:spPr>
        </p:sp>
        <p:sp>
          <p:nvSpPr>
            <p:cNvPr name="TextBox 215" id="215"/>
            <p:cNvSpPr txBox="true"/>
            <p:nvPr/>
          </p:nvSpPr>
          <p:spPr>
            <a:xfrm>
              <a:off x="0" y="-38100"/>
              <a:ext cx="5023104" cy="1623060"/>
            </a:xfrm>
            <a:prstGeom prst="roundRect">
              <a:avLst>
                <a:gd name="adj" fmla="val 9241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Group fleet booking headers. Schema ready, UI in progress.</a:t>
              </a:r>
            </a:p>
          </p:txBody>
        </p:sp>
      </p:grpSp>
      <p:grpSp>
        <p:nvGrpSpPr>
          <p:cNvPr name="Group 216" id="216"/>
          <p:cNvGrpSpPr/>
          <p:nvPr/>
        </p:nvGrpSpPr>
        <p:grpSpPr>
          <a:xfrm rot="0">
            <a:off x="13891260" y="8862060"/>
            <a:ext cx="1386840" cy="417576"/>
            <a:chOff x="0" y="0"/>
            <a:chExt cx="1849120" cy="556768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1849120" cy="556768"/>
            </a:xfrm>
            <a:custGeom>
              <a:avLst/>
              <a:gdLst/>
              <a:ahLst/>
              <a:cxnLst/>
              <a:rect r="r" b="b" t="t" l="l"/>
              <a:pathLst>
                <a:path h="556768" w="1849120">
                  <a:moveTo>
                    <a:pt x="0" y="151892"/>
                  </a:moveTo>
                  <a:cubicBezTo>
                    <a:pt x="0" y="67945"/>
                    <a:pt x="67945" y="0"/>
                    <a:pt x="151892" y="0"/>
                  </a:cubicBezTo>
                  <a:lnTo>
                    <a:pt x="1697228" y="0"/>
                  </a:lnTo>
                  <a:cubicBezTo>
                    <a:pt x="1781048" y="0"/>
                    <a:pt x="1849120" y="67945"/>
                    <a:pt x="1849120" y="151892"/>
                  </a:cubicBezTo>
                  <a:lnTo>
                    <a:pt x="1849120" y="404876"/>
                  </a:lnTo>
                  <a:cubicBezTo>
                    <a:pt x="1849120" y="488696"/>
                    <a:pt x="1781175" y="556768"/>
                    <a:pt x="1697228" y="556768"/>
                  </a:cubicBezTo>
                  <a:lnTo>
                    <a:pt x="151892" y="556768"/>
                  </a:lnTo>
                  <a:cubicBezTo>
                    <a:pt x="67945" y="556768"/>
                    <a:pt x="0" y="488823"/>
                    <a:pt x="0" y="404876"/>
                  </a:cubicBezTo>
                  <a:close/>
                </a:path>
              </a:pathLst>
            </a:custGeom>
            <a:solidFill>
              <a:srgbClr val="0D9488">
                <a:alpha val="1569"/>
              </a:srgbClr>
            </a:solidFill>
            <a:ln w="1524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218" id="218"/>
          <p:cNvGrpSpPr/>
          <p:nvPr/>
        </p:nvGrpSpPr>
        <p:grpSpPr>
          <a:xfrm rot="0">
            <a:off x="13898880" y="8869680"/>
            <a:ext cx="1371600" cy="402336"/>
            <a:chOff x="0" y="0"/>
            <a:chExt cx="1828800" cy="536448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1828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220" id="220"/>
            <p:cNvSpPr txBox="true"/>
            <p:nvPr/>
          </p:nvSpPr>
          <p:spPr>
            <a:xfrm>
              <a:off x="0" y="-28575"/>
              <a:ext cx="1828800" cy="565023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reader</a:t>
              </a:r>
            </a:p>
          </p:txBody>
        </p:sp>
      </p:grpSp>
      <p:grpSp>
        <p:nvGrpSpPr>
          <p:cNvPr name="Group 221" id="221"/>
          <p:cNvGrpSpPr/>
          <p:nvPr/>
        </p:nvGrpSpPr>
        <p:grpSpPr>
          <a:xfrm rot="0">
            <a:off x="15354300" y="8862060"/>
            <a:ext cx="1386840" cy="417576"/>
            <a:chOff x="0" y="0"/>
            <a:chExt cx="1849120" cy="556768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1849120" cy="556768"/>
            </a:xfrm>
            <a:custGeom>
              <a:avLst/>
              <a:gdLst/>
              <a:ahLst/>
              <a:cxnLst/>
              <a:rect r="r" b="b" t="t" l="l"/>
              <a:pathLst>
                <a:path h="556768" w="1849120">
                  <a:moveTo>
                    <a:pt x="0" y="151892"/>
                  </a:moveTo>
                  <a:cubicBezTo>
                    <a:pt x="0" y="67945"/>
                    <a:pt x="67945" y="0"/>
                    <a:pt x="151892" y="0"/>
                  </a:cubicBezTo>
                  <a:lnTo>
                    <a:pt x="1697228" y="0"/>
                  </a:lnTo>
                  <a:cubicBezTo>
                    <a:pt x="1781048" y="0"/>
                    <a:pt x="1849120" y="67945"/>
                    <a:pt x="1849120" y="151892"/>
                  </a:cubicBezTo>
                  <a:lnTo>
                    <a:pt x="1849120" y="404876"/>
                  </a:lnTo>
                  <a:cubicBezTo>
                    <a:pt x="1849120" y="488696"/>
                    <a:pt x="1781175" y="556768"/>
                    <a:pt x="1697228" y="556768"/>
                  </a:cubicBezTo>
                  <a:lnTo>
                    <a:pt x="151892" y="556768"/>
                  </a:lnTo>
                  <a:cubicBezTo>
                    <a:pt x="67945" y="556768"/>
                    <a:pt x="0" y="488823"/>
                    <a:pt x="0" y="404876"/>
                  </a:cubicBezTo>
                  <a:close/>
                </a:path>
              </a:pathLst>
            </a:custGeom>
            <a:solidFill>
              <a:srgbClr val="EA580C">
                <a:alpha val="1569"/>
              </a:srgbClr>
            </a:solidFill>
            <a:ln w="15240" cap="sq">
              <a:solidFill>
                <a:srgbClr val="EA580C"/>
              </a:solidFill>
              <a:prstDash val="solid"/>
              <a:miter/>
            </a:ln>
          </p:spPr>
        </p:sp>
      </p:grpSp>
      <p:grpSp>
        <p:nvGrpSpPr>
          <p:cNvPr name="Group 223" id="223"/>
          <p:cNvGrpSpPr/>
          <p:nvPr/>
        </p:nvGrpSpPr>
        <p:grpSpPr>
          <a:xfrm rot="0">
            <a:off x="15361920" y="8869680"/>
            <a:ext cx="1371600" cy="402336"/>
            <a:chOff x="0" y="0"/>
            <a:chExt cx="1828800" cy="536448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1828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-28575"/>
              <a:ext cx="1828800" cy="565023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EA58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wip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0" y="9784080"/>
            <a:ext cx="18288000" cy="512064"/>
            <a:chOff x="0" y="0"/>
            <a:chExt cx="24384000" cy="682752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2438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5894" r="0" b="-645894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-28575"/>
              <a:ext cx="2438400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9AA6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Tej Prakash  ·  Harsimran Kaur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8300697" cy="1018537"/>
            <a:chOff x="0" y="0"/>
            <a:chExt cx="24400929" cy="13580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0890" cy="1358011"/>
            </a:xfrm>
            <a:custGeom>
              <a:avLst/>
              <a:gdLst/>
              <a:ahLst/>
              <a:cxnLst/>
              <a:rect r="r" b="b" t="t" l="l"/>
              <a:pathLst>
                <a:path h="1358011" w="24400890">
                  <a:moveTo>
                    <a:pt x="0" y="0"/>
                  </a:moveTo>
                  <a:lnTo>
                    <a:pt x="24400890" y="0"/>
                  </a:lnTo>
                  <a:lnTo>
                    <a:pt x="24400890" y="1358011"/>
                  </a:lnTo>
                  <a:lnTo>
                    <a:pt x="0" y="1358011"/>
                  </a:lnTo>
                  <a:close/>
                </a:path>
              </a:pathLst>
            </a:custGeom>
            <a:solidFill>
              <a:srgbClr val="EEF2F9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146304"/>
            <a:ext cx="1645920" cy="694944"/>
            <a:chOff x="0" y="0"/>
            <a:chExt cx="2194560" cy="9265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72" t="0" r="-4172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" cy="964692"/>
            </a:xfrm>
            <a:prstGeom prst="roundRect">
              <a:avLst>
                <a:gd name="adj" fmla="val 15549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 / 13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377440" y="146304"/>
            <a:ext cx="12801600" cy="694944"/>
            <a:chOff x="0" y="0"/>
            <a:chExt cx="17068800" cy="9265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934" r="0" b="-30893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7068800" cy="983742"/>
            </a:xfrm>
            <a:prstGeom prst="roundRect">
              <a:avLst>
                <a:gd name="adj" fmla="val 15247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Analytics &amp; Dashboards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3727" y="1182367"/>
            <a:ext cx="8333737" cy="8242297"/>
            <a:chOff x="0" y="0"/>
            <a:chExt cx="11111649" cy="109897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111611" cy="10989691"/>
            </a:xfrm>
            <a:custGeom>
              <a:avLst/>
              <a:gdLst/>
              <a:ahLst/>
              <a:cxnLst/>
              <a:rect r="r" b="b" t="t" l="l"/>
              <a:pathLst>
                <a:path h="10989691" w="11111611">
                  <a:moveTo>
                    <a:pt x="0" y="0"/>
                  </a:moveTo>
                  <a:lnTo>
                    <a:pt x="11111611" y="0"/>
                  </a:lnTo>
                  <a:lnTo>
                    <a:pt x="11111611" y="10989691"/>
                  </a:lnTo>
                  <a:lnTo>
                    <a:pt x="0" y="1098969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1316736"/>
            <a:ext cx="5120640" cy="585216"/>
            <a:chOff x="0" y="0"/>
            <a:chExt cx="6827520" cy="7802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827520" cy="818388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👔  Admin View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391913" y="1307849"/>
            <a:ext cx="2029463" cy="493271"/>
            <a:chOff x="0" y="0"/>
            <a:chExt cx="2705951" cy="65769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05989" cy="657733"/>
            </a:xfrm>
            <a:custGeom>
              <a:avLst/>
              <a:gdLst/>
              <a:ahLst/>
              <a:cxnLst/>
              <a:rect r="r" b="b" t="t" l="l"/>
              <a:pathLst>
                <a:path h="657733" w="2705989">
                  <a:moveTo>
                    <a:pt x="0" y="252984"/>
                  </a:moveTo>
                  <a:cubicBezTo>
                    <a:pt x="0" y="113284"/>
                    <a:pt x="113284" y="0"/>
                    <a:pt x="252984" y="0"/>
                  </a:cubicBezTo>
                  <a:lnTo>
                    <a:pt x="2453005" y="0"/>
                  </a:lnTo>
                  <a:cubicBezTo>
                    <a:pt x="2592705" y="0"/>
                    <a:pt x="2705989" y="113284"/>
                    <a:pt x="2705989" y="252984"/>
                  </a:cubicBezTo>
                  <a:lnTo>
                    <a:pt x="2705989" y="404749"/>
                  </a:lnTo>
                  <a:cubicBezTo>
                    <a:pt x="2705989" y="544449"/>
                    <a:pt x="2592705" y="657733"/>
                    <a:pt x="2453005" y="657733"/>
                  </a:cubicBezTo>
                  <a:lnTo>
                    <a:pt x="252984" y="657733"/>
                  </a:lnTo>
                  <a:cubicBezTo>
                    <a:pt x="113284" y="657733"/>
                    <a:pt x="0" y="544449"/>
                    <a:pt x="0" y="404749"/>
                  </a:cubicBezTo>
                  <a:close/>
                </a:path>
              </a:pathLst>
            </a:custGeom>
            <a:solidFill>
              <a:srgbClr val="2563EB">
                <a:alpha val="2353"/>
              </a:srgbClr>
            </a:solidFill>
            <a:ln w="1778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400800" y="1316736"/>
            <a:ext cx="2011680" cy="475488"/>
            <a:chOff x="0" y="0"/>
            <a:chExt cx="2682240" cy="6339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682240" cy="633984"/>
            </a:xfrm>
            <a:custGeom>
              <a:avLst/>
              <a:gdLst/>
              <a:ahLst/>
              <a:cxnLst/>
              <a:rect r="r" b="b" t="t" l="l"/>
              <a:pathLst>
                <a:path h="63398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436" r="0" b="-3243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2682240" cy="662559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 pages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08047" y="2041903"/>
            <a:ext cx="3615433" cy="1658617"/>
            <a:chOff x="0" y="0"/>
            <a:chExt cx="4820577" cy="221148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20539" cy="2211451"/>
            </a:xfrm>
            <a:custGeom>
              <a:avLst/>
              <a:gdLst/>
              <a:ahLst/>
              <a:cxnLst/>
              <a:rect r="r" b="b" t="t" l="l"/>
              <a:pathLst>
                <a:path h="2211451" w="4820539">
                  <a:moveTo>
                    <a:pt x="0" y="0"/>
                  </a:moveTo>
                  <a:lnTo>
                    <a:pt x="4820539" y="0"/>
                  </a:lnTo>
                  <a:lnTo>
                    <a:pt x="4820539" y="2211451"/>
                  </a:lnTo>
                  <a:lnTo>
                    <a:pt x="0" y="2211451"/>
                  </a:lnTo>
                  <a:close/>
                </a:path>
              </a:pathLst>
            </a:custGeom>
            <a:solidFill>
              <a:srgbClr val="F7F9FC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14400" y="2194560"/>
            <a:ext cx="3602736" cy="768096"/>
            <a:chOff x="0" y="0"/>
            <a:chExt cx="4803648" cy="10241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803648" cy="1024128"/>
            </a:xfrm>
            <a:custGeom>
              <a:avLst/>
              <a:gdLst/>
              <a:ahLst/>
              <a:cxnLst/>
              <a:rect r="r" b="b" t="t" l="l"/>
              <a:pathLst>
                <a:path h="1024128" w="4803648">
                  <a:moveTo>
                    <a:pt x="0" y="0"/>
                  </a:moveTo>
                  <a:lnTo>
                    <a:pt x="4803648" y="0"/>
                  </a:lnTo>
                  <a:lnTo>
                    <a:pt x="480364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394" r="0" b="-4139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85725"/>
              <a:ext cx="4803648" cy="1109853"/>
            </a:xfrm>
            <a:prstGeom prst="roundRect">
              <a:avLst>
                <a:gd name="adj" fmla="val 13515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₹2.4L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2999232"/>
            <a:ext cx="3602736" cy="475488"/>
            <a:chOff x="0" y="0"/>
            <a:chExt cx="4803648" cy="6339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803648" cy="633984"/>
            </a:xfrm>
            <a:custGeom>
              <a:avLst/>
              <a:gdLst/>
              <a:ahLst/>
              <a:cxnLst/>
              <a:rect r="r" b="b" t="t" l="l"/>
              <a:pathLst>
                <a:path h="633984" w="4803648">
                  <a:moveTo>
                    <a:pt x="0" y="0"/>
                  </a:moveTo>
                  <a:lnTo>
                    <a:pt x="4803648" y="0"/>
                  </a:lnTo>
                  <a:lnTo>
                    <a:pt x="480364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636" r="0" b="-9763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803648" cy="672084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Monthly Revenue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785103" y="2041903"/>
            <a:ext cx="3615433" cy="1658617"/>
            <a:chOff x="0" y="0"/>
            <a:chExt cx="4820577" cy="221148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820539" cy="2211451"/>
            </a:xfrm>
            <a:custGeom>
              <a:avLst/>
              <a:gdLst/>
              <a:ahLst/>
              <a:cxnLst/>
              <a:rect r="r" b="b" t="t" l="l"/>
              <a:pathLst>
                <a:path h="2211451" w="4820539">
                  <a:moveTo>
                    <a:pt x="0" y="0"/>
                  </a:moveTo>
                  <a:lnTo>
                    <a:pt x="4820539" y="0"/>
                  </a:lnTo>
                  <a:lnTo>
                    <a:pt x="4820539" y="2211451"/>
                  </a:lnTo>
                  <a:lnTo>
                    <a:pt x="0" y="2211451"/>
                  </a:lnTo>
                  <a:close/>
                </a:path>
              </a:pathLst>
            </a:custGeom>
            <a:solidFill>
              <a:srgbClr val="F7F9FC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4791456" y="2194560"/>
            <a:ext cx="3602736" cy="768096"/>
            <a:chOff x="0" y="0"/>
            <a:chExt cx="4803648" cy="102412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03648" cy="1024128"/>
            </a:xfrm>
            <a:custGeom>
              <a:avLst/>
              <a:gdLst/>
              <a:ahLst/>
              <a:cxnLst/>
              <a:rect r="r" b="b" t="t" l="l"/>
              <a:pathLst>
                <a:path h="1024128" w="4803648">
                  <a:moveTo>
                    <a:pt x="0" y="0"/>
                  </a:moveTo>
                  <a:lnTo>
                    <a:pt x="4803648" y="0"/>
                  </a:lnTo>
                  <a:lnTo>
                    <a:pt x="480364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394" r="0" b="-4139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85725"/>
              <a:ext cx="4803648" cy="1109853"/>
            </a:xfrm>
            <a:prstGeom prst="roundRect">
              <a:avLst>
                <a:gd name="adj" fmla="val 13515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87%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791456" y="2999232"/>
            <a:ext cx="3602736" cy="475488"/>
            <a:chOff x="0" y="0"/>
            <a:chExt cx="4803648" cy="63398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03648" cy="633984"/>
            </a:xfrm>
            <a:custGeom>
              <a:avLst/>
              <a:gdLst/>
              <a:ahLst/>
              <a:cxnLst/>
              <a:rect r="r" b="b" t="t" l="l"/>
              <a:pathLst>
                <a:path h="633984" w="4803648">
                  <a:moveTo>
                    <a:pt x="0" y="0"/>
                  </a:moveTo>
                  <a:lnTo>
                    <a:pt x="4803648" y="0"/>
                  </a:lnTo>
                  <a:lnTo>
                    <a:pt x="480364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636" r="0" b="-9763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4803648" cy="672084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Fleet Utilisation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08047" y="3962143"/>
            <a:ext cx="3615433" cy="1658617"/>
            <a:chOff x="0" y="0"/>
            <a:chExt cx="4820577" cy="221148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820539" cy="2211451"/>
            </a:xfrm>
            <a:custGeom>
              <a:avLst/>
              <a:gdLst/>
              <a:ahLst/>
              <a:cxnLst/>
              <a:rect r="r" b="b" t="t" l="l"/>
              <a:pathLst>
                <a:path h="2211451" w="4820539">
                  <a:moveTo>
                    <a:pt x="0" y="0"/>
                  </a:moveTo>
                  <a:lnTo>
                    <a:pt x="4820539" y="0"/>
                  </a:lnTo>
                  <a:lnTo>
                    <a:pt x="4820539" y="2211451"/>
                  </a:lnTo>
                  <a:lnTo>
                    <a:pt x="0" y="2211451"/>
                  </a:lnTo>
                  <a:close/>
                </a:path>
              </a:pathLst>
            </a:custGeom>
            <a:solidFill>
              <a:srgbClr val="F7F9FC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14400" y="4114800"/>
            <a:ext cx="3602736" cy="768096"/>
            <a:chOff x="0" y="0"/>
            <a:chExt cx="4803648" cy="102412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803648" cy="1024128"/>
            </a:xfrm>
            <a:custGeom>
              <a:avLst/>
              <a:gdLst/>
              <a:ahLst/>
              <a:cxnLst/>
              <a:rect r="r" b="b" t="t" l="l"/>
              <a:pathLst>
                <a:path h="1024128" w="4803648">
                  <a:moveTo>
                    <a:pt x="0" y="0"/>
                  </a:moveTo>
                  <a:lnTo>
                    <a:pt x="4803648" y="0"/>
                  </a:lnTo>
                  <a:lnTo>
                    <a:pt x="480364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394" r="0" b="-4139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85725"/>
              <a:ext cx="4803648" cy="1109853"/>
            </a:xfrm>
            <a:prstGeom prst="roundRect">
              <a:avLst>
                <a:gd name="adj" fmla="val 13515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34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14400" y="4919472"/>
            <a:ext cx="3602736" cy="475488"/>
            <a:chOff x="0" y="0"/>
            <a:chExt cx="4803648" cy="63398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803648" cy="633984"/>
            </a:xfrm>
            <a:custGeom>
              <a:avLst/>
              <a:gdLst/>
              <a:ahLst/>
              <a:cxnLst/>
              <a:rect r="r" b="b" t="t" l="l"/>
              <a:pathLst>
                <a:path h="633984" w="4803648">
                  <a:moveTo>
                    <a:pt x="0" y="0"/>
                  </a:moveTo>
                  <a:lnTo>
                    <a:pt x="4803648" y="0"/>
                  </a:lnTo>
                  <a:lnTo>
                    <a:pt x="480364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636" r="0" b="-9763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803648" cy="672084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Active Bookings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785103" y="3962143"/>
            <a:ext cx="3615433" cy="1658617"/>
            <a:chOff x="0" y="0"/>
            <a:chExt cx="4820577" cy="221148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820539" cy="2211451"/>
            </a:xfrm>
            <a:custGeom>
              <a:avLst/>
              <a:gdLst/>
              <a:ahLst/>
              <a:cxnLst/>
              <a:rect r="r" b="b" t="t" l="l"/>
              <a:pathLst>
                <a:path h="2211451" w="4820539">
                  <a:moveTo>
                    <a:pt x="0" y="0"/>
                  </a:moveTo>
                  <a:lnTo>
                    <a:pt x="4820539" y="0"/>
                  </a:lnTo>
                  <a:lnTo>
                    <a:pt x="4820539" y="2211451"/>
                  </a:lnTo>
                  <a:lnTo>
                    <a:pt x="0" y="2211451"/>
                  </a:lnTo>
                  <a:close/>
                </a:path>
              </a:pathLst>
            </a:custGeom>
            <a:solidFill>
              <a:srgbClr val="F7F9FC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4791456" y="4114800"/>
            <a:ext cx="3602736" cy="768096"/>
            <a:chOff x="0" y="0"/>
            <a:chExt cx="4803648" cy="102412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803648" cy="1024128"/>
            </a:xfrm>
            <a:custGeom>
              <a:avLst/>
              <a:gdLst/>
              <a:ahLst/>
              <a:cxnLst/>
              <a:rect r="r" b="b" t="t" l="l"/>
              <a:pathLst>
                <a:path h="1024128" w="4803648">
                  <a:moveTo>
                    <a:pt x="0" y="0"/>
                  </a:moveTo>
                  <a:lnTo>
                    <a:pt x="4803648" y="0"/>
                  </a:lnTo>
                  <a:lnTo>
                    <a:pt x="480364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394" r="0" b="-4139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85725"/>
              <a:ext cx="4803648" cy="1109853"/>
            </a:xfrm>
            <a:prstGeom prst="roundRect">
              <a:avLst>
                <a:gd name="adj" fmla="val 13515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4791456" y="4919472"/>
            <a:ext cx="3602736" cy="475488"/>
            <a:chOff x="0" y="0"/>
            <a:chExt cx="4803648" cy="63398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803648" cy="633984"/>
            </a:xfrm>
            <a:custGeom>
              <a:avLst/>
              <a:gdLst/>
              <a:ahLst/>
              <a:cxnLst/>
              <a:rect r="r" b="b" t="t" l="l"/>
              <a:pathLst>
                <a:path h="633984" w="4803648">
                  <a:moveTo>
                    <a:pt x="0" y="0"/>
                  </a:moveTo>
                  <a:lnTo>
                    <a:pt x="4803648" y="0"/>
                  </a:lnTo>
                  <a:lnTo>
                    <a:pt x="480364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636" r="0" b="-9763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4803648" cy="672084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Pending Approvals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14400" y="6126480"/>
            <a:ext cx="7772400" cy="2834640"/>
            <a:chOff x="0" y="0"/>
            <a:chExt cx="10363200" cy="3779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363200" cy="3779520"/>
            </a:xfrm>
            <a:custGeom>
              <a:avLst/>
              <a:gdLst/>
              <a:ahLst/>
              <a:cxnLst/>
              <a:rect r="r" b="b" t="t" l="l"/>
              <a:pathLst>
                <a:path h="377952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26" r="0" b="-342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0363200" cy="3817620"/>
            </a:xfrm>
            <a:prstGeom prst="roundRect">
              <a:avLst>
                <a:gd name="adj" fmla="val 4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Annual revenue pie · Monthly bar charts · Vehicle utilisation · Booking-to-revenue breakdown · Advisor performance · Full audit log with CSV export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320527" y="1182367"/>
            <a:ext cx="8333737" cy="8242297"/>
            <a:chOff x="0" y="0"/>
            <a:chExt cx="11111649" cy="1098972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111611" cy="10989691"/>
            </a:xfrm>
            <a:custGeom>
              <a:avLst/>
              <a:gdLst/>
              <a:ahLst/>
              <a:cxnLst/>
              <a:rect r="r" b="b" t="t" l="l"/>
              <a:pathLst>
                <a:path h="10989691" w="11111611">
                  <a:moveTo>
                    <a:pt x="0" y="0"/>
                  </a:moveTo>
                  <a:lnTo>
                    <a:pt x="11111611" y="0"/>
                  </a:lnTo>
                  <a:lnTo>
                    <a:pt x="11111611" y="10989691"/>
                  </a:lnTo>
                  <a:lnTo>
                    <a:pt x="0" y="1098969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9601200" y="1316736"/>
            <a:ext cx="5120640" cy="585216"/>
            <a:chOff x="0" y="0"/>
            <a:chExt cx="6827520" cy="78028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6827520" cy="818388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🧑‍💼  Dealer View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4987273" y="1307849"/>
            <a:ext cx="2212343" cy="493271"/>
            <a:chOff x="0" y="0"/>
            <a:chExt cx="2949791" cy="65769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949829" cy="657733"/>
            </a:xfrm>
            <a:custGeom>
              <a:avLst/>
              <a:gdLst/>
              <a:ahLst/>
              <a:cxnLst/>
              <a:rect r="r" b="b" t="t" l="l"/>
              <a:pathLst>
                <a:path h="657733" w="2949829">
                  <a:moveTo>
                    <a:pt x="0" y="252984"/>
                  </a:moveTo>
                  <a:cubicBezTo>
                    <a:pt x="0" y="113284"/>
                    <a:pt x="113284" y="0"/>
                    <a:pt x="252984" y="0"/>
                  </a:cubicBezTo>
                  <a:lnTo>
                    <a:pt x="2696845" y="0"/>
                  </a:lnTo>
                  <a:cubicBezTo>
                    <a:pt x="2836545" y="0"/>
                    <a:pt x="2949829" y="113284"/>
                    <a:pt x="2949829" y="252984"/>
                  </a:cubicBezTo>
                  <a:lnTo>
                    <a:pt x="2949829" y="404749"/>
                  </a:lnTo>
                  <a:cubicBezTo>
                    <a:pt x="2949829" y="544449"/>
                    <a:pt x="2836545" y="657733"/>
                    <a:pt x="2696845" y="657733"/>
                  </a:cubicBezTo>
                  <a:lnTo>
                    <a:pt x="252984" y="657733"/>
                  </a:lnTo>
                  <a:cubicBezTo>
                    <a:pt x="113284" y="657733"/>
                    <a:pt x="0" y="544449"/>
                    <a:pt x="0" y="404749"/>
                  </a:cubicBezTo>
                  <a:close/>
                </a:path>
              </a:pathLst>
            </a:custGeom>
            <a:solidFill>
              <a:srgbClr val="7C3AED">
                <a:alpha val="2353"/>
              </a:srgbClr>
            </a:solidFill>
            <a:ln w="1778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4996160" y="1316736"/>
            <a:ext cx="2194560" cy="475488"/>
            <a:chOff x="0" y="0"/>
            <a:chExt cx="2926080" cy="63398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926080" cy="633984"/>
            </a:xfrm>
            <a:custGeom>
              <a:avLst/>
              <a:gdLst/>
              <a:ahLst/>
              <a:cxnLst/>
              <a:rect r="r" b="b" t="t" l="l"/>
              <a:pathLst>
                <a:path h="633984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2926080" cy="662559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Personal only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601200" y="2011680"/>
            <a:ext cx="7772400" cy="512064"/>
            <a:chOff x="0" y="0"/>
            <a:chExt cx="10363200" cy="6827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363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5755" r="0" b="-24575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0363200" cy="720852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Revenue by month (this dealer only):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601200" y="2743200"/>
            <a:ext cx="914400" cy="457200"/>
            <a:chOff x="0" y="0"/>
            <a:chExt cx="1219200" cy="6096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219200" cy="64770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Jan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777223" y="2730503"/>
            <a:ext cx="6060443" cy="427739"/>
            <a:chOff x="0" y="0"/>
            <a:chExt cx="8080591" cy="57031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080629" cy="570357"/>
            </a:xfrm>
            <a:custGeom>
              <a:avLst/>
              <a:gdLst/>
              <a:ahLst/>
              <a:cxnLst/>
              <a:rect r="r" b="b" t="t" l="l"/>
              <a:pathLst>
                <a:path h="570357" w="8080629">
                  <a:moveTo>
                    <a:pt x="0" y="0"/>
                  </a:moveTo>
                  <a:lnTo>
                    <a:pt x="8080629" y="0"/>
                  </a:lnTo>
                  <a:lnTo>
                    <a:pt x="8080629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DCE4F0">
                <a:alpha val="15686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10777223" y="2730503"/>
            <a:ext cx="2741171" cy="427739"/>
            <a:chOff x="0" y="0"/>
            <a:chExt cx="3654895" cy="57031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654933" cy="570357"/>
            </a:xfrm>
            <a:custGeom>
              <a:avLst/>
              <a:gdLst/>
              <a:ahLst/>
              <a:cxnLst/>
              <a:rect r="r" b="b" t="t" l="l"/>
              <a:pathLst>
                <a:path h="570357" w="3654933">
                  <a:moveTo>
                    <a:pt x="0" y="0"/>
                  </a:moveTo>
                  <a:lnTo>
                    <a:pt x="3654933" y="0"/>
                  </a:lnTo>
                  <a:lnTo>
                    <a:pt x="3654933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7C3AED">
                <a:alpha val="48627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6971264" y="2743200"/>
            <a:ext cx="1005840" cy="457200"/>
            <a:chOff x="0" y="0"/>
            <a:chExt cx="1341120" cy="6096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341120" cy="609600"/>
            </a:xfrm>
            <a:custGeom>
              <a:avLst/>
              <a:gdLst/>
              <a:ahLst/>
              <a:cxnLst/>
              <a:rect r="r" b="b" t="t" l="l"/>
              <a:pathLst>
                <a:path h="6096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319" t="0" r="-8319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1341120" cy="64770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₹45k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601200" y="3511296"/>
            <a:ext cx="914400" cy="457200"/>
            <a:chOff x="0" y="0"/>
            <a:chExt cx="1219200" cy="6096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1219200" cy="64770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Feb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777223" y="3498599"/>
            <a:ext cx="6060443" cy="427739"/>
            <a:chOff x="0" y="0"/>
            <a:chExt cx="8080591" cy="570319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080629" cy="570357"/>
            </a:xfrm>
            <a:custGeom>
              <a:avLst/>
              <a:gdLst/>
              <a:ahLst/>
              <a:cxnLst/>
              <a:rect r="r" b="b" t="t" l="l"/>
              <a:pathLst>
                <a:path h="570357" w="8080629">
                  <a:moveTo>
                    <a:pt x="0" y="0"/>
                  </a:moveTo>
                  <a:lnTo>
                    <a:pt x="8080629" y="0"/>
                  </a:lnTo>
                  <a:lnTo>
                    <a:pt x="8080629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DCE4F0">
                <a:alpha val="15686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10777223" y="3498599"/>
            <a:ext cx="3767128" cy="427739"/>
            <a:chOff x="0" y="0"/>
            <a:chExt cx="5022837" cy="57031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022850" cy="570357"/>
            </a:xfrm>
            <a:custGeom>
              <a:avLst/>
              <a:gdLst/>
              <a:ahLst/>
              <a:cxnLst/>
              <a:rect r="r" b="b" t="t" l="l"/>
              <a:pathLst>
                <a:path h="570357" w="5022850">
                  <a:moveTo>
                    <a:pt x="0" y="0"/>
                  </a:moveTo>
                  <a:lnTo>
                    <a:pt x="5022850" y="0"/>
                  </a:lnTo>
                  <a:lnTo>
                    <a:pt x="5022850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7C3AED">
                <a:alpha val="48627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6971264" y="3511296"/>
            <a:ext cx="1005840" cy="457200"/>
            <a:chOff x="0" y="0"/>
            <a:chExt cx="1341120" cy="6096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341120" cy="609600"/>
            </a:xfrm>
            <a:custGeom>
              <a:avLst/>
              <a:gdLst/>
              <a:ahLst/>
              <a:cxnLst/>
              <a:rect r="r" b="b" t="t" l="l"/>
              <a:pathLst>
                <a:path h="6096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319" t="0" r="-8319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1341120" cy="64770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₹62k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601200" y="4279392"/>
            <a:ext cx="914400" cy="457200"/>
            <a:chOff x="0" y="0"/>
            <a:chExt cx="1219200" cy="6096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1219200" cy="64770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0777223" y="4266695"/>
            <a:ext cx="6060443" cy="427739"/>
            <a:chOff x="0" y="0"/>
            <a:chExt cx="8080591" cy="570319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8080629" cy="570357"/>
            </a:xfrm>
            <a:custGeom>
              <a:avLst/>
              <a:gdLst/>
              <a:ahLst/>
              <a:cxnLst/>
              <a:rect r="r" b="b" t="t" l="l"/>
              <a:pathLst>
                <a:path h="570357" w="8080629">
                  <a:moveTo>
                    <a:pt x="0" y="0"/>
                  </a:moveTo>
                  <a:lnTo>
                    <a:pt x="8080629" y="0"/>
                  </a:lnTo>
                  <a:lnTo>
                    <a:pt x="8080629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DCE4F0">
                <a:alpha val="15686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10777223" y="4266695"/>
            <a:ext cx="4732734" cy="427739"/>
            <a:chOff x="0" y="0"/>
            <a:chExt cx="6310312" cy="570319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310249" cy="570357"/>
            </a:xfrm>
            <a:custGeom>
              <a:avLst/>
              <a:gdLst/>
              <a:ahLst/>
              <a:cxnLst/>
              <a:rect r="r" b="b" t="t" l="l"/>
              <a:pathLst>
                <a:path h="570357" w="6310249">
                  <a:moveTo>
                    <a:pt x="0" y="0"/>
                  </a:moveTo>
                  <a:lnTo>
                    <a:pt x="6310249" y="0"/>
                  </a:lnTo>
                  <a:lnTo>
                    <a:pt x="6310249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0D9488">
                <a:alpha val="48627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16971264" y="4279392"/>
            <a:ext cx="1005840" cy="457200"/>
            <a:chOff x="0" y="0"/>
            <a:chExt cx="1341120" cy="6096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341120" cy="609600"/>
            </a:xfrm>
            <a:custGeom>
              <a:avLst/>
              <a:gdLst/>
              <a:ahLst/>
              <a:cxnLst/>
              <a:rect r="r" b="b" t="t" l="l"/>
              <a:pathLst>
                <a:path h="6096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319" t="0" r="-8319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1341120" cy="64770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₹78k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601200" y="5047488"/>
            <a:ext cx="914400" cy="457200"/>
            <a:chOff x="0" y="0"/>
            <a:chExt cx="1219200" cy="6096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1219200" cy="64770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Apr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0777223" y="5034791"/>
            <a:ext cx="6060443" cy="427739"/>
            <a:chOff x="0" y="0"/>
            <a:chExt cx="8080591" cy="570319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8080629" cy="570357"/>
            </a:xfrm>
            <a:custGeom>
              <a:avLst/>
              <a:gdLst/>
              <a:ahLst/>
              <a:cxnLst/>
              <a:rect r="r" b="b" t="t" l="l"/>
              <a:pathLst>
                <a:path h="570357" w="8080629">
                  <a:moveTo>
                    <a:pt x="0" y="0"/>
                  </a:moveTo>
                  <a:lnTo>
                    <a:pt x="8080629" y="0"/>
                  </a:lnTo>
                  <a:lnTo>
                    <a:pt x="8080629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DCE4F0">
                <a:alpha val="15686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103" id="103"/>
          <p:cNvGrpSpPr/>
          <p:nvPr/>
        </p:nvGrpSpPr>
        <p:grpSpPr>
          <a:xfrm rot="0">
            <a:off x="10777223" y="5034791"/>
            <a:ext cx="3344675" cy="427739"/>
            <a:chOff x="0" y="0"/>
            <a:chExt cx="4459567" cy="570319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459605" cy="570357"/>
            </a:xfrm>
            <a:custGeom>
              <a:avLst/>
              <a:gdLst/>
              <a:ahLst/>
              <a:cxnLst/>
              <a:rect r="r" b="b" t="t" l="l"/>
              <a:pathLst>
                <a:path h="570357" w="4459605">
                  <a:moveTo>
                    <a:pt x="0" y="0"/>
                  </a:moveTo>
                  <a:lnTo>
                    <a:pt x="4459605" y="0"/>
                  </a:lnTo>
                  <a:lnTo>
                    <a:pt x="4459605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7C3AED">
                <a:alpha val="48627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16971264" y="5047488"/>
            <a:ext cx="1005840" cy="457200"/>
            <a:chOff x="0" y="0"/>
            <a:chExt cx="1341120" cy="6096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341120" cy="609600"/>
            </a:xfrm>
            <a:custGeom>
              <a:avLst/>
              <a:gdLst/>
              <a:ahLst/>
              <a:cxnLst/>
              <a:rect r="r" b="b" t="t" l="l"/>
              <a:pathLst>
                <a:path h="6096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319" t="0" r="-8319" b="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1341120" cy="64770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₹55k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9601200" y="5815584"/>
            <a:ext cx="914400" cy="457200"/>
            <a:chOff x="0" y="0"/>
            <a:chExt cx="1219200" cy="60960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1219200" cy="64770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May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0777223" y="5802887"/>
            <a:ext cx="6060443" cy="427739"/>
            <a:chOff x="0" y="0"/>
            <a:chExt cx="8080591" cy="570319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8080629" cy="570357"/>
            </a:xfrm>
            <a:custGeom>
              <a:avLst/>
              <a:gdLst/>
              <a:ahLst/>
              <a:cxnLst/>
              <a:rect r="r" b="b" t="t" l="l"/>
              <a:pathLst>
                <a:path h="570357" w="8080629">
                  <a:moveTo>
                    <a:pt x="0" y="0"/>
                  </a:moveTo>
                  <a:lnTo>
                    <a:pt x="8080629" y="0"/>
                  </a:lnTo>
                  <a:lnTo>
                    <a:pt x="8080629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DCE4F0">
                <a:alpha val="15686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113" id="113"/>
          <p:cNvGrpSpPr/>
          <p:nvPr/>
        </p:nvGrpSpPr>
        <p:grpSpPr>
          <a:xfrm rot="0">
            <a:off x="10777223" y="5802887"/>
            <a:ext cx="5517290" cy="427739"/>
            <a:chOff x="0" y="0"/>
            <a:chExt cx="7356386" cy="570319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7356348" cy="570357"/>
            </a:xfrm>
            <a:custGeom>
              <a:avLst/>
              <a:gdLst/>
              <a:ahLst/>
              <a:cxnLst/>
              <a:rect r="r" b="b" t="t" l="l"/>
              <a:pathLst>
                <a:path h="570357" w="7356348">
                  <a:moveTo>
                    <a:pt x="0" y="0"/>
                  </a:moveTo>
                  <a:lnTo>
                    <a:pt x="7356348" y="0"/>
                  </a:lnTo>
                  <a:lnTo>
                    <a:pt x="7356348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D97706">
                <a:alpha val="48627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16971264" y="5815584"/>
            <a:ext cx="1005840" cy="457200"/>
            <a:chOff x="0" y="0"/>
            <a:chExt cx="1341120" cy="60960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341120" cy="609600"/>
            </a:xfrm>
            <a:custGeom>
              <a:avLst/>
              <a:gdLst/>
              <a:ahLst/>
              <a:cxnLst/>
              <a:rect r="r" b="b" t="t" l="l"/>
              <a:pathLst>
                <a:path h="6096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319" t="0" r="-8319" b="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1341120" cy="64770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₹91k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9601200" y="6620256"/>
            <a:ext cx="7772400" cy="2340864"/>
            <a:chOff x="0" y="0"/>
            <a:chExt cx="10363200" cy="3121152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0363200" cy="3121152"/>
            </a:xfrm>
            <a:custGeom>
              <a:avLst/>
              <a:gdLst/>
              <a:ahLst/>
              <a:cxnLst/>
              <a:rect r="r" b="b" t="t" l="l"/>
              <a:pathLst>
                <a:path h="3121152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3121152"/>
                  </a:lnTo>
                  <a:lnTo>
                    <a:pt x="0" y="31211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696" r="0" b="-14696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10363200" cy="3159252"/>
            </a:xfrm>
            <a:prstGeom prst="roundRect">
              <a:avLst>
                <a:gd name="adj" fmla="val 4747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Also tracks: frequency of bookings · active vehicles · drop-off bookings · users onboarded · exportable as CSV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0" y="9784080"/>
            <a:ext cx="18288000" cy="512064"/>
            <a:chOff x="0" y="0"/>
            <a:chExt cx="24384000" cy="682752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438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5894" r="0" b="-645894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28575"/>
              <a:ext cx="2438400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9AA6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Tej Prakash  ·  Harsimran Kaur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8300697" cy="1018537"/>
            <a:chOff x="0" y="0"/>
            <a:chExt cx="24400929" cy="13580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0890" cy="1358011"/>
            </a:xfrm>
            <a:custGeom>
              <a:avLst/>
              <a:gdLst/>
              <a:ahLst/>
              <a:cxnLst/>
              <a:rect r="r" b="b" t="t" l="l"/>
              <a:pathLst>
                <a:path h="1358011" w="24400890">
                  <a:moveTo>
                    <a:pt x="0" y="0"/>
                  </a:moveTo>
                  <a:lnTo>
                    <a:pt x="24400890" y="0"/>
                  </a:lnTo>
                  <a:lnTo>
                    <a:pt x="24400890" y="1358011"/>
                  </a:lnTo>
                  <a:lnTo>
                    <a:pt x="0" y="1358011"/>
                  </a:lnTo>
                  <a:close/>
                </a:path>
              </a:pathLst>
            </a:custGeom>
            <a:solidFill>
              <a:srgbClr val="EEF2F9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146304"/>
            <a:ext cx="1645920" cy="694944"/>
            <a:chOff x="0" y="0"/>
            <a:chExt cx="2194560" cy="9265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72" t="0" r="-4172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" cy="964692"/>
            </a:xfrm>
            <a:prstGeom prst="roundRect">
              <a:avLst>
                <a:gd name="adj" fmla="val 15549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 / 13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377440" y="146304"/>
            <a:ext cx="12801600" cy="694944"/>
            <a:chOff x="0" y="0"/>
            <a:chExt cx="17068800" cy="9265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934" r="0" b="-30893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7068800" cy="983742"/>
            </a:xfrm>
            <a:prstGeom prst="roundRect">
              <a:avLst>
                <a:gd name="adj" fmla="val 15247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Realtime Engine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31520" y="1188720"/>
            <a:ext cx="16824960" cy="548640"/>
            <a:chOff x="0" y="0"/>
            <a:chExt cx="2243328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433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Supabase Realtime keeps every screen in sync via persistent WebSocket connections — no polling, no page refreshes.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33727" y="1913887"/>
            <a:ext cx="8333737" cy="7602217"/>
            <a:chOff x="0" y="0"/>
            <a:chExt cx="11111649" cy="1013628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111611" cy="10136251"/>
            </a:xfrm>
            <a:custGeom>
              <a:avLst/>
              <a:gdLst/>
              <a:ahLst/>
              <a:cxnLst/>
              <a:rect r="r" b="b" t="t" l="l"/>
              <a:pathLst>
                <a:path h="10136251" w="11111611">
                  <a:moveTo>
                    <a:pt x="0" y="0"/>
                  </a:moveTo>
                  <a:lnTo>
                    <a:pt x="11111611" y="0"/>
                  </a:lnTo>
                  <a:lnTo>
                    <a:pt x="11111611" y="10136251"/>
                  </a:lnTo>
                  <a:lnTo>
                    <a:pt x="0" y="1013625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93143" y="2108711"/>
            <a:ext cx="281435" cy="281435"/>
            <a:chOff x="0" y="0"/>
            <a:chExt cx="375247" cy="37524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7C3AED"/>
            </a:solidFill>
            <a:ln w="254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408176" y="2048256"/>
            <a:ext cx="7315200" cy="512064"/>
            <a:chOff x="0" y="0"/>
            <a:chExt cx="975360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753600" cy="720852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Notifications channel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05840" y="2706624"/>
            <a:ext cx="7589520" cy="914400"/>
            <a:chOff x="0" y="0"/>
            <a:chExt cx="10119360" cy="121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1193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1725" r="0" b="-11172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119360" cy="1257300"/>
            </a:xfrm>
            <a:prstGeom prst="roundRect">
              <a:avLst>
                <a:gd name="adj" fmla="val 1193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Subscribed per user. New notification rows fire the callback instantly — the bell icon updates live.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99487" y="3870703"/>
            <a:ext cx="7602217" cy="1439161"/>
            <a:chOff x="0" y="0"/>
            <a:chExt cx="10136289" cy="191888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136251" cy="1918843"/>
            </a:xfrm>
            <a:custGeom>
              <a:avLst/>
              <a:gdLst/>
              <a:ahLst/>
              <a:cxnLst/>
              <a:rect r="r" b="b" t="t" l="l"/>
              <a:pathLst>
                <a:path h="1918843" w="10136251">
                  <a:moveTo>
                    <a:pt x="0" y="0"/>
                  </a:moveTo>
                  <a:lnTo>
                    <a:pt x="10136251" y="0"/>
                  </a:lnTo>
                  <a:lnTo>
                    <a:pt x="10136251" y="1918843"/>
                  </a:lnTo>
                  <a:lnTo>
                    <a:pt x="0" y="1918843"/>
                  </a:lnTo>
                  <a:close/>
                </a:path>
              </a:pathLst>
            </a:custGeom>
            <a:solidFill>
              <a:srgbClr val="F7F9FC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25296" y="4096512"/>
            <a:ext cx="640080" cy="640080"/>
            <a:chOff x="0" y="0"/>
            <a:chExt cx="853440" cy="8534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853440" cy="910590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🔔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011680" y="4059936"/>
            <a:ext cx="6400800" cy="548640"/>
            <a:chOff x="0" y="0"/>
            <a:chExt cx="8534400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534400" cy="769620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A425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New booking request — Toyota Fortuner, 3 nights, ₹12,000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011680" y="4681728"/>
            <a:ext cx="6400800" cy="457200"/>
            <a:chOff x="0" y="0"/>
            <a:chExt cx="8534400" cy="609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534400" cy="609600"/>
            </a:xfrm>
            <a:custGeom>
              <a:avLst/>
              <a:gdLst/>
              <a:ahLst/>
              <a:cxnLst/>
              <a:rect r="r" b="b" t="t" l="l"/>
              <a:pathLst>
                <a:path h="6096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8534400" cy="64770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just now · booking_id: BK-20250601-0087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99487" y="5516623"/>
            <a:ext cx="7602217" cy="1439161"/>
            <a:chOff x="0" y="0"/>
            <a:chExt cx="10136289" cy="191888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136251" cy="1918843"/>
            </a:xfrm>
            <a:custGeom>
              <a:avLst/>
              <a:gdLst/>
              <a:ahLst/>
              <a:cxnLst/>
              <a:rect r="r" b="b" t="t" l="l"/>
              <a:pathLst>
                <a:path h="1918843" w="10136251">
                  <a:moveTo>
                    <a:pt x="0" y="0"/>
                  </a:moveTo>
                  <a:lnTo>
                    <a:pt x="10136251" y="0"/>
                  </a:lnTo>
                  <a:lnTo>
                    <a:pt x="10136251" y="1918843"/>
                  </a:lnTo>
                  <a:lnTo>
                    <a:pt x="0" y="1918843"/>
                  </a:lnTo>
                  <a:close/>
                </a:path>
              </a:pathLst>
            </a:custGeom>
            <a:solidFill>
              <a:srgbClr val="F7F9FC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25296" y="5742432"/>
            <a:ext cx="640080" cy="640080"/>
            <a:chOff x="0" y="0"/>
            <a:chExt cx="853440" cy="8534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853440" cy="910590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011680" y="5705856"/>
            <a:ext cx="6400800" cy="548640"/>
            <a:chOff x="0" y="0"/>
            <a:chExt cx="853440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8534400" cy="769620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A425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Booking approved — Proceed to payment collection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011680" y="6327648"/>
            <a:ext cx="6400800" cy="457200"/>
            <a:chOff x="0" y="0"/>
            <a:chExt cx="8534400" cy="609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534400" cy="609600"/>
            </a:xfrm>
            <a:custGeom>
              <a:avLst/>
              <a:gdLst/>
              <a:ahLst/>
              <a:cxnLst/>
              <a:rect r="r" b="b" t="t" l="l"/>
              <a:pathLst>
                <a:path h="6096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8534400" cy="64770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 min ago · booking_id: BK-20250601-0083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05840" y="7278624"/>
            <a:ext cx="7589520" cy="402336"/>
            <a:chOff x="0" y="0"/>
            <a:chExt cx="10119360" cy="53644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119360" cy="536448"/>
            </a:xfrm>
            <a:custGeom>
              <a:avLst/>
              <a:gdLst/>
              <a:ahLst/>
              <a:cxnLst/>
              <a:rect r="r" b="b" t="t" l="l"/>
              <a:pathLst>
                <a:path h="536448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7558" r="0" b="-31755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10119360" cy="565023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Code: supabase.channel().on('postgres_changes',...).subscribe()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503407" y="1913887"/>
            <a:ext cx="8333737" cy="7602217"/>
            <a:chOff x="0" y="0"/>
            <a:chExt cx="11111649" cy="1013628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111611" cy="10136251"/>
            </a:xfrm>
            <a:custGeom>
              <a:avLst/>
              <a:gdLst/>
              <a:ahLst/>
              <a:cxnLst/>
              <a:rect r="r" b="b" t="t" l="l"/>
              <a:pathLst>
                <a:path h="10136251" w="11111611">
                  <a:moveTo>
                    <a:pt x="0" y="0"/>
                  </a:moveTo>
                  <a:lnTo>
                    <a:pt x="11111611" y="0"/>
                  </a:lnTo>
                  <a:lnTo>
                    <a:pt x="11111611" y="10136251"/>
                  </a:lnTo>
                  <a:lnTo>
                    <a:pt x="0" y="1013625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862823" y="2108711"/>
            <a:ext cx="281435" cy="281435"/>
            <a:chOff x="0" y="0"/>
            <a:chExt cx="375247" cy="37524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0D9488"/>
            </a:solidFill>
            <a:ln w="2540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0277856" y="2048256"/>
            <a:ext cx="7315200" cy="512064"/>
            <a:chOff x="0" y="0"/>
            <a:chExt cx="9753600" cy="68275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9753600" cy="720852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Booking changes channel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875520" y="2706624"/>
            <a:ext cx="7589520" cy="914400"/>
            <a:chOff x="0" y="0"/>
            <a:chExt cx="10119360" cy="12192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1193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1725" r="0" b="-11172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0119360" cy="1257300"/>
            </a:xfrm>
            <a:prstGeom prst="roundRect">
              <a:avLst>
                <a:gd name="adj" fmla="val 1193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Admin booking ledger subscribes to ALL booking changes. Status updates appear without refreshing the table.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869167" y="3870703"/>
            <a:ext cx="7602217" cy="1439161"/>
            <a:chOff x="0" y="0"/>
            <a:chExt cx="10136289" cy="191888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136251" cy="1918843"/>
            </a:xfrm>
            <a:custGeom>
              <a:avLst/>
              <a:gdLst/>
              <a:ahLst/>
              <a:cxnLst/>
              <a:rect r="r" b="b" t="t" l="l"/>
              <a:pathLst>
                <a:path h="1918843" w="10136251">
                  <a:moveTo>
                    <a:pt x="0" y="0"/>
                  </a:moveTo>
                  <a:lnTo>
                    <a:pt x="10136251" y="0"/>
                  </a:lnTo>
                  <a:lnTo>
                    <a:pt x="10136251" y="1918843"/>
                  </a:lnTo>
                  <a:lnTo>
                    <a:pt x="0" y="1918843"/>
                  </a:lnTo>
                  <a:close/>
                </a:path>
              </a:pathLst>
            </a:custGeom>
            <a:solidFill>
              <a:srgbClr val="F7F9FC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0094976" y="4096512"/>
            <a:ext cx="640080" cy="640080"/>
            <a:chOff x="0" y="0"/>
            <a:chExt cx="853440" cy="8534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853440" cy="910590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🔄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881360" y="4059936"/>
            <a:ext cx="6400800" cy="548640"/>
            <a:chOff x="0" y="0"/>
            <a:chExt cx="8534400" cy="7315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8534400" cy="769620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A425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Status changed: pending → approved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881360" y="4681728"/>
            <a:ext cx="6400800" cy="457200"/>
            <a:chOff x="0" y="0"/>
            <a:chExt cx="8534400" cy="6096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534400" cy="609600"/>
            </a:xfrm>
            <a:custGeom>
              <a:avLst/>
              <a:gdLst/>
              <a:ahLst/>
              <a:cxnLst/>
              <a:rect r="r" b="b" t="t" l="l"/>
              <a:pathLst>
                <a:path h="6096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8534400" cy="64770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just now · Dealer: Rahul Mehta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869167" y="5516623"/>
            <a:ext cx="7602217" cy="1439161"/>
            <a:chOff x="0" y="0"/>
            <a:chExt cx="10136289" cy="191888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136251" cy="1918843"/>
            </a:xfrm>
            <a:custGeom>
              <a:avLst/>
              <a:gdLst/>
              <a:ahLst/>
              <a:cxnLst/>
              <a:rect r="r" b="b" t="t" l="l"/>
              <a:pathLst>
                <a:path h="1918843" w="10136251">
                  <a:moveTo>
                    <a:pt x="0" y="0"/>
                  </a:moveTo>
                  <a:lnTo>
                    <a:pt x="10136251" y="0"/>
                  </a:lnTo>
                  <a:lnTo>
                    <a:pt x="10136251" y="1918843"/>
                  </a:lnTo>
                  <a:lnTo>
                    <a:pt x="0" y="1918843"/>
                  </a:lnTo>
                  <a:close/>
                </a:path>
              </a:pathLst>
            </a:custGeom>
            <a:solidFill>
              <a:srgbClr val="F7F9FC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0094976" y="5742432"/>
            <a:ext cx="640080" cy="640080"/>
            <a:chOff x="0" y="0"/>
            <a:chExt cx="853440" cy="8534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853440" cy="910590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🚗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881360" y="5705856"/>
            <a:ext cx="6400800" cy="548640"/>
            <a:chOff x="0" y="0"/>
            <a:chExt cx="8534400" cy="731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8534400" cy="769620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A425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Vehicle handed over — Honda City → status: rented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881360" y="6327648"/>
            <a:ext cx="6400800" cy="457200"/>
            <a:chOff x="0" y="0"/>
            <a:chExt cx="8534400" cy="6096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534400" cy="609600"/>
            </a:xfrm>
            <a:custGeom>
              <a:avLst/>
              <a:gdLst/>
              <a:ahLst/>
              <a:cxnLst/>
              <a:rect r="r" b="b" t="t" l="l"/>
              <a:pathLst>
                <a:path h="6096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8534400" cy="64770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 min ago · odometer locked at 24,810 km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875520" y="7278624"/>
            <a:ext cx="7589520" cy="402336"/>
            <a:chOff x="0" y="0"/>
            <a:chExt cx="10119360" cy="53644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119360" cy="536448"/>
            </a:xfrm>
            <a:custGeom>
              <a:avLst/>
              <a:gdLst/>
              <a:ahLst/>
              <a:cxnLst/>
              <a:rect r="r" b="b" t="t" l="l"/>
              <a:pathLst>
                <a:path h="536448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7558" r="0" b="-317558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10119360" cy="565023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Code: subscribeToMyBookingChanges(userId) for personal feed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0" y="9784080"/>
            <a:ext cx="18288000" cy="512064"/>
            <a:chOff x="0" y="0"/>
            <a:chExt cx="24384000" cy="68275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438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5894" r="0" b="-645894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28575"/>
              <a:ext cx="2438400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9AA6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Tej Prakash  ·  Harsimran Kaur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8300697" cy="1018537"/>
            <a:chOff x="0" y="0"/>
            <a:chExt cx="24400929" cy="13580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0890" cy="1358011"/>
            </a:xfrm>
            <a:custGeom>
              <a:avLst/>
              <a:gdLst/>
              <a:ahLst/>
              <a:cxnLst/>
              <a:rect r="r" b="b" t="t" l="l"/>
              <a:pathLst>
                <a:path h="1358011" w="24400890">
                  <a:moveTo>
                    <a:pt x="0" y="0"/>
                  </a:moveTo>
                  <a:lnTo>
                    <a:pt x="24400890" y="0"/>
                  </a:lnTo>
                  <a:lnTo>
                    <a:pt x="24400890" y="1358011"/>
                  </a:lnTo>
                  <a:lnTo>
                    <a:pt x="0" y="1358011"/>
                  </a:lnTo>
                  <a:close/>
                </a:path>
              </a:pathLst>
            </a:custGeom>
            <a:solidFill>
              <a:srgbClr val="EEF2F9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146304"/>
            <a:ext cx="1645920" cy="694944"/>
            <a:chOff x="0" y="0"/>
            <a:chExt cx="2194560" cy="9265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72" t="0" r="-4172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" cy="964692"/>
            </a:xfrm>
            <a:prstGeom prst="roundRect">
              <a:avLst>
                <a:gd name="adj" fmla="val 15549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 / 13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377440" y="146304"/>
            <a:ext cx="12801600" cy="694944"/>
            <a:chOff x="0" y="0"/>
            <a:chExt cx="17068800" cy="9265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934" r="0" b="-30893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7068800" cy="983742"/>
            </a:xfrm>
            <a:prstGeom prst="roundRect">
              <a:avLst>
                <a:gd name="adj" fmla="val 15247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Engineering Challenges &amp; Solutions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3727" y="1182367"/>
            <a:ext cx="8333737" cy="4127497"/>
            <a:chOff x="0" y="0"/>
            <a:chExt cx="11111649" cy="55033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111611" cy="5503291"/>
            </a:xfrm>
            <a:custGeom>
              <a:avLst/>
              <a:gdLst/>
              <a:ahLst/>
              <a:cxnLst/>
              <a:rect r="r" b="b" t="t" l="l"/>
              <a:pathLst>
                <a:path h="5503291" w="11111611">
                  <a:moveTo>
                    <a:pt x="0" y="0"/>
                  </a:moveTo>
                  <a:lnTo>
                    <a:pt x="11111611" y="0"/>
                  </a:lnTo>
                  <a:lnTo>
                    <a:pt x="11111611" y="5503291"/>
                  </a:lnTo>
                  <a:lnTo>
                    <a:pt x="0" y="550329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69264" y="1371600"/>
            <a:ext cx="7662672" cy="548640"/>
            <a:chOff x="0" y="0"/>
            <a:chExt cx="10216896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16896" cy="731520"/>
            </a:xfrm>
            <a:custGeom>
              <a:avLst/>
              <a:gdLst/>
              <a:ahLst/>
              <a:cxnLst/>
              <a:rect r="r" b="b" t="t" l="l"/>
              <a:pathLst>
                <a:path h="731520" w="10216896">
                  <a:moveTo>
                    <a:pt x="0" y="0"/>
                  </a:moveTo>
                  <a:lnTo>
                    <a:pt x="10216896" y="0"/>
                  </a:lnTo>
                  <a:lnTo>
                    <a:pt x="1021689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2141" r="0" b="-22214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216896" cy="769620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🧩 Complex Multi-Table Writes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2911" y="2060191"/>
            <a:ext cx="7675369" cy="1384297"/>
            <a:chOff x="0" y="0"/>
            <a:chExt cx="10233825" cy="18457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233787" cy="1845691"/>
            </a:xfrm>
            <a:custGeom>
              <a:avLst/>
              <a:gdLst/>
              <a:ahLst/>
              <a:cxnLst/>
              <a:rect r="r" b="b" t="t" l="l"/>
              <a:pathLst>
                <a:path h="1845691" w="10233787">
                  <a:moveTo>
                    <a:pt x="0" y="0"/>
                  </a:moveTo>
                  <a:lnTo>
                    <a:pt x="10233787" y="0"/>
                  </a:lnTo>
                  <a:lnTo>
                    <a:pt x="10233787" y="1845691"/>
                  </a:lnTo>
                  <a:lnTo>
                    <a:pt x="0" y="1845691"/>
                  </a:lnTo>
                  <a:close/>
                </a:path>
              </a:pathLst>
            </a:custGeom>
            <a:solidFill>
              <a:srgbClr val="DC2626">
                <a:alpha val="0"/>
              </a:srgbClr>
            </a:solidFill>
            <a:ln w="12700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15568" y="2121408"/>
            <a:ext cx="1280160" cy="365760"/>
            <a:chOff x="0" y="0"/>
            <a:chExt cx="1706880" cy="4876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06880" cy="487680"/>
            </a:xfrm>
            <a:custGeom>
              <a:avLst/>
              <a:gdLst/>
              <a:ahLst/>
              <a:cxnLst/>
              <a:rect r="r" b="b" t="t" l="l"/>
              <a:pathLst>
                <a:path h="4876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706880" cy="52578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15568" y="2505456"/>
            <a:ext cx="7296912" cy="841248"/>
            <a:chOff x="0" y="0"/>
            <a:chExt cx="9729216" cy="11216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29216" cy="1121664"/>
            </a:xfrm>
            <a:custGeom>
              <a:avLst/>
              <a:gdLst/>
              <a:ahLst/>
              <a:cxnLst/>
              <a:rect r="r" b="b" t="t" l="l"/>
              <a:pathLst>
                <a:path h="1121664" w="9729216">
                  <a:moveTo>
                    <a:pt x="0" y="0"/>
                  </a:moveTo>
                  <a:lnTo>
                    <a:pt x="9729216" y="0"/>
                  </a:lnTo>
                  <a:lnTo>
                    <a:pt x="9729216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011" r="0" b="-11901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729216" cy="1159764"/>
            </a:xfrm>
            <a:prstGeom prst="roundRect">
              <a:avLst>
                <a:gd name="adj" fmla="val 12933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single walk-in booking creation needs to atomically write to customers, bookings, quotations, and vehicle — partial failures would leave orphan records.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62911" y="3559807"/>
            <a:ext cx="7675369" cy="1384297"/>
            <a:chOff x="0" y="0"/>
            <a:chExt cx="10233825" cy="184572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233787" cy="1845691"/>
            </a:xfrm>
            <a:custGeom>
              <a:avLst/>
              <a:gdLst/>
              <a:ahLst/>
              <a:cxnLst/>
              <a:rect r="r" b="b" t="t" l="l"/>
              <a:pathLst>
                <a:path h="1845691" w="10233787">
                  <a:moveTo>
                    <a:pt x="0" y="0"/>
                  </a:moveTo>
                  <a:lnTo>
                    <a:pt x="10233787" y="0"/>
                  </a:lnTo>
                  <a:lnTo>
                    <a:pt x="10233787" y="1845691"/>
                  </a:lnTo>
                  <a:lnTo>
                    <a:pt x="0" y="1845691"/>
                  </a:lnTo>
                  <a:close/>
                </a:path>
              </a:pathLst>
            </a:custGeom>
            <a:solidFill>
              <a:srgbClr val="16A34A">
                <a:alpha val="0"/>
              </a:srgbClr>
            </a:solidFill>
            <a:ln w="1270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115568" y="3621024"/>
            <a:ext cx="1280160" cy="365760"/>
            <a:chOff x="0" y="0"/>
            <a:chExt cx="1706880" cy="4876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06880" cy="487680"/>
            </a:xfrm>
            <a:custGeom>
              <a:avLst/>
              <a:gdLst/>
              <a:ahLst/>
              <a:cxnLst/>
              <a:rect r="r" b="b" t="t" l="l"/>
              <a:pathLst>
                <a:path h="4876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706880" cy="52578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Solution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15568" y="4005072"/>
            <a:ext cx="7296912" cy="841248"/>
            <a:chOff x="0" y="0"/>
            <a:chExt cx="9729216" cy="11216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729216" cy="1121664"/>
            </a:xfrm>
            <a:custGeom>
              <a:avLst/>
              <a:gdLst/>
              <a:ahLst/>
              <a:cxnLst/>
              <a:rect r="r" b="b" t="t" l="l"/>
              <a:pathLst>
                <a:path h="1121664" w="9729216">
                  <a:moveTo>
                    <a:pt x="0" y="0"/>
                  </a:moveTo>
                  <a:lnTo>
                    <a:pt x="9729216" y="0"/>
                  </a:lnTo>
                  <a:lnTo>
                    <a:pt x="9729216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011" r="0" b="-11901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729216" cy="1159764"/>
            </a:xfrm>
            <a:prstGeom prst="roundRect">
              <a:avLst>
                <a:gd name="adj" fmla="val 12933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createWalkInQuotation() sequences all writes with early-exit error handling. Each step checks the previous before proceeding, keeping state consistent.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503407" y="1182367"/>
            <a:ext cx="8333737" cy="4127497"/>
            <a:chOff x="0" y="0"/>
            <a:chExt cx="11111649" cy="550332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111611" cy="5503291"/>
            </a:xfrm>
            <a:custGeom>
              <a:avLst/>
              <a:gdLst/>
              <a:ahLst/>
              <a:cxnLst/>
              <a:rect r="r" b="b" t="t" l="l"/>
              <a:pathLst>
                <a:path h="5503291" w="11111611">
                  <a:moveTo>
                    <a:pt x="0" y="0"/>
                  </a:moveTo>
                  <a:lnTo>
                    <a:pt x="11111611" y="0"/>
                  </a:lnTo>
                  <a:lnTo>
                    <a:pt x="11111611" y="5503291"/>
                  </a:lnTo>
                  <a:lnTo>
                    <a:pt x="0" y="550329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838944" y="1371600"/>
            <a:ext cx="7662672" cy="548640"/>
            <a:chOff x="0" y="0"/>
            <a:chExt cx="10216896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216896" cy="731520"/>
            </a:xfrm>
            <a:custGeom>
              <a:avLst/>
              <a:gdLst/>
              <a:ahLst/>
              <a:cxnLst/>
              <a:rect r="r" b="b" t="t" l="l"/>
              <a:pathLst>
                <a:path h="731520" w="10216896">
                  <a:moveTo>
                    <a:pt x="0" y="0"/>
                  </a:moveTo>
                  <a:lnTo>
                    <a:pt x="10216896" y="0"/>
                  </a:lnTo>
                  <a:lnTo>
                    <a:pt x="1021689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2141" r="0" b="-22214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216896" cy="769620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🔄 Duplicate Customer Prevention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832591" y="2060191"/>
            <a:ext cx="7675369" cy="1384297"/>
            <a:chOff x="0" y="0"/>
            <a:chExt cx="10233825" cy="184572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233787" cy="1845691"/>
            </a:xfrm>
            <a:custGeom>
              <a:avLst/>
              <a:gdLst/>
              <a:ahLst/>
              <a:cxnLst/>
              <a:rect r="r" b="b" t="t" l="l"/>
              <a:pathLst>
                <a:path h="1845691" w="10233787">
                  <a:moveTo>
                    <a:pt x="0" y="0"/>
                  </a:moveTo>
                  <a:lnTo>
                    <a:pt x="10233787" y="0"/>
                  </a:lnTo>
                  <a:lnTo>
                    <a:pt x="10233787" y="1845691"/>
                  </a:lnTo>
                  <a:lnTo>
                    <a:pt x="0" y="1845691"/>
                  </a:lnTo>
                  <a:close/>
                </a:path>
              </a:pathLst>
            </a:custGeom>
            <a:solidFill>
              <a:srgbClr val="DC2626">
                <a:alpha val="0"/>
              </a:srgbClr>
            </a:solidFill>
            <a:ln w="12700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985248" y="2121408"/>
            <a:ext cx="1280160" cy="365760"/>
            <a:chOff x="0" y="0"/>
            <a:chExt cx="1706880" cy="4876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06880" cy="487680"/>
            </a:xfrm>
            <a:custGeom>
              <a:avLst/>
              <a:gdLst/>
              <a:ahLst/>
              <a:cxnLst/>
              <a:rect r="r" b="b" t="t" l="l"/>
              <a:pathLst>
                <a:path h="4876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706880" cy="52578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985248" y="2505456"/>
            <a:ext cx="7296912" cy="841248"/>
            <a:chOff x="0" y="0"/>
            <a:chExt cx="9729216" cy="11216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729216" cy="1121664"/>
            </a:xfrm>
            <a:custGeom>
              <a:avLst/>
              <a:gdLst/>
              <a:ahLst/>
              <a:cxnLst/>
              <a:rect r="r" b="b" t="t" l="l"/>
              <a:pathLst>
                <a:path h="1121664" w="9729216">
                  <a:moveTo>
                    <a:pt x="0" y="0"/>
                  </a:moveTo>
                  <a:lnTo>
                    <a:pt x="9729216" y="0"/>
                  </a:lnTo>
                  <a:lnTo>
                    <a:pt x="9729216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011" r="0" b="-11901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9729216" cy="1159764"/>
            </a:xfrm>
            <a:prstGeom prst="roundRect">
              <a:avLst>
                <a:gd name="adj" fmla="val 12933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Walk-in customers often don't remember if they've booked before. Standard inserts would create duplicate rows — different IDs, same person.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832591" y="3559807"/>
            <a:ext cx="7675369" cy="1384297"/>
            <a:chOff x="0" y="0"/>
            <a:chExt cx="10233825" cy="184572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233787" cy="1845691"/>
            </a:xfrm>
            <a:custGeom>
              <a:avLst/>
              <a:gdLst/>
              <a:ahLst/>
              <a:cxnLst/>
              <a:rect r="r" b="b" t="t" l="l"/>
              <a:pathLst>
                <a:path h="1845691" w="10233787">
                  <a:moveTo>
                    <a:pt x="0" y="0"/>
                  </a:moveTo>
                  <a:lnTo>
                    <a:pt x="10233787" y="0"/>
                  </a:lnTo>
                  <a:lnTo>
                    <a:pt x="10233787" y="1845691"/>
                  </a:lnTo>
                  <a:lnTo>
                    <a:pt x="0" y="1845691"/>
                  </a:lnTo>
                  <a:close/>
                </a:path>
              </a:pathLst>
            </a:custGeom>
            <a:solidFill>
              <a:srgbClr val="16A34A">
                <a:alpha val="0"/>
              </a:srgbClr>
            </a:solidFill>
            <a:ln w="1270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9985248" y="3621024"/>
            <a:ext cx="1280160" cy="365760"/>
            <a:chOff x="0" y="0"/>
            <a:chExt cx="1706880" cy="4876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706880" cy="487680"/>
            </a:xfrm>
            <a:custGeom>
              <a:avLst/>
              <a:gdLst/>
              <a:ahLst/>
              <a:cxnLst/>
              <a:rect r="r" b="b" t="t" l="l"/>
              <a:pathLst>
                <a:path h="4876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706880" cy="52578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Solution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985248" y="4005072"/>
            <a:ext cx="7296912" cy="841248"/>
            <a:chOff x="0" y="0"/>
            <a:chExt cx="9729216" cy="112166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729216" cy="1121664"/>
            </a:xfrm>
            <a:custGeom>
              <a:avLst/>
              <a:gdLst/>
              <a:ahLst/>
              <a:cxnLst/>
              <a:rect r="r" b="b" t="t" l="l"/>
              <a:pathLst>
                <a:path h="1121664" w="9729216">
                  <a:moveTo>
                    <a:pt x="0" y="0"/>
                  </a:moveTo>
                  <a:lnTo>
                    <a:pt x="9729216" y="0"/>
                  </a:lnTo>
                  <a:lnTo>
                    <a:pt x="9729216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011" r="0" b="-11901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9729216" cy="1159764"/>
            </a:xfrm>
            <a:prstGeom prst="roundRect">
              <a:avLst>
                <a:gd name="adj" fmla="val 12933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upsertCustomerByMobile() catches Postgres error code 23505 (duplicate key on mobile) and fetches the existing row instead of creating a new one.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33727" y="5571487"/>
            <a:ext cx="8333737" cy="4127497"/>
            <a:chOff x="0" y="0"/>
            <a:chExt cx="11111649" cy="550332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111611" cy="5503291"/>
            </a:xfrm>
            <a:custGeom>
              <a:avLst/>
              <a:gdLst/>
              <a:ahLst/>
              <a:cxnLst/>
              <a:rect r="r" b="b" t="t" l="l"/>
              <a:pathLst>
                <a:path h="5503291" w="11111611">
                  <a:moveTo>
                    <a:pt x="0" y="0"/>
                  </a:moveTo>
                  <a:lnTo>
                    <a:pt x="11111611" y="0"/>
                  </a:lnTo>
                  <a:lnTo>
                    <a:pt x="11111611" y="5503291"/>
                  </a:lnTo>
                  <a:lnTo>
                    <a:pt x="0" y="550329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969264" y="5760720"/>
            <a:ext cx="7662672" cy="548640"/>
            <a:chOff x="0" y="0"/>
            <a:chExt cx="10216896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216896" cy="731520"/>
            </a:xfrm>
            <a:custGeom>
              <a:avLst/>
              <a:gdLst/>
              <a:ahLst/>
              <a:cxnLst/>
              <a:rect r="r" b="b" t="t" l="l"/>
              <a:pathLst>
                <a:path h="731520" w="10216896">
                  <a:moveTo>
                    <a:pt x="0" y="0"/>
                  </a:moveTo>
                  <a:lnTo>
                    <a:pt x="10216896" y="0"/>
                  </a:lnTo>
                  <a:lnTo>
                    <a:pt x="1021689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2141" r="0" b="-22214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0216896" cy="769620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🔐 RLS vs. Privileged Writes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62911" y="6449311"/>
            <a:ext cx="7675369" cy="1384297"/>
            <a:chOff x="0" y="0"/>
            <a:chExt cx="10233825" cy="184572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233787" cy="1845691"/>
            </a:xfrm>
            <a:custGeom>
              <a:avLst/>
              <a:gdLst/>
              <a:ahLst/>
              <a:cxnLst/>
              <a:rect r="r" b="b" t="t" l="l"/>
              <a:pathLst>
                <a:path h="1845691" w="10233787">
                  <a:moveTo>
                    <a:pt x="0" y="0"/>
                  </a:moveTo>
                  <a:lnTo>
                    <a:pt x="10233787" y="0"/>
                  </a:lnTo>
                  <a:lnTo>
                    <a:pt x="10233787" y="1845691"/>
                  </a:lnTo>
                  <a:lnTo>
                    <a:pt x="0" y="1845691"/>
                  </a:lnTo>
                  <a:close/>
                </a:path>
              </a:pathLst>
            </a:custGeom>
            <a:solidFill>
              <a:srgbClr val="DC2626">
                <a:alpha val="0"/>
              </a:srgbClr>
            </a:solidFill>
            <a:ln w="12700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115568" y="6510528"/>
            <a:ext cx="1280160" cy="365760"/>
            <a:chOff x="0" y="0"/>
            <a:chExt cx="1706880" cy="4876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706880" cy="487680"/>
            </a:xfrm>
            <a:custGeom>
              <a:avLst/>
              <a:gdLst/>
              <a:ahLst/>
              <a:cxnLst/>
              <a:rect r="r" b="b" t="t" l="l"/>
              <a:pathLst>
                <a:path h="4876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706880" cy="52578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15568" y="6894576"/>
            <a:ext cx="7296912" cy="841248"/>
            <a:chOff x="0" y="0"/>
            <a:chExt cx="9729216" cy="112166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729216" cy="1121664"/>
            </a:xfrm>
            <a:custGeom>
              <a:avLst/>
              <a:gdLst/>
              <a:ahLst/>
              <a:cxnLst/>
              <a:rect r="r" b="b" t="t" l="l"/>
              <a:pathLst>
                <a:path h="1121664" w="9729216">
                  <a:moveTo>
                    <a:pt x="0" y="0"/>
                  </a:moveTo>
                  <a:lnTo>
                    <a:pt x="9729216" y="0"/>
                  </a:lnTo>
                  <a:lnTo>
                    <a:pt x="9729216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011" r="0" b="-11901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9729216" cy="1159764"/>
            </a:xfrm>
            <a:prstGeom prst="roundRect">
              <a:avLst>
                <a:gd name="adj" fmla="val 12933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Row-Level Security prevents dealers from writing payment records directly — but they need to insert their own payment rows. Bypassing RLS for all users is insecure.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62911" y="7948927"/>
            <a:ext cx="7675369" cy="1384297"/>
            <a:chOff x="0" y="0"/>
            <a:chExt cx="10233825" cy="184572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233787" cy="1845691"/>
            </a:xfrm>
            <a:custGeom>
              <a:avLst/>
              <a:gdLst/>
              <a:ahLst/>
              <a:cxnLst/>
              <a:rect r="r" b="b" t="t" l="l"/>
              <a:pathLst>
                <a:path h="1845691" w="10233787">
                  <a:moveTo>
                    <a:pt x="0" y="0"/>
                  </a:moveTo>
                  <a:lnTo>
                    <a:pt x="10233787" y="0"/>
                  </a:lnTo>
                  <a:lnTo>
                    <a:pt x="10233787" y="1845691"/>
                  </a:lnTo>
                  <a:lnTo>
                    <a:pt x="0" y="1845691"/>
                  </a:lnTo>
                  <a:close/>
                </a:path>
              </a:pathLst>
            </a:custGeom>
            <a:solidFill>
              <a:srgbClr val="16A34A">
                <a:alpha val="0"/>
              </a:srgbClr>
            </a:solidFill>
            <a:ln w="1270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115568" y="8010144"/>
            <a:ext cx="1280160" cy="365760"/>
            <a:chOff x="0" y="0"/>
            <a:chExt cx="1706880" cy="4876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706880" cy="487680"/>
            </a:xfrm>
            <a:custGeom>
              <a:avLst/>
              <a:gdLst/>
              <a:ahLst/>
              <a:cxnLst/>
              <a:rect r="r" b="b" t="t" l="l"/>
              <a:pathLst>
                <a:path h="4876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706880" cy="52578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Solution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15568" y="8394192"/>
            <a:ext cx="7296912" cy="841248"/>
            <a:chOff x="0" y="0"/>
            <a:chExt cx="9729216" cy="112166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729216" cy="1121664"/>
            </a:xfrm>
            <a:custGeom>
              <a:avLst/>
              <a:gdLst/>
              <a:ahLst/>
              <a:cxnLst/>
              <a:rect r="r" b="b" t="t" l="l"/>
              <a:pathLst>
                <a:path h="1121664" w="9729216">
                  <a:moveTo>
                    <a:pt x="0" y="0"/>
                  </a:moveTo>
                  <a:lnTo>
                    <a:pt x="9729216" y="0"/>
                  </a:lnTo>
                  <a:lnTo>
                    <a:pt x="9729216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011" r="0" b="-11901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9729216" cy="1159764"/>
            </a:xfrm>
            <a:prstGeom prst="roundRect">
              <a:avLst>
                <a:gd name="adj" fmla="val 12933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SECURITY DEFINER PostgreSQL functions (insert_payment_record) run with elevated privileges only for specific, controlled operations.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503407" y="5571487"/>
            <a:ext cx="8333737" cy="4127497"/>
            <a:chOff x="0" y="0"/>
            <a:chExt cx="11111649" cy="550332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1111611" cy="5503291"/>
            </a:xfrm>
            <a:custGeom>
              <a:avLst/>
              <a:gdLst/>
              <a:ahLst/>
              <a:cxnLst/>
              <a:rect r="r" b="b" t="t" l="l"/>
              <a:pathLst>
                <a:path h="5503291" w="11111611">
                  <a:moveTo>
                    <a:pt x="0" y="0"/>
                  </a:moveTo>
                  <a:lnTo>
                    <a:pt x="11111611" y="0"/>
                  </a:lnTo>
                  <a:lnTo>
                    <a:pt x="11111611" y="5503291"/>
                  </a:lnTo>
                  <a:lnTo>
                    <a:pt x="0" y="550329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9838944" y="5760720"/>
            <a:ext cx="7662672" cy="548640"/>
            <a:chOff x="0" y="0"/>
            <a:chExt cx="10216896" cy="7315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216896" cy="731520"/>
            </a:xfrm>
            <a:custGeom>
              <a:avLst/>
              <a:gdLst/>
              <a:ahLst/>
              <a:cxnLst/>
              <a:rect r="r" b="b" t="t" l="l"/>
              <a:pathLst>
                <a:path h="731520" w="10216896">
                  <a:moveTo>
                    <a:pt x="0" y="0"/>
                  </a:moveTo>
                  <a:lnTo>
                    <a:pt x="10216896" y="0"/>
                  </a:lnTo>
                  <a:lnTo>
                    <a:pt x="1021689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2141" r="0" b="-222141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10216896" cy="769620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📡 Shared State Across Routes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832591" y="6449311"/>
            <a:ext cx="7675369" cy="1384297"/>
            <a:chOff x="0" y="0"/>
            <a:chExt cx="10233825" cy="1845729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233787" cy="1845691"/>
            </a:xfrm>
            <a:custGeom>
              <a:avLst/>
              <a:gdLst/>
              <a:ahLst/>
              <a:cxnLst/>
              <a:rect r="r" b="b" t="t" l="l"/>
              <a:pathLst>
                <a:path h="1845691" w="10233787">
                  <a:moveTo>
                    <a:pt x="0" y="0"/>
                  </a:moveTo>
                  <a:lnTo>
                    <a:pt x="10233787" y="0"/>
                  </a:lnTo>
                  <a:lnTo>
                    <a:pt x="10233787" y="1845691"/>
                  </a:lnTo>
                  <a:lnTo>
                    <a:pt x="0" y="1845691"/>
                  </a:lnTo>
                  <a:close/>
                </a:path>
              </a:pathLst>
            </a:custGeom>
            <a:solidFill>
              <a:srgbClr val="DC2626">
                <a:alpha val="0"/>
              </a:srgbClr>
            </a:solidFill>
            <a:ln w="12700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9985248" y="6510528"/>
            <a:ext cx="1280160" cy="365760"/>
            <a:chOff x="0" y="0"/>
            <a:chExt cx="1706880" cy="4876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706880" cy="487680"/>
            </a:xfrm>
            <a:custGeom>
              <a:avLst/>
              <a:gdLst/>
              <a:ahLst/>
              <a:cxnLst/>
              <a:rect r="r" b="b" t="t" l="l"/>
              <a:pathLst>
                <a:path h="4876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706880" cy="52578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985248" y="6894576"/>
            <a:ext cx="7296912" cy="841248"/>
            <a:chOff x="0" y="0"/>
            <a:chExt cx="9729216" cy="112166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729216" cy="1121664"/>
            </a:xfrm>
            <a:custGeom>
              <a:avLst/>
              <a:gdLst/>
              <a:ahLst/>
              <a:cxnLst/>
              <a:rect r="r" b="b" t="t" l="l"/>
              <a:pathLst>
                <a:path h="1121664" w="9729216">
                  <a:moveTo>
                    <a:pt x="0" y="0"/>
                  </a:moveTo>
                  <a:lnTo>
                    <a:pt x="9729216" y="0"/>
                  </a:lnTo>
                  <a:lnTo>
                    <a:pt x="9729216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011" r="0" b="-119011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9729216" cy="1159764"/>
            </a:xfrm>
            <a:prstGeom prst="roundRect">
              <a:avLst>
                <a:gd name="adj" fmla="val 12933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routed booking flow (customer-details → quotation → payment) spans three Angular components that all need the same booking data without re-fetching.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832591" y="7948927"/>
            <a:ext cx="7675369" cy="1384297"/>
            <a:chOff x="0" y="0"/>
            <a:chExt cx="10233825" cy="184572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233787" cy="1845691"/>
            </a:xfrm>
            <a:custGeom>
              <a:avLst/>
              <a:gdLst/>
              <a:ahLst/>
              <a:cxnLst/>
              <a:rect r="r" b="b" t="t" l="l"/>
              <a:pathLst>
                <a:path h="1845691" w="10233787">
                  <a:moveTo>
                    <a:pt x="0" y="0"/>
                  </a:moveTo>
                  <a:lnTo>
                    <a:pt x="10233787" y="0"/>
                  </a:lnTo>
                  <a:lnTo>
                    <a:pt x="10233787" y="1845691"/>
                  </a:lnTo>
                  <a:lnTo>
                    <a:pt x="0" y="1845691"/>
                  </a:lnTo>
                  <a:close/>
                </a:path>
              </a:pathLst>
            </a:custGeom>
            <a:solidFill>
              <a:srgbClr val="16A34A">
                <a:alpha val="0"/>
              </a:srgbClr>
            </a:solidFill>
            <a:ln w="1270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9985248" y="8010144"/>
            <a:ext cx="1280160" cy="365760"/>
            <a:chOff x="0" y="0"/>
            <a:chExt cx="1706880" cy="48768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706880" cy="487680"/>
            </a:xfrm>
            <a:custGeom>
              <a:avLst/>
              <a:gdLst/>
              <a:ahLst/>
              <a:cxnLst/>
              <a:rect r="r" b="b" t="t" l="l"/>
              <a:pathLst>
                <a:path h="4876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1706880" cy="52578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Solution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9985248" y="8394192"/>
            <a:ext cx="7296912" cy="841248"/>
            <a:chOff x="0" y="0"/>
            <a:chExt cx="9729216" cy="112166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9729216" cy="1121664"/>
            </a:xfrm>
            <a:custGeom>
              <a:avLst/>
              <a:gdLst/>
              <a:ahLst/>
              <a:cxnLst/>
              <a:rect r="r" b="b" t="t" l="l"/>
              <a:pathLst>
                <a:path h="1121664" w="9729216">
                  <a:moveTo>
                    <a:pt x="0" y="0"/>
                  </a:moveTo>
                  <a:lnTo>
                    <a:pt x="9729216" y="0"/>
                  </a:lnTo>
                  <a:lnTo>
                    <a:pt x="9729216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011" r="0" b="-119011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9729216" cy="1159764"/>
            </a:xfrm>
            <a:prstGeom prst="roundRect">
              <a:avLst>
                <a:gd name="adj" fmla="val 12933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BookingFlowService uses Angular Signals to hold shared state. loadBooking() caches the result — subsequent route steps read from memory, not the DB.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0" y="9784080"/>
            <a:ext cx="18288000" cy="512064"/>
            <a:chOff x="0" y="0"/>
            <a:chExt cx="24384000" cy="68275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438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5894" r="0" b="-645894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28575"/>
              <a:ext cx="2438400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9AA6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Tej Prakash  ·  Harsimran Kaur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8300697" cy="1018537"/>
            <a:chOff x="0" y="0"/>
            <a:chExt cx="24400929" cy="13580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0890" cy="1358011"/>
            </a:xfrm>
            <a:custGeom>
              <a:avLst/>
              <a:gdLst/>
              <a:ahLst/>
              <a:cxnLst/>
              <a:rect r="r" b="b" t="t" l="l"/>
              <a:pathLst>
                <a:path h="1358011" w="24400890">
                  <a:moveTo>
                    <a:pt x="0" y="0"/>
                  </a:moveTo>
                  <a:lnTo>
                    <a:pt x="24400890" y="0"/>
                  </a:lnTo>
                  <a:lnTo>
                    <a:pt x="24400890" y="1358011"/>
                  </a:lnTo>
                  <a:lnTo>
                    <a:pt x="0" y="1358011"/>
                  </a:lnTo>
                  <a:close/>
                </a:path>
              </a:pathLst>
            </a:custGeom>
            <a:solidFill>
              <a:srgbClr val="EEF2F9"/>
            </a:solidFill>
            <a:ln w="12700" cap="sq">
              <a:solidFill>
                <a:srgbClr val="DCE4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146304"/>
            <a:ext cx="1645920" cy="694944"/>
            <a:chOff x="0" y="0"/>
            <a:chExt cx="2194560" cy="9265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72" t="0" r="-4172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" cy="964692"/>
            </a:xfrm>
            <a:prstGeom prst="roundRect">
              <a:avLst>
                <a:gd name="adj" fmla="val 15549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 / 13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377440" y="146304"/>
            <a:ext cx="12801600" cy="694944"/>
            <a:chOff x="0" y="0"/>
            <a:chExt cx="17068800" cy="9265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934" r="0" b="-30893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7068800" cy="983742"/>
            </a:xfrm>
            <a:prstGeom prst="roundRect">
              <a:avLst>
                <a:gd name="adj" fmla="val 15247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Roadmap &amp; Future Scope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35943" y="1176023"/>
            <a:ext cx="5603243" cy="8437883"/>
            <a:chOff x="0" y="0"/>
            <a:chExt cx="7470991" cy="112505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471029" cy="11250549"/>
            </a:xfrm>
            <a:custGeom>
              <a:avLst/>
              <a:gdLst/>
              <a:ahLst/>
              <a:cxnLst/>
              <a:rect r="r" b="b" t="t" l="l"/>
              <a:pathLst>
                <a:path h="11250549" w="7471029">
                  <a:moveTo>
                    <a:pt x="0" y="0"/>
                  </a:moveTo>
                  <a:lnTo>
                    <a:pt x="7471029" y="0"/>
                  </a:lnTo>
                  <a:lnTo>
                    <a:pt x="7471029" y="11250549"/>
                  </a:lnTo>
                  <a:lnTo>
                    <a:pt x="0" y="11250549"/>
                  </a:lnTo>
                  <a:close/>
                </a:path>
              </a:pathLst>
            </a:custGeom>
            <a:solidFill>
              <a:srgbClr val="DC2626">
                <a:alpha val="0"/>
              </a:srgbClr>
            </a:solidFill>
            <a:ln w="25400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77824" y="1335024"/>
            <a:ext cx="4919472" cy="457200"/>
            <a:chOff x="0" y="0"/>
            <a:chExt cx="6559296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59296" cy="609600"/>
            </a:xfrm>
            <a:custGeom>
              <a:avLst/>
              <a:gdLst/>
              <a:ahLst/>
              <a:cxnLst/>
              <a:rect r="r" b="b" t="t" l="l"/>
              <a:pathLst>
                <a:path h="609600" w="6559296">
                  <a:moveTo>
                    <a:pt x="0" y="0"/>
                  </a:moveTo>
                  <a:lnTo>
                    <a:pt x="6559296" y="0"/>
                  </a:lnTo>
                  <a:lnTo>
                    <a:pt x="6559296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659" r="0" b="-15965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6559296" cy="657225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00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Security — Immediate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77824" y="1938528"/>
            <a:ext cx="822960" cy="768096"/>
            <a:chOff x="0" y="0"/>
            <a:chExt cx="1097280" cy="10241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9749" t="0" r="-69749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1097280" cy="1109853"/>
            </a:xfrm>
            <a:prstGeom prst="roundRect">
              <a:avLst>
                <a:gd name="adj" fmla="val 1367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🔐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77824" y="2834640"/>
            <a:ext cx="4919472" cy="694944"/>
            <a:chOff x="0" y="0"/>
            <a:chExt cx="6559296" cy="9265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559296" cy="926592"/>
            </a:xfrm>
            <a:custGeom>
              <a:avLst/>
              <a:gdLst/>
              <a:ahLst/>
              <a:cxnLst/>
              <a:rect r="r" b="b" t="t" l="l"/>
              <a:pathLst>
                <a:path h="926592" w="6559296">
                  <a:moveTo>
                    <a:pt x="0" y="0"/>
                  </a:moveTo>
                  <a:lnTo>
                    <a:pt x="6559296" y="0"/>
                  </a:lnTo>
                  <a:lnTo>
                    <a:pt x="6559296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933" r="0" b="-8793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6559296" cy="974217"/>
            </a:xfrm>
            <a:prstGeom prst="roundRect">
              <a:avLst>
                <a:gd name="adj" fmla="val 15396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Payment Verification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77824" y="3749040"/>
            <a:ext cx="4919472" cy="841248"/>
            <a:chOff x="0" y="0"/>
            <a:chExt cx="6559296" cy="11216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559296" cy="1121664"/>
            </a:xfrm>
            <a:custGeom>
              <a:avLst/>
              <a:gdLst/>
              <a:ahLst/>
              <a:cxnLst/>
              <a:rect r="r" b="b" t="t" l="l"/>
              <a:pathLst>
                <a:path h="1121664" w="6559296">
                  <a:moveTo>
                    <a:pt x="0" y="0"/>
                  </a:moveTo>
                  <a:lnTo>
                    <a:pt x="6559296" y="0"/>
                  </a:lnTo>
                  <a:lnTo>
                    <a:pt x="6559296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945" r="0" b="-6394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559296" cy="1159764"/>
            </a:xfrm>
            <a:prstGeom prst="roundRect">
              <a:avLst>
                <a:gd name="adj" fmla="val 12933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 </a:t>
              </a:r>
              <a:r>
                <a:rPr lang="en-US" sz="19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Wire api/confirm-cashfree-payment.js to verify orders server-side after SDK resolves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77824" y="4663440"/>
            <a:ext cx="4919472" cy="841248"/>
            <a:chOff x="0" y="0"/>
            <a:chExt cx="6559296" cy="11216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559296" cy="1121664"/>
            </a:xfrm>
            <a:custGeom>
              <a:avLst/>
              <a:gdLst/>
              <a:ahLst/>
              <a:cxnLst/>
              <a:rect r="r" b="b" t="t" l="l"/>
              <a:pathLst>
                <a:path h="1121664" w="6559296">
                  <a:moveTo>
                    <a:pt x="0" y="0"/>
                  </a:moveTo>
                  <a:lnTo>
                    <a:pt x="6559296" y="0"/>
                  </a:lnTo>
                  <a:lnTo>
                    <a:pt x="6559296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945" r="0" b="-6394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6559296" cy="1159764"/>
            </a:xfrm>
            <a:prstGeom prst="roundRect">
              <a:avLst>
                <a:gd name="adj" fmla="val 12933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 </a:t>
              </a:r>
              <a:r>
                <a:rPr lang="en-US" sz="19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Move all API keys to environment variables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77824" y="5577840"/>
            <a:ext cx="4919472" cy="841248"/>
            <a:chOff x="0" y="0"/>
            <a:chExt cx="6559296" cy="112166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559296" cy="1121664"/>
            </a:xfrm>
            <a:custGeom>
              <a:avLst/>
              <a:gdLst/>
              <a:ahLst/>
              <a:cxnLst/>
              <a:rect r="r" b="b" t="t" l="l"/>
              <a:pathLst>
                <a:path h="1121664" w="6559296">
                  <a:moveTo>
                    <a:pt x="0" y="0"/>
                  </a:moveTo>
                  <a:lnTo>
                    <a:pt x="6559296" y="0"/>
                  </a:lnTo>
                  <a:lnTo>
                    <a:pt x="6559296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945" r="0" b="-6394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559296" cy="1159764"/>
            </a:xfrm>
            <a:prstGeom prst="roundRect">
              <a:avLst>
                <a:gd name="adj" fmla="val 12933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 </a:t>
              </a:r>
              <a:r>
                <a:rPr lang="en-US" sz="19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JWT claims for role — remove DB round-trip on every auth check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351527" y="1176023"/>
            <a:ext cx="5603243" cy="8437883"/>
            <a:chOff x="0" y="0"/>
            <a:chExt cx="7470991" cy="1125051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471029" cy="11250549"/>
            </a:xfrm>
            <a:custGeom>
              <a:avLst/>
              <a:gdLst/>
              <a:ahLst/>
              <a:cxnLst/>
              <a:rect r="r" b="b" t="t" l="l"/>
              <a:pathLst>
                <a:path h="11250549" w="7471029">
                  <a:moveTo>
                    <a:pt x="0" y="0"/>
                  </a:moveTo>
                  <a:lnTo>
                    <a:pt x="7471029" y="0"/>
                  </a:lnTo>
                  <a:lnTo>
                    <a:pt x="7471029" y="11250549"/>
                  </a:lnTo>
                  <a:lnTo>
                    <a:pt x="0" y="11250549"/>
                  </a:lnTo>
                  <a:close/>
                </a:path>
              </a:pathLst>
            </a:custGeom>
            <a:solidFill>
              <a:srgbClr val="D97706">
                <a:alpha val="0"/>
              </a:srgbClr>
            </a:solidFill>
            <a:ln w="2540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6693408" y="1335024"/>
            <a:ext cx="4919472" cy="457200"/>
            <a:chOff x="0" y="0"/>
            <a:chExt cx="6559296" cy="609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559296" cy="609600"/>
            </a:xfrm>
            <a:custGeom>
              <a:avLst/>
              <a:gdLst/>
              <a:ahLst/>
              <a:cxnLst/>
              <a:rect r="r" b="b" t="t" l="l"/>
              <a:pathLst>
                <a:path h="609600" w="6559296">
                  <a:moveTo>
                    <a:pt x="0" y="0"/>
                  </a:moveTo>
                  <a:lnTo>
                    <a:pt x="6559296" y="0"/>
                  </a:lnTo>
                  <a:lnTo>
                    <a:pt x="6559296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659" r="0" b="-15965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6559296" cy="657225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00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v2 — Near-term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693408" y="1938528"/>
            <a:ext cx="822960" cy="768096"/>
            <a:chOff x="0" y="0"/>
            <a:chExt cx="1097280" cy="10241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9749" t="0" r="-69749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1097280" cy="1109853"/>
            </a:xfrm>
            <a:prstGeom prst="roundRect">
              <a:avLst>
                <a:gd name="adj" fmla="val 1367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🚚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693408" y="2834640"/>
            <a:ext cx="4919472" cy="694944"/>
            <a:chOff x="0" y="0"/>
            <a:chExt cx="6559296" cy="9265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559296" cy="926592"/>
            </a:xfrm>
            <a:custGeom>
              <a:avLst/>
              <a:gdLst/>
              <a:ahLst/>
              <a:cxnLst/>
              <a:rect r="r" b="b" t="t" l="l"/>
              <a:pathLst>
                <a:path h="926592" w="6559296">
                  <a:moveTo>
                    <a:pt x="0" y="0"/>
                  </a:moveTo>
                  <a:lnTo>
                    <a:pt x="6559296" y="0"/>
                  </a:lnTo>
                  <a:lnTo>
                    <a:pt x="6559296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933" r="0" b="-8793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6559296" cy="974217"/>
            </a:xfrm>
            <a:prstGeom prst="roundRect">
              <a:avLst>
                <a:gd name="adj" fmla="val 15396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Vehicle Return Flow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693408" y="3749040"/>
            <a:ext cx="4919472" cy="841248"/>
            <a:chOff x="0" y="0"/>
            <a:chExt cx="6559296" cy="11216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559296" cy="1121664"/>
            </a:xfrm>
            <a:custGeom>
              <a:avLst/>
              <a:gdLst/>
              <a:ahLst/>
              <a:cxnLst/>
              <a:rect r="r" b="b" t="t" l="l"/>
              <a:pathLst>
                <a:path h="1121664" w="6559296">
                  <a:moveTo>
                    <a:pt x="0" y="0"/>
                  </a:moveTo>
                  <a:lnTo>
                    <a:pt x="6559296" y="0"/>
                  </a:lnTo>
                  <a:lnTo>
                    <a:pt x="6559296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945" r="0" b="-6394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6559296" cy="1159764"/>
            </a:xfrm>
            <a:prstGeom prst="roundRect">
              <a:avLst>
                <a:gd name="adj" fmla="val 12933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 </a:t>
              </a:r>
              <a:r>
                <a:rPr lang="en-US" sz="19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Return inspection form with check-in photos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693408" y="4663440"/>
            <a:ext cx="4919472" cy="841248"/>
            <a:chOff x="0" y="0"/>
            <a:chExt cx="6559296" cy="112166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559296" cy="1121664"/>
            </a:xfrm>
            <a:custGeom>
              <a:avLst/>
              <a:gdLst/>
              <a:ahLst/>
              <a:cxnLst/>
              <a:rect r="r" b="b" t="t" l="l"/>
              <a:pathLst>
                <a:path h="1121664" w="6559296">
                  <a:moveTo>
                    <a:pt x="0" y="0"/>
                  </a:moveTo>
                  <a:lnTo>
                    <a:pt x="6559296" y="0"/>
                  </a:lnTo>
                  <a:lnTo>
                    <a:pt x="6559296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945" r="0" b="-6394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559296" cy="1159764"/>
            </a:xfrm>
            <a:prstGeom prst="roundRect">
              <a:avLst>
                <a:gd name="adj" fmla="val 12933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 </a:t>
              </a:r>
              <a:r>
                <a:rPr lang="en-US" sz="19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Auto-calculate extra mileage, fuel discrepancy, late penalty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693408" y="5577840"/>
            <a:ext cx="4919472" cy="841248"/>
            <a:chOff x="0" y="0"/>
            <a:chExt cx="6559296" cy="112166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559296" cy="1121664"/>
            </a:xfrm>
            <a:custGeom>
              <a:avLst/>
              <a:gdLst/>
              <a:ahLst/>
              <a:cxnLst/>
              <a:rect r="r" b="b" t="t" l="l"/>
              <a:pathLst>
                <a:path h="1121664" w="6559296">
                  <a:moveTo>
                    <a:pt x="0" y="0"/>
                  </a:moveTo>
                  <a:lnTo>
                    <a:pt x="6559296" y="0"/>
                  </a:lnTo>
                  <a:lnTo>
                    <a:pt x="6559296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945" r="0" b="-6394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6559296" cy="1159764"/>
            </a:xfrm>
            <a:prstGeom prst="roundRect">
              <a:avLst>
                <a:gd name="adj" fmla="val 12933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 </a:t>
              </a:r>
              <a:r>
                <a:rPr lang="en-US" sz="19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Security deposit release with final invoice generation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693408" y="6492240"/>
            <a:ext cx="4919472" cy="841248"/>
            <a:chOff x="0" y="0"/>
            <a:chExt cx="6559296" cy="112166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559296" cy="1121664"/>
            </a:xfrm>
            <a:custGeom>
              <a:avLst/>
              <a:gdLst/>
              <a:ahLst/>
              <a:cxnLst/>
              <a:rect r="r" b="b" t="t" l="l"/>
              <a:pathLst>
                <a:path h="1121664" w="6559296">
                  <a:moveTo>
                    <a:pt x="0" y="0"/>
                  </a:moveTo>
                  <a:lnTo>
                    <a:pt x="6559296" y="0"/>
                  </a:lnTo>
                  <a:lnTo>
                    <a:pt x="6559296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945" r="0" b="-6394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6559296" cy="1159764"/>
            </a:xfrm>
            <a:prstGeom prst="roundRect">
              <a:avLst>
                <a:gd name="adj" fmla="val 12933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 </a:t>
              </a:r>
              <a:r>
                <a:rPr lang="en-US" sz="19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Maintenance threshold → route to service, not available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167111" y="1176023"/>
            <a:ext cx="5603243" cy="8437883"/>
            <a:chOff x="0" y="0"/>
            <a:chExt cx="7470991" cy="1125051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471029" cy="11250549"/>
            </a:xfrm>
            <a:custGeom>
              <a:avLst/>
              <a:gdLst/>
              <a:ahLst/>
              <a:cxnLst/>
              <a:rect r="r" b="b" t="t" l="l"/>
              <a:pathLst>
                <a:path h="11250549" w="7471029">
                  <a:moveTo>
                    <a:pt x="0" y="0"/>
                  </a:moveTo>
                  <a:lnTo>
                    <a:pt x="7471029" y="0"/>
                  </a:lnTo>
                  <a:lnTo>
                    <a:pt x="7471029" y="11250549"/>
                  </a:lnTo>
                  <a:lnTo>
                    <a:pt x="0" y="11250549"/>
                  </a:lnTo>
                  <a:close/>
                </a:path>
              </a:pathLst>
            </a:custGeom>
            <a:solidFill>
              <a:srgbClr val="7C3AED">
                <a:alpha val="0"/>
              </a:srgbClr>
            </a:solidFill>
            <a:ln w="254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2508992" y="1335024"/>
            <a:ext cx="4919472" cy="457200"/>
            <a:chOff x="0" y="0"/>
            <a:chExt cx="6559296" cy="6096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559296" cy="609600"/>
            </a:xfrm>
            <a:custGeom>
              <a:avLst/>
              <a:gdLst/>
              <a:ahLst/>
              <a:cxnLst/>
              <a:rect r="r" b="b" t="t" l="l"/>
              <a:pathLst>
                <a:path h="609600" w="6559296">
                  <a:moveTo>
                    <a:pt x="0" y="0"/>
                  </a:moveTo>
                  <a:lnTo>
                    <a:pt x="6559296" y="0"/>
                  </a:lnTo>
                  <a:lnTo>
                    <a:pt x="6559296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659" r="0" b="-159659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6559296" cy="657225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00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v3 — Expansion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508992" y="1938528"/>
            <a:ext cx="822960" cy="768096"/>
            <a:chOff x="0" y="0"/>
            <a:chExt cx="1097280" cy="102412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97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9749" t="0" r="-69749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85725"/>
              <a:ext cx="1097280" cy="1109853"/>
            </a:xfrm>
            <a:prstGeom prst="roundRect">
              <a:avLst>
                <a:gd name="adj" fmla="val 13670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17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📱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508992" y="2834640"/>
            <a:ext cx="4919472" cy="694944"/>
            <a:chOff x="0" y="0"/>
            <a:chExt cx="6559296" cy="92659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559296" cy="926592"/>
            </a:xfrm>
            <a:custGeom>
              <a:avLst/>
              <a:gdLst/>
              <a:ahLst/>
              <a:cxnLst/>
              <a:rect r="r" b="b" t="t" l="l"/>
              <a:pathLst>
                <a:path h="926592" w="6559296">
                  <a:moveTo>
                    <a:pt x="0" y="0"/>
                  </a:moveTo>
                  <a:lnTo>
                    <a:pt x="6559296" y="0"/>
                  </a:lnTo>
                  <a:lnTo>
                    <a:pt x="6559296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933" r="0" b="-87933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6559296" cy="974217"/>
            </a:xfrm>
            <a:prstGeom prst="roundRect">
              <a:avLst>
                <a:gd name="adj" fmla="val 15396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3A42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Platform Growth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2508992" y="3749040"/>
            <a:ext cx="4919472" cy="841248"/>
            <a:chOff x="0" y="0"/>
            <a:chExt cx="6559296" cy="112166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559296" cy="1121664"/>
            </a:xfrm>
            <a:custGeom>
              <a:avLst/>
              <a:gdLst/>
              <a:ahLst/>
              <a:cxnLst/>
              <a:rect r="r" b="b" t="t" l="l"/>
              <a:pathLst>
                <a:path h="1121664" w="6559296">
                  <a:moveTo>
                    <a:pt x="0" y="0"/>
                  </a:moveTo>
                  <a:lnTo>
                    <a:pt x="6559296" y="0"/>
                  </a:lnTo>
                  <a:lnTo>
                    <a:pt x="6559296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945" r="0" b="-6394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6559296" cy="1159764"/>
            </a:xfrm>
            <a:prstGeom prst="roundRect">
              <a:avLst>
                <a:gd name="adj" fmla="val 12933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 </a:t>
              </a:r>
              <a:r>
                <a:rPr lang="en-US" sz="19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Customer-facing booking portal (self-service)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508992" y="4663440"/>
            <a:ext cx="4919472" cy="841248"/>
            <a:chOff x="0" y="0"/>
            <a:chExt cx="6559296" cy="112166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559296" cy="1121664"/>
            </a:xfrm>
            <a:custGeom>
              <a:avLst/>
              <a:gdLst/>
              <a:ahLst/>
              <a:cxnLst/>
              <a:rect r="r" b="b" t="t" l="l"/>
              <a:pathLst>
                <a:path h="1121664" w="6559296">
                  <a:moveTo>
                    <a:pt x="0" y="0"/>
                  </a:moveTo>
                  <a:lnTo>
                    <a:pt x="6559296" y="0"/>
                  </a:lnTo>
                  <a:lnTo>
                    <a:pt x="6559296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945" r="0" b="-6394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6559296" cy="1159764"/>
            </a:xfrm>
            <a:prstGeom prst="roundRect">
              <a:avLst>
                <a:gd name="adj" fmla="val 12933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 </a:t>
              </a:r>
              <a:r>
                <a:rPr lang="en-US" sz="19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Bulk / fleet booking UI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508992" y="5577840"/>
            <a:ext cx="4919472" cy="841248"/>
            <a:chOff x="0" y="0"/>
            <a:chExt cx="6559296" cy="112166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559296" cy="1121664"/>
            </a:xfrm>
            <a:custGeom>
              <a:avLst/>
              <a:gdLst/>
              <a:ahLst/>
              <a:cxnLst/>
              <a:rect r="r" b="b" t="t" l="l"/>
              <a:pathLst>
                <a:path h="1121664" w="6559296">
                  <a:moveTo>
                    <a:pt x="0" y="0"/>
                  </a:moveTo>
                  <a:lnTo>
                    <a:pt x="6559296" y="0"/>
                  </a:lnTo>
                  <a:lnTo>
                    <a:pt x="6559296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945" r="0" b="-6394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6559296" cy="1159764"/>
            </a:xfrm>
            <a:prstGeom prst="roundRect">
              <a:avLst>
                <a:gd name="adj" fmla="val 12933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 </a:t>
              </a:r>
              <a:r>
                <a:rPr lang="en-US" sz="19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Digital rental agreement with e-signature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508992" y="6492240"/>
            <a:ext cx="4919472" cy="841248"/>
            <a:chOff x="0" y="0"/>
            <a:chExt cx="6559296" cy="112166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559296" cy="1121664"/>
            </a:xfrm>
            <a:custGeom>
              <a:avLst/>
              <a:gdLst/>
              <a:ahLst/>
              <a:cxnLst/>
              <a:rect r="r" b="b" t="t" l="l"/>
              <a:pathLst>
                <a:path h="1121664" w="6559296">
                  <a:moveTo>
                    <a:pt x="0" y="0"/>
                  </a:moveTo>
                  <a:lnTo>
                    <a:pt x="6559296" y="0"/>
                  </a:lnTo>
                  <a:lnTo>
                    <a:pt x="6559296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945" r="0" b="-6394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6559296" cy="1159764"/>
            </a:xfrm>
            <a:prstGeom prst="roundRect">
              <a:avLst>
                <a:gd name="adj" fmla="val 12933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 </a:t>
              </a:r>
              <a:r>
                <a:rPr lang="en-US" sz="19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WhatsApp Business API integration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2508992" y="7406640"/>
            <a:ext cx="4919472" cy="841248"/>
            <a:chOff x="0" y="0"/>
            <a:chExt cx="6559296" cy="112166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559296" cy="1121664"/>
            </a:xfrm>
            <a:custGeom>
              <a:avLst/>
              <a:gdLst/>
              <a:ahLst/>
              <a:cxnLst/>
              <a:rect r="r" b="b" t="t" l="l"/>
              <a:pathLst>
                <a:path h="1121664" w="6559296">
                  <a:moveTo>
                    <a:pt x="0" y="0"/>
                  </a:moveTo>
                  <a:lnTo>
                    <a:pt x="6559296" y="0"/>
                  </a:lnTo>
                  <a:lnTo>
                    <a:pt x="6559296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945" r="0" b="-6394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6559296" cy="1159764"/>
            </a:xfrm>
            <a:prstGeom prst="roundRect">
              <a:avLst>
                <a:gd name="adj" fmla="val 12933"/>
              </a:avLst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 </a:t>
              </a:r>
              <a:r>
                <a:rPr lang="en-US" sz="19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Mobile app (Capacitor / Ionic wrapper</a:t>
              </a: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)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0" y="9784080"/>
            <a:ext cx="18288000" cy="512064"/>
            <a:chOff x="0" y="0"/>
            <a:chExt cx="24384000" cy="68275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438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5894" r="0" b="-645894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2438400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9AA6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Tej Prakash  ·  Harsimran Kaur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43691" cy="10312403"/>
            <a:chOff x="0" y="0"/>
            <a:chExt cx="58255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293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58293">
                  <a:moveTo>
                    <a:pt x="0" y="0"/>
                  </a:moveTo>
                  <a:lnTo>
                    <a:pt x="58293" y="0"/>
                  </a:lnTo>
                  <a:lnTo>
                    <a:pt x="58293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DCE4F0">
                <a:alpha val="3922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01703" y="-12697"/>
            <a:ext cx="43691" cy="10312403"/>
            <a:chOff x="0" y="0"/>
            <a:chExt cx="58255" cy="137498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293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58293">
                  <a:moveTo>
                    <a:pt x="0" y="0"/>
                  </a:moveTo>
                  <a:lnTo>
                    <a:pt x="58293" y="0"/>
                  </a:lnTo>
                  <a:lnTo>
                    <a:pt x="58293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DCE4F0">
                <a:alpha val="3922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816103" y="-12697"/>
            <a:ext cx="43691" cy="10312403"/>
            <a:chOff x="0" y="0"/>
            <a:chExt cx="58255" cy="137498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293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58293">
                  <a:moveTo>
                    <a:pt x="0" y="0"/>
                  </a:moveTo>
                  <a:lnTo>
                    <a:pt x="58293" y="0"/>
                  </a:lnTo>
                  <a:lnTo>
                    <a:pt x="58293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DCE4F0">
                <a:alpha val="3922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2730503" y="-12697"/>
            <a:ext cx="43691" cy="10312403"/>
            <a:chOff x="0" y="0"/>
            <a:chExt cx="58255" cy="13749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8293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58293">
                  <a:moveTo>
                    <a:pt x="0" y="0"/>
                  </a:moveTo>
                  <a:lnTo>
                    <a:pt x="58293" y="0"/>
                  </a:lnTo>
                  <a:lnTo>
                    <a:pt x="58293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DCE4F0">
                <a:alpha val="3922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3644903" y="-12697"/>
            <a:ext cx="43691" cy="10312403"/>
            <a:chOff x="0" y="0"/>
            <a:chExt cx="58255" cy="137498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8293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58293">
                  <a:moveTo>
                    <a:pt x="0" y="0"/>
                  </a:moveTo>
                  <a:lnTo>
                    <a:pt x="58293" y="0"/>
                  </a:lnTo>
                  <a:lnTo>
                    <a:pt x="58293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DCE4F0">
                <a:alpha val="3922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4559303" y="-12697"/>
            <a:ext cx="43691" cy="10312403"/>
            <a:chOff x="0" y="0"/>
            <a:chExt cx="58255" cy="137498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8293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58293">
                  <a:moveTo>
                    <a:pt x="0" y="0"/>
                  </a:moveTo>
                  <a:lnTo>
                    <a:pt x="58293" y="0"/>
                  </a:lnTo>
                  <a:lnTo>
                    <a:pt x="58293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DCE4F0">
                <a:alpha val="3922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5473703" y="-12697"/>
            <a:ext cx="43691" cy="10312403"/>
            <a:chOff x="0" y="0"/>
            <a:chExt cx="58255" cy="137498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8293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58293">
                  <a:moveTo>
                    <a:pt x="0" y="0"/>
                  </a:moveTo>
                  <a:lnTo>
                    <a:pt x="58293" y="0"/>
                  </a:lnTo>
                  <a:lnTo>
                    <a:pt x="58293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DCE4F0">
                <a:alpha val="3922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388103" y="-12697"/>
            <a:ext cx="43691" cy="10312403"/>
            <a:chOff x="0" y="0"/>
            <a:chExt cx="58255" cy="137498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8293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58293">
                  <a:moveTo>
                    <a:pt x="0" y="0"/>
                  </a:moveTo>
                  <a:lnTo>
                    <a:pt x="58293" y="0"/>
                  </a:lnTo>
                  <a:lnTo>
                    <a:pt x="58293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DCE4F0">
                <a:alpha val="3922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475953" y="5591"/>
            <a:ext cx="43691" cy="10312403"/>
            <a:chOff x="0" y="0"/>
            <a:chExt cx="58255" cy="1374987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8293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58293">
                  <a:moveTo>
                    <a:pt x="0" y="0"/>
                  </a:moveTo>
                  <a:lnTo>
                    <a:pt x="58293" y="0"/>
                  </a:lnTo>
                  <a:lnTo>
                    <a:pt x="58293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DCE4F0">
                <a:alpha val="3922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216903" y="-12697"/>
            <a:ext cx="43691" cy="10312403"/>
            <a:chOff x="0" y="0"/>
            <a:chExt cx="58255" cy="137498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8293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58293">
                  <a:moveTo>
                    <a:pt x="0" y="0"/>
                  </a:moveTo>
                  <a:lnTo>
                    <a:pt x="58293" y="0"/>
                  </a:lnTo>
                  <a:lnTo>
                    <a:pt x="58293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DCE4F0">
                <a:alpha val="3922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131303" y="-12697"/>
            <a:ext cx="43691" cy="10312403"/>
            <a:chOff x="0" y="0"/>
            <a:chExt cx="58255" cy="137498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293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58293">
                  <a:moveTo>
                    <a:pt x="0" y="0"/>
                  </a:moveTo>
                  <a:lnTo>
                    <a:pt x="58293" y="0"/>
                  </a:lnTo>
                  <a:lnTo>
                    <a:pt x="58293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DCE4F0">
                <a:alpha val="3922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0045703" y="-12697"/>
            <a:ext cx="43691" cy="10312403"/>
            <a:chOff x="0" y="0"/>
            <a:chExt cx="58255" cy="137498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8293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58293">
                  <a:moveTo>
                    <a:pt x="0" y="0"/>
                  </a:moveTo>
                  <a:lnTo>
                    <a:pt x="58293" y="0"/>
                  </a:lnTo>
                  <a:lnTo>
                    <a:pt x="58293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DCE4F0">
                <a:alpha val="3922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0960103" y="-12697"/>
            <a:ext cx="43691" cy="10312403"/>
            <a:chOff x="0" y="0"/>
            <a:chExt cx="58255" cy="137498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8293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58293">
                  <a:moveTo>
                    <a:pt x="0" y="0"/>
                  </a:moveTo>
                  <a:lnTo>
                    <a:pt x="58293" y="0"/>
                  </a:lnTo>
                  <a:lnTo>
                    <a:pt x="58293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DCE4F0">
                <a:alpha val="3922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1874503" y="-12697"/>
            <a:ext cx="43691" cy="10312403"/>
            <a:chOff x="0" y="0"/>
            <a:chExt cx="58255" cy="1374987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8293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58293">
                  <a:moveTo>
                    <a:pt x="0" y="0"/>
                  </a:moveTo>
                  <a:lnTo>
                    <a:pt x="58293" y="0"/>
                  </a:lnTo>
                  <a:lnTo>
                    <a:pt x="58293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DCE4F0">
                <a:alpha val="3922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788903" y="-12697"/>
            <a:ext cx="43691" cy="10312403"/>
            <a:chOff x="0" y="0"/>
            <a:chExt cx="58255" cy="1374987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8293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58293">
                  <a:moveTo>
                    <a:pt x="0" y="0"/>
                  </a:moveTo>
                  <a:lnTo>
                    <a:pt x="58293" y="0"/>
                  </a:lnTo>
                  <a:lnTo>
                    <a:pt x="58293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DCE4F0">
                <a:alpha val="3922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3703303" y="-12697"/>
            <a:ext cx="43691" cy="10312403"/>
            <a:chOff x="0" y="0"/>
            <a:chExt cx="58255" cy="1374987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8293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58293">
                  <a:moveTo>
                    <a:pt x="0" y="0"/>
                  </a:moveTo>
                  <a:lnTo>
                    <a:pt x="58293" y="0"/>
                  </a:lnTo>
                  <a:lnTo>
                    <a:pt x="58293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DCE4F0">
                <a:alpha val="3922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4617703" y="-12697"/>
            <a:ext cx="43691" cy="10312403"/>
            <a:chOff x="0" y="0"/>
            <a:chExt cx="58255" cy="1374987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8293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58293">
                  <a:moveTo>
                    <a:pt x="0" y="0"/>
                  </a:moveTo>
                  <a:lnTo>
                    <a:pt x="58293" y="0"/>
                  </a:lnTo>
                  <a:lnTo>
                    <a:pt x="58293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DCE4F0">
                <a:alpha val="3922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5532103" y="-12697"/>
            <a:ext cx="43691" cy="10312403"/>
            <a:chOff x="0" y="0"/>
            <a:chExt cx="58255" cy="1374987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8293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58293">
                  <a:moveTo>
                    <a:pt x="0" y="0"/>
                  </a:moveTo>
                  <a:lnTo>
                    <a:pt x="58293" y="0"/>
                  </a:lnTo>
                  <a:lnTo>
                    <a:pt x="58293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DCE4F0">
                <a:alpha val="3922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6446503" y="-12697"/>
            <a:ext cx="43691" cy="10312403"/>
            <a:chOff x="0" y="0"/>
            <a:chExt cx="58255" cy="1374987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8293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58293">
                  <a:moveTo>
                    <a:pt x="0" y="0"/>
                  </a:moveTo>
                  <a:lnTo>
                    <a:pt x="58293" y="0"/>
                  </a:lnTo>
                  <a:lnTo>
                    <a:pt x="58293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DCE4F0">
                <a:alpha val="3922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7360903" y="-12697"/>
            <a:ext cx="43691" cy="10312403"/>
            <a:chOff x="0" y="0"/>
            <a:chExt cx="58255" cy="1374987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8293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58293">
                  <a:moveTo>
                    <a:pt x="0" y="0"/>
                  </a:moveTo>
                  <a:lnTo>
                    <a:pt x="58293" y="0"/>
                  </a:lnTo>
                  <a:lnTo>
                    <a:pt x="58293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DCE4F0">
                <a:alpha val="3922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-12697" y="-12697"/>
            <a:ext cx="18313403" cy="43691"/>
            <a:chOff x="0" y="0"/>
            <a:chExt cx="24417871" cy="5825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4417910" cy="58293"/>
            </a:xfrm>
            <a:custGeom>
              <a:avLst/>
              <a:gdLst/>
              <a:ahLst/>
              <a:cxnLst/>
              <a:rect r="r" b="b" t="t" l="l"/>
              <a:pathLst>
                <a:path h="58293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CE4F0">
                <a:alpha val="3922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-12697" y="901703"/>
            <a:ext cx="18313403" cy="43691"/>
            <a:chOff x="0" y="0"/>
            <a:chExt cx="24417871" cy="5825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417910" cy="58293"/>
            </a:xfrm>
            <a:custGeom>
              <a:avLst/>
              <a:gdLst/>
              <a:ahLst/>
              <a:cxnLst/>
              <a:rect r="r" b="b" t="t" l="l"/>
              <a:pathLst>
                <a:path h="58293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CE4F0">
                <a:alpha val="3922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-12697" y="1816103"/>
            <a:ext cx="18313403" cy="43691"/>
            <a:chOff x="0" y="0"/>
            <a:chExt cx="24417871" cy="5825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417910" cy="58293"/>
            </a:xfrm>
            <a:custGeom>
              <a:avLst/>
              <a:gdLst/>
              <a:ahLst/>
              <a:cxnLst/>
              <a:rect r="r" b="b" t="t" l="l"/>
              <a:pathLst>
                <a:path h="58293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CE4F0">
                <a:alpha val="3922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-12697" y="2730503"/>
            <a:ext cx="18313403" cy="43691"/>
            <a:chOff x="0" y="0"/>
            <a:chExt cx="24417871" cy="5825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4417910" cy="58293"/>
            </a:xfrm>
            <a:custGeom>
              <a:avLst/>
              <a:gdLst/>
              <a:ahLst/>
              <a:cxnLst/>
              <a:rect r="r" b="b" t="t" l="l"/>
              <a:pathLst>
                <a:path h="58293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CE4F0">
                <a:alpha val="3922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-12697" y="3644903"/>
            <a:ext cx="18313403" cy="43691"/>
            <a:chOff x="0" y="0"/>
            <a:chExt cx="24417871" cy="5825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4417910" cy="58293"/>
            </a:xfrm>
            <a:custGeom>
              <a:avLst/>
              <a:gdLst/>
              <a:ahLst/>
              <a:cxnLst/>
              <a:rect r="r" b="b" t="t" l="l"/>
              <a:pathLst>
                <a:path h="58293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CE4F0">
                <a:alpha val="3922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-12697" y="4559303"/>
            <a:ext cx="18313403" cy="43691"/>
            <a:chOff x="0" y="0"/>
            <a:chExt cx="24417871" cy="5825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4417910" cy="58293"/>
            </a:xfrm>
            <a:custGeom>
              <a:avLst/>
              <a:gdLst/>
              <a:ahLst/>
              <a:cxnLst/>
              <a:rect r="r" b="b" t="t" l="l"/>
              <a:pathLst>
                <a:path h="58293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CE4F0">
                <a:alpha val="3922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-12697" y="5473703"/>
            <a:ext cx="18313403" cy="43691"/>
            <a:chOff x="0" y="0"/>
            <a:chExt cx="24417871" cy="5825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4417910" cy="58293"/>
            </a:xfrm>
            <a:custGeom>
              <a:avLst/>
              <a:gdLst/>
              <a:ahLst/>
              <a:cxnLst/>
              <a:rect r="r" b="b" t="t" l="l"/>
              <a:pathLst>
                <a:path h="58293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CE4F0">
                <a:alpha val="3922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-12697" y="6388103"/>
            <a:ext cx="18313403" cy="43691"/>
            <a:chOff x="0" y="0"/>
            <a:chExt cx="24417871" cy="5825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4417910" cy="58293"/>
            </a:xfrm>
            <a:custGeom>
              <a:avLst/>
              <a:gdLst/>
              <a:ahLst/>
              <a:cxnLst/>
              <a:rect r="r" b="b" t="t" l="l"/>
              <a:pathLst>
                <a:path h="58293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CE4F0">
                <a:alpha val="3922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-12697" y="7302503"/>
            <a:ext cx="18313403" cy="43691"/>
            <a:chOff x="0" y="0"/>
            <a:chExt cx="24417871" cy="5825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4417910" cy="58293"/>
            </a:xfrm>
            <a:custGeom>
              <a:avLst/>
              <a:gdLst/>
              <a:ahLst/>
              <a:cxnLst/>
              <a:rect r="r" b="b" t="t" l="l"/>
              <a:pathLst>
                <a:path h="58293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CE4F0">
                <a:alpha val="3922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-12697" y="8216903"/>
            <a:ext cx="18313403" cy="43691"/>
            <a:chOff x="0" y="0"/>
            <a:chExt cx="24417871" cy="5825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4417910" cy="58293"/>
            </a:xfrm>
            <a:custGeom>
              <a:avLst/>
              <a:gdLst/>
              <a:ahLst/>
              <a:cxnLst/>
              <a:rect r="r" b="b" t="t" l="l"/>
              <a:pathLst>
                <a:path h="58293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CE4F0">
                <a:alpha val="3922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-12697" y="9131303"/>
            <a:ext cx="18313403" cy="43691"/>
            <a:chOff x="0" y="0"/>
            <a:chExt cx="24417871" cy="5825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4417910" cy="58293"/>
            </a:xfrm>
            <a:custGeom>
              <a:avLst/>
              <a:gdLst/>
              <a:ahLst/>
              <a:cxnLst/>
              <a:rect r="r" b="b" t="t" l="l"/>
              <a:pathLst>
                <a:path h="58293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CE4F0">
                <a:alpha val="3922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-12697" y="10045703"/>
            <a:ext cx="18313403" cy="43691"/>
            <a:chOff x="0" y="0"/>
            <a:chExt cx="24417871" cy="5825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4417910" cy="58293"/>
            </a:xfrm>
            <a:custGeom>
              <a:avLst/>
              <a:gdLst/>
              <a:ahLst/>
              <a:cxnLst/>
              <a:rect r="r" b="b" t="t" l="l"/>
              <a:pathLst>
                <a:path h="58293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CE4F0">
                <a:alpha val="3922"/>
              </a:srgbClr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6936743" y="901703"/>
            <a:ext cx="4414523" cy="610619"/>
            <a:chOff x="0" y="0"/>
            <a:chExt cx="5886031" cy="81415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886069" cy="814197"/>
            </a:xfrm>
            <a:custGeom>
              <a:avLst/>
              <a:gdLst/>
              <a:ahLst/>
              <a:cxnLst/>
              <a:rect r="r" b="b" t="t" l="l"/>
              <a:pathLst>
                <a:path h="814197" w="5886069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5580761" y="0"/>
                  </a:lnTo>
                  <a:cubicBezTo>
                    <a:pt x="5749417" y="0"/>
                    <a:pt x="5886069" y="136652"/>
                    <a:pt x="5886069" y="305308"/>
                  </a:cubicBezTo>
                  <a:lnTo>
                    <a:pt x="5886069" y="508889"/>
                  </a:lnTo>
                  <a:cubicBezTo>
                    <a:pt x="5886069" y="677545"/>
                    <a:pt x="5749417" y="814197"/>
                    <a:pt x="5580761" y="814197"/>
                  </a:cubicBezTo>
                  <a:lnTo>
                    <a:pt x="305308" y="814197"/>
                  </a:lnTo>
                  <a:cubicBezTo>
                    <a:pt x="136652" y="814197"/>
                    <a:pt x="0" y="677418"/>
                    <a:pt x="0" y="508889"/>
                  </a:cubicBezTo>
                  <a:close/>
                </a:path>
              </a:pathLst>
            </a:custGeom>
            <a:solidFill>
              <a:srgbClr val="16A34A">
                <a:alpha val="1569"/>
              </a:srgbClr>
            </a:solidFill>
            <a:ln w="2540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6949440" y="914400"/>
            <a:ext cx="4389120" cy="585216"/>
            <a:chOff x="0" y="0"/>
            <a:chExt cx="5852160" cy="78028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852160" cy="780288"/>
            </a:xfrm>
            <a:custGeom>
              <a:avLst/>
              <a:gdLst/>
              <a:ahLst/>
              <a:cxnLst/>
              <a:rect r="r" b="b" t="t" l="l"/>
              <a:pathLst>
                <a:path h="78028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5852160" cy="818388"/>
            </a:xfrm>
            <a:prstGeom prst="roundRect">
              <a:avLst>
                <a:gd name="adj" fmla="val 16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🟢  Live on Vercel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14400" y="1737360"/>
            <a:ext cx="16459200" cy="1316736"/>
            <a:chOff x="0" y="0"/>
            <a:chExt cx="21945600" cy="175564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19456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0"/>
              <a:ext cx="21945600" cy="19461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19"/>
                </a:lnSpc>
              </a:pPr>
              <a:r>
                <a:rPr lang="en-US" sz="9600" b="true">
                  <a:solidFill>
                    <a:srgbClr val="17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See It Live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14400" y="3145536"/>
            <a:ext cx="16459200" cy="640080"/>
            <a:chOff x="0" y="0"/>
            <a:chExt cx="21945600" cy="8534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full system is deployed and functional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4552950" y="4040886"/>
            <a:ext cx="9182100" cy="952500"/>
            <a:chOff x="0" y="0"/>
            <a:chExt cx="12242800" cy="12700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22428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2242800">
                  <a:moveTo>
                    <a:pt x="0" y="355600"/>
                  </a:moveTo>
                  <a:cubicBezTo>
                    <a:pt x="0" y="159258"/>
                    <a:pt x="159258" y="0"/>
                    <a:pt x="355600" y="0"/>
                  </a:cubicBezTo>
                  <a:lnTo>
                    <a:pt x="11887200" y="0"/>
                  </a:lnTo>
                  <a:cubicBezTo>
                    <a:pt x="12083542" y="0"/>
                    <a:pt x="12242800" y="159258"/>
                    <a:pt x="12242800" y="355600"/>
                  </a:cubicBezTo>
                  <a:lnTo>
                    <a:pt x="12242800" y="914400"/>
                  </a:lnTo>
                  <a:cubicBezTo>
                    <a:pt x="12242800" y="1110742"/>
                    <a:pt x="12083542" y="1270000"/>
                    <a:pt x="11887200" y="1270000"/>
                  </a:cubicBezTo>
                  <a:lnTo>
                    <a:pt x="355600" y="1270000"/>
                  </a:lnTo>
                  <a:cubicBezTo>
                    <a:pt x="159258" y="1270000"/>
                    <a:pt x="0" y="1110742"/>
                    <a:pt x="0" y="91440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4572000" y="4059936"/>
            <a:ext cx="9144000" cy="914400"/>
            <a:chOff x="0" y="0"/>
            <a:chExt cx="12192000" cy="12192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2192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57150"/>
              <a:ext cx="12192000" cy="1276350"/>
            </a:xfrm>
            <a:prstGeom prst="roundRect">
              <a:avLst>
                <a:gd name="adj" fmla="val 11752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🚗  delar-management.vercel.app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822960" y="5522976"/>
            <a:ext cx="3108960" cy="914400"/>
            <a:chOff x="0" y="0"/>
            <a:chExt cx="4145280" cy="12192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145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114300"/>
              <a:ext cx="4145280" cy="1333500"/>
            </a:xfrm>
            <a:prstGeom prst="roundRect">
              <a:avLst>
                <a:gd name="adj" fmla="val 11248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822960" y="6492240"/>
            <a:ext cx="3108960" cy="365760"/>
            <a:chOff x="0" y="0"/>
            <a:chExt cx="4145280" cy="48768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145280" cy="487680"/>
            </a:xfrm>
            <a:custGeom>
              <a:avLst/>
              <a:gdLst/>
              <a:ahLst/>
              <a:cxnLst/>
              <a:rect r="r" b="b" t="t" l="l"/>
              <a:pathLst>
                <a:path h="4876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4145280" cy="52578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spc="3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FLOW STEPS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4010663" y="5656583"/>
            <a:ext cx="43691" cy="848363"/>
            <a:chOff x="0" y="0"/>
            <a:chExt cx="58255" cy="1131151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8293" cy="1131189"/>
            </a:xfrm>
            <a:custGeom>
              <a:avLst/>
              <a:gdLst/>
              <a:ahLst/>
              <a:cxnLst/>
              <a:rect r="r" b="b" t="t" l="l"/>
              <a:pathLst>
                <a:path h="1131189" w="58293">
                  <a:moveTo>
                    <a:pt x="0" y="0"/>
                  </a:moveTo>
                  <a:lnTo>
                    <a:pt x="58293" y="0"/>
                  </a:lnTo>
                  <a:lnTo>
                    <a:pt x="58293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DCE4F0"/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4151376" y="5522976"/>
            <a:ext cx="3108960" cy="914400"/>
            <a:chOff x="0" y="0"/>
            <a:chExt cx="4145280" cy="12192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145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114300"/>
              <a:ext cx="4145280" cy="1333500"/>
            </a:xfrm>
            <a:prstGeom prst="roundRect">
              <a:avLst>
                <a:gd name="adj" fmla="val 11248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4151376" y="6492240"/>
            <a:ext cx="3108960" cy="365760"/>
            <a:chOff x="0" y="0"/>
            <a:chExt cx="4145280" cy="48768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145280" cy="487680"/>
            </a:xfrm>
            <a:custGeom>
              <a:avLst/>
              <a:gdLst/>
              <a:ahLst/>
              <a:cxnLst/>
              <a:rect r="r" b="b" t="t" l="l"/>
              <a:pathLst>
                <a:path h="4876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4145280" cy="52578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spc="3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DB TABLES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7339079" y="5656583"/>
            <a:ext cx="43691" cy="848363"/>
            <a:chOff x="0" y="0"/>
            <a:chExt cx="58255" cy="1131151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8293" cy="1131189"/>
            </a:xfrm>
            <a:custGeom>
              <a:avLst/>
              <a:gdLst/>
              <a:ahLst/>
              <a:cxnLst/>
              <a:rect r="r" b="b" t="t" l="l"/>
              <a:pathLst>
                <a:path h="1131189" w="58293">
                  <a:moveTo>
                    <a:pt x="0" y="0"/>
                  </a:moveTo>
                  <a:lnTo>
                    <a:pt x="58293" y="0"/>
                  </a:lnTo>
                  <a:lnTo>
                    <a:pt x="58293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DCE4F0"/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98" id="98"/>
          <p:cNvGrpSpPr/>
          <p:nvPr/>
        </p:nvGrpSpPr>
        <p:grpSpPr>
          <a:xfrm rot="0">
            <a:off x="7479792" y="5522976"/>
            <a:ext cx="3108960" cy="914400"/>
            <a:chOff x="0" y="0"/>
            <a:chExt cx="4145280" cy="12192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145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114300"/>
              <a:ext cx="4145280" cy="1333500"/>
            </a:xfrm>
            <a:prstGeom prst="roundRect">
              <a:avLst>
                <a:gd name="adj" fmla="val 11248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7479792" y="6492240"/>
            <a:ext cx="3108960" cy="365760"/>
            <a:chOff x="0" y="0"/>
            <a:chExt cx="4145280" cy="48768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145280" cy="487680"/>
            </a:xfrm>
            <a:custGeom>
              <a:avLst/>
              <a:gdLst/>
              <a:ahLst/>
              <a:cxnLst/>
              <a:rect r="r" b="b" t="t" l="l"/>
              <a:pathLst>
                <a:path h="4876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4145280" cy="52578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spc="3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SERVICES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0667495" y="5656583"/>
            <a:ext cx="43691" cy="848363"/>
            <a:chOff x="0" y="0"/>
            <a:chExt cx="58255" cy="1131151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8293" cy="1131189"/>
            </a:xfrm>
            <a:custGeom>
              <a:avLst/>
              <a:gdLst/>
              <a:ahLst/>
              <a:cxnLst/>
              <a:rect r="r" b="b" t="t" l="l"/>
              <a:pathLst>
                <a:path h="1131189" w="58293">
                  <a:moveTo>
                    <a:pt x="0" y="0"/>
                  </a:moveTo>
                  <a:lnTo>
                    <a:pt x="58293" y="0"/>
                  </a:lnTo>
                  <a:lnTo>
                    <a:pt x="58293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DCE4F0"/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106" id="106"/>
          <p:cNvGrpSpPr/>
          <p:nvPr/>
        </p:nvGrpSpPr>
        <p:grpSpPr>
          <a:xfrm rot="0">
            <a:off x="10808208" y="5522976"/>
            <a:ext cx="3108960" cy="914400"/>
            <a:chOff x="0" y="0"/>
            <a:chExt cx="4145280" cy="121920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145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114300"/>
              <a:ext cx="4145280" cy="1333500"/>
            </a:xfrm>
            <a:prstGeom prst="roundRect">
              <a:avLst>
                <a:gd name="adj" fmla="val 11248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EA58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2000+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0808208" y="6492240"/>
            <a:ext cx="3108960" cy="365760"/>
            <a:chOff x="0" y="0"/>
            <a:chExt cx="4145280" cy="48768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4145280" cy="487680"/>
            </a:xfrm>
            <a:custGeom>
              <a:avLst/>
              <a:gdLst/>
              <a:ahLst/>
              <a:cxnLst/>
              <a:rect r="r" b="b" t="t" l="l"/>
              <a:pathLst>
                <a:path h="4876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4145280" cy="52578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spc="3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LINES OF LOGIC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3995911" y="5656583"/>
            <a:ext cx="43691" cy="848363"/>
            <a:chOff x="0" y="0"/>
            <a:chExt cx="58255" cy="1131151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58293" cy="1131189"/>
            </a:xfrm>
            <a:custGeom>
              <a:avLst/>
              <a:gdLst/>
              <a:ahLst/>
              <a:cxnLst/>
              <a:rect r="r" b="b" t="t" l="l"/>
              <a:pathLst>
                <a:path h="1131189" w="58293">
                  <a:moveTo>
                    <a:pt x="0" y="0"/>
                  </a:moveTo>
                  <a:lnTo>
                    <a:pt x="58293" y="0"/>
                  </a:lnTo>
                  <a:lnTo>
                    <a:pt x="58293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DCE4F0"/>
            </a:solidFill>
            <a:ln w="25400" cap="sq">
              <a:solidFill>
                <a:srgbClr val="F7F9FC"/>
              </a:solidFill>
              <a:prstDash val="solid"/>
              <a:miter/>
            </a:ln>
          </p:spPr>
        </p:sp>
      </p:grpSp>
      <p:grpSp>
        <p:nvGrpSpPr>
          <p:cNvPr name="Group 114" id="114"/>
          <p:cNvGrpSpPr/>
          <p:nvPr/>
        </p:nvGrpSpPr>
        <p:grpSpPr>
          <a:xfrm rot="0">
            <a:off x="14136624" y="5522976"/>
            <a:ext cx="3108960" cy="914400"/>
            <a:chOff x="0" y="0"/>
            <a:chExt cx="4145280" cy="12192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4145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114300"/>
              <a:ext cx="4145280" cy="1333500"/>
            </a:xfrm>
            <a:prstGeom prst="roundRect">
              <a:avLst>
                <a:gd name="adj" fmla="val 11248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∞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4136624" y="6492240"/>
            <a:ext cx="3108960" cy="365760"/>
            <a:chOff x="0" y="0"/>
            <a:chExt cx="4145280" cy="48768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4145280" cy="487680"/>
            </a:xfrm>
            <a:custGeom>
              <a:avLst/>
              <a:gdLst/>
              <a:ahLst/>
              <a:cxnLst/>
              <a:rect r="r" b="b" t="t" l="l"/>
              <a:pathLst>
                <a:path h="4876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4145280" cy="525780"/>
            </a:xfrm>
            <a:prstGeom prst="roundRect">
              <a:avLst>
                <a:gd name="adj" fmla="val 50000"/>
              </a:avLst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spc="3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REALTIME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914400" y="7498080"/>
            <a:ext cx="16459200" cy="512064"/>
            <a:chOff x="0" y="0"/>
            <a:chExt cx="21945600" cy="682752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57150"/>
              <a:ext cx="219456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D9770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Thank you — Questions welcome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914400" y="8229600"/>
            <a:ext cx="16459200" cy="512064"/>
            <a:chOff x="0" y="0"/>
            <a:chExt cx="21945600" cy="68275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57150"/>
              <a:ext cx="219456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4A6FA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Tej Prakash  </a:t>
              </a:r>
              <a:r>
                <a:rPr lang="en-US" sz="3200" b="true">
                  <a:solidFill>
                    <a:srgbClr val="4A6F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· </a:t>
              </a:r>
              <a:r>
                <a:rPr lang="en-US" sz="3200">
                  <a:solidFill>
                    <a:srgbClr val="4A6FA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Harsimran Kaur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DAHMWsoJdW4</dc:identifier>
  <dcterms:modified xsi:type="dcterms:W3CDTF">2011-08-01T06:04:30Z</dcterms:modified>
  <cp:revision>1</cp:revision>
  <dc:title>Copy of Dealer Management System </dc:title>
</cp:coreProperties>
</file>